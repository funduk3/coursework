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1pPr>
    <a:lvl2pPr marL="0" marR="0" indent="45720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2pPr>
    <a:lvl3pPr marL="0" marR="0" indent="91440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3pPr>
    <a:lvl4pPr marL="0" marR="0" indent="137160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4pPr>
    <a:lvl5pPr marL="0" marR="0" indent="182880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5pPr>
    <a:lvl6pPr marL="0" marR="0" indent="228600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6pPr>
    <a:lvl7pPr marL="0" marR="0" indent="274320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7pPr>
    <a:lvl8pPr marL="0" marR="0" indent="320040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8pPr>
    <a:lvl9pPr marL="0" marR="0" indent="365760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D51ADE6A-740E-44AE-83CC-AE7238B6C88D}" styleName="">
    <a:tblBg/>
    <a:wholeTbl>
      <a:tcTxStyle b="off" i="off">
        <a:fontRef idx="minor">
          <a:srgbClr val="102D69"/>
        </a:fontRef>
        <a:srgbClr val="102D69"/>
      </a:tcTxStyle>
      <a:tcStyle>
        <a:tcBdr>
          <a:left>
            <a:ln w="3175" cap="flat">
              <a:solidFill>
                <a:srgbClr val="FFFFFF"/>
              </a:solidFill>
              <a:prstDash val="solid"/>
              <a:round/>
            </a:ln>
          </a:left>
          <a:right>
            <a:ln w="3175" cap="flat">
              <a:solidFill>
                <a:srgbClr val="FFFFFF"/>
              </a:solidFill>
              <a:prstDash val="solid"/>
              <a:round/>
            </a:ln>
          </a:right>
          <a:top>
            <a:ln w="9525" cap="flat">
              <a:solidFill>
                <a:srgbClr val="BFBFBF"/>
              </a:solidFill>
              <a:prstDash val="solid"/>
              <a:round/>
            </a:ln>
          </a:top>
          <a:bottom>
            <a:ln w="9525" cap="flat">
              <a:solidFill>
                <a:srgbClr val="BFBFBF"/>
              </a:solidFill>
              <a:prstDash val="solid"/>
              <a:round/>
            </a:ln>
          </a:bottom>
          <a:insideH>
            <a:ln w="9525" cap="flat">
              <a:solidFill>
                <a:srgbClr val="BFBFBF"/>
              </a:solidFill>
              <a:prstDash val="solid"/>
              <a:round/>
            </a:ln>
          </a:insideH>
          <a:insideV>
            <a:ln w="3175" cap="flat">
              <a:solidFill>
                <a:srgbClr val="FFFFFF"/>
              </a:solidFill>
              <a:prstDash val="solid"/>
              <a:round/>
            </a:ln>
          </a:insideV>
        </a:tcBdr>
        <a:fill>
          <a:no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ff" i="off">
        <a:fontRef idx="minor">
          <a:srgbClr val="102D69"/>
        </a:fontRef>
        <a:srgbClr val="102D69"/>
      </a:tcTxStyle>
      <a:tcStyle>
        <a:tcBdr>
          <a:left>
            <a:ln w="3175" cap="flat">
              <a:solidFill>
                <a:srgbClr val="FFFFFF"/>
              </a:solidFill>
              <a:prstDash val="solid"/>
              <a:round/>
            </a:ln>
          </a:left>
          <a:right>
            <a:ln w="3175" cap="flat">
              <a:solidFill>
                <a:srgbClr val="FFFFFF"/>
              </a:solidFill>
              <a:prstDash val="solid"/>
              <a:round/>
            </a:ln>
          </a:right>
          <a:top>
            <a:ln w="9525" cap="flat">
              <a:solidFill>
                <a:srgbClr val="BFBFBF"/>
              </a:solidFill>
              <a:prstDash val="solid"/>
              <a:round/>
            </a:ln>
          </a:top>
          <a:bottom>
            <a:ln w="9525" cap="flat">
              <a:solidFill>
                <a:srgbClr val="BFBFBF"/>
              </a:solidFill>
              <a:prstDash val="solid"/>
              <a:round/>
            </a:ln>
          </a:bottom>
          <a:insideH>
            <a:ln w="12700" cap="flat">
              <a:solidFill>
                <a:srgbClr val="FFFFFF"/>
              </a:solidFill>
              <a:prstDash val="solid"/>
              <a:round/>
            </a:ln>
          </a:insideH>
          <a:insideV>
            <a:ln w="3175" cap="flat">
              <a:solidFill>
                <a:srgbClr val="FFFFFF"/>
              </a:solidFill>
              <a:prstDash val="solid"/>
              <a:round/>
            </a:ln>
          </a:insideV>
        </a:tcBdr>
        <a:fill>
          <a:solidFill>
            <a:srgbClr val="F2F2F2"/>
          </a:solidFill>
        </a:fill>
      </a:tcStyle>
    </a:firstRow>
  </a:tblStyle>
  <a:tblStyle styleId="{8F44A2F1-9E1F-4B54-A3A2-5F16C0AD49E2}" styleName="">
    <a:tblBg/>
    <a:wholeTbl>
      <a:tcTxStyle b="off" i="off">
        <a:fontRef idx="minor">
          <a:srgbClr val="102D69"/>
        </a:fontRef>
        <a:srgbClr val="102D69"/>
      </a:tcTxStyle>
      <a:tcStyle>
        <a:tcBdr>
          <a:left>
            <a:ln w="3175" cap="flat">
              <a:solidFill>
                <a:srgbClr val="FFFFFF"/>
              </a:solidFill>
              <a:prstDash val="solid"/>
              <a:round/>
            </a:ln>
          </a:left>
          <a:right>
            <a:ln w="3175" cap="flat">
              <a:solidFill>
                <a:srgbClr val="FFFFFF"/>
              </a:solidFill>
              <a:prstDash val="solid"/>
              <a:round/>
            </a:ln>
          </a:right>
          <a:top>
            <a:ln w="9525" cap="flat">
              <a:solidFill>
                <a:srgbClr val="BFBFBF"/>
              </a:solidFill>
              <a:prstDash val="solid"/>
              <a:round/>
            </a:ln>
          </a:top>
          <a:bottom>
            <a:ln w="9525" cap="flat">
              <a:solidFill>
                <a:srgbClr val="BFBFBF"/>
              </a:solidFill>
              <a:prstDash val="solid"/>
              <a:round/>
            </a:ln>
          </a:bottom>
          <a:insideH>
            <a:ln w="9525" cap="flat">
              <a:solidFill>
                <a:srgbClr val="BFBFBF"/>
              </a:solidFill>
              <a:prstDash val="solid"/>
              <a:round/>
            </a:ln>
          </a:insideH>
          <a:insideV>
            <a:ln w="3175" cap="flat">
              <a:solidFill>
                <a:srgbClr val="FFFFFF"/>
              </a:solidFill>
              <a:prstDash val="solid"/>
              <a:round/>
            </a:ln>
          </a:insideV>
        </a:tcBdr>
        <a:fill>
          <a:no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ff" i="off">
        <a:fontRef idx="minor">
          <a:srgbClr val="102D69"/>
        </a:fontRef>
        <a:srgbClr val="102D69"/>
      </a:tcTxStyle>
      <a:tcStyle>
        <a:tcBdr>
          <a:left>
            <a:ln w="3175" cap="flat">
              <a:solidFill>
                <a:srgbClr val="FFFFFF"/>
              </a:solidFill>
              <a:prstDash val="solid"/>
              <a:round/>
            </a:ln>
          </a:left>
          <a:right>
            <a:ln w="3175" cap="flat">
              <a:solidFill>
                <a:srgbClr val="FFFFFF"/>
              </a:solidFill>
              <a:prstDash val="solid"/>
              <a:round/>
            </a:ln>
          </a:right>
          <a:top>
            <a:ln w="9525" cap="flat">
              <a:solidFill>
                <a:srgbClr val="BFBFBF"/>
              </a:solidFill>
              <a:prstDash val="solid"/>
              <a:round/>
            </a:ln>
          </a:top>
          <a:bottom>
            <a:ln w="9525" cap="flat">
              <a:solidFill>
                <a:srgbClr val="BFBFBF"/>
              </a:solidFill>
              <a:prstDash val="solid"/>
              <a:round/>
            </a:ln>
          </a:bottom>
          <a:insideH>
            <a:ln w="12700" cap="flat">
              <a:solidFill>
                <a:srgbClr val="FFFFFF"/>
              </a:solidFill>
              <a:prstDash val="solid"/>
              <a:round/>
            </a:ln>
          </a:insideH>
          <a:insideV>
            <a:ln w="3175" cap="flat">
              <a:solidFill>
                <a:srgbClr val="FFFFFF"/>
              </a:solidFill>
              <a:prstDash val="solid"/>
              <a:round/>
            </a:ln>
          </a:insideV>
        </a:tcBdr>
        <a:fill>
          <a:solidFill>
            <a:srgbClr val="F2F2F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9"/>
  </p:normalViewPr>
  <p:slideViewPr>
    <p:cSldViewPr snapToGrid="0">
      <p:cViewPr varScale="1">
        <p:scale>
          <a:sx n="104" d="100"/>
          <a:sy n="104" d="100"/>
        </p:scale>
        <p:origin x="8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0" name="Shape 200"/>
          <p:cNvSpPr>
            <a:spLocks noGrp="1" noRot="1" noChangeAspect="1"/>
          </p:cNvSpPr>
          <p:nvPr>
            <p:ph type="sldImg"/>
          </p:nvPr>
        </p:nvSpPr>
        <p:spPr>
          <a:xfrm>
            <a:off x="1143000" y="685800"/>
            <a:ext cx="4572000" cy="3429000"/>
          </a:xfrm>
          <a:prstGeom prst="rect">
            <a:avLst/>
          </a:prstGeom>
        </p:spPr>
        <p:txBody>
          <a:bodyPr/>
          <a:lstStyle/>
          <a:p>
            <a:endParaRPr/>
          </a:p>
        </p:txBody>
      </p:sp>
      <p:sp>
        <p:nvSpPr>
          <p:cNvPr id="201" name="Shape 20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Пустой">
    <p:spTree>
      <p:nvGrpSpPr>
        <p:cNvPr id="1" name=""/>
        <p:cNvGrpSpPr/>
        <p:nvPr/>
      </p:nvGrpSpPr>
      <p:grpSpPr>
        <a:xfrm>
          <a:off x="0" y="0"/>
          <a:ext cx="0" cy="0"/>
          <a:chOff x="0" y="0"/>
          <a:chExt cx="0" cy="0"/>
        </a:xfrm>
      </p:grpSpPr>
      <p:sp>
        <p:nvSpPr>
          <p:cNvPr id="18" name="TextBox 32"/>
          <p:cNvSpPr txBox="1">
            <a:spLocks noGrp="1"/>
          </p:cNvSpPr>
          <p:nvPr>
            <p:ph type="body" sz="quarter" idx="21"/>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19" name="TextBox 27"/>
          <p:cNvSpPr txBox="1">
            <a:spLocks noGrp="1"/>
          </p:cNvSpPr>
          <p:nvPr>
            <p:ph type="body" sz="quarter" idx="22"/>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20" name="TextBox 30"/>
          <p:cNvSpPr txBox="1">
            <a:spLocks noGrp="1"/>
          </p:cNvSpPr>
          <p:nvPr>
            <p:ph type="body" sz="quarter" idx="23"/>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21" name="TextBox 31"/>
          <p:cNvSpPr txBox="1">
            <a:spLocks noGrp="1"/>
          </p:cNvSpPr>
          <p:nvPr>
            <p:ph type="body" sz="quarter" idx="24"/>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Обложка">
    <p:spTree>
      <p:nvGrpSpPr>
        <p:cNvPr id="1" name=""/>
        <p:cNvGrpSpPr/>
        <p:nvPr/>
      </p:nvGrpSpPr>
      <p:grpSpPr>
        <a:xfrm>
          <a:off x="0" y="0"/>
          <a:ext cx="0" cy="0"/>
          <a:chOff x="0" y="0"/>
          <a:chExt cx="0" cy="0"/>
        </a:xfrm>
      </p:grpSpPr>
      <p:grpSp>
        <p:nvGrpSpPr>
          <p:cNvPr id="31" name="Group"/>
          <p:cNvGrpSpPr/>
          <p:nvPr/>
        </p:nvGrpSpPr>
        <p:grpSpPr>
          <a:xfrm>
            <a:off x="0" y="0"/>
            <a:ext cx="12192000" cy="6858000"/>
            <a:chOff x="0" y="0"/>
            <a:chExt cx="12192000" cy="6858000"/>
          </a:xfrm>
        </p:grpSpPr>
        <p:pic>
          <p:nvPicPr>
            <p:cNvPr id="29" name="Picture 9" descr="Picture 9"/>
            <p:cNvPicPr>
              <a:picLocks noChangeAspect="1"/>
            </p:cNvPicPr>
            <p:nvPr/>
          </p:nvPicPr>
          <p:blipFill>
            <a:blip r:embed="rId2"/>
            <a:stretch>
              <a:fillRect/>
            </a:stretch>
          </p:blipFill>
          <p:spPr>
            <a:xfrm>
              <a:off x="0" y="0"/>
              <a:ext cx="12192000" cy="6858000"/>
            </a:xfrm>
            <a:prstGeom prst="rect">
              <a:avLst/>
            </a:prstGeom>
            <a:ln w="12700" cap="flat">
              <a:noFill/>
              <a:miter lim="400000"/>
            </a:ln>
            <a:effectLst/>
          </p:spPr>
        </p:pic>
        <p:sp>
          <p:nvSpPr>
            <p:cNvPr id="30" name="Rectangle 24"/>
            <p:cNvSpPr/>
            <p:nvPr/>
          </p:nvSpPr>
          <p:spPr>
            <a:xfrm>
              <a:off x="766762" y="753175"/>
              <a:ext cx="10658476" cy="5339651"/>
            </a:xfrm>
            <a:prstGeom prst="rect">
              <a:avLst/>
            </a:prstGeom>
            <a:solidFill>
              <a:srgbClr val="FFFFFF"/>
            </a:solidFill>
            <a:ln w="3175" cap="flat">
              <a:solidFill>
                <a:srgbClr val="32538F"/>
              </a:solidFill>
              <a:prstDash val="solid"/>
              <a:miter lim="800000"/>
            </a:ln>
            <a:effectLst/>
          </p:spPr>
          <p:txBody>
            <a:bodyPr wrap="square" lIns="45719" tIns="45719" rIns="45719" bIns="45719" numCol="1" anchor="ctr">
              <a:noAutofit/>
            </a:bodyPr>
            <a:lstStyle/>
            <a:p>
              <a:pPr algn="ctr" defTabSz="914400">
                <a:spcBef>
                  <a:spcPts val="0"/>
                </a:spcBef>
                <a:defRPr sz="1800">
                  <a:solidFill>
                    <a:srgbClr val="FFFFFF"/>
                  </a:solidFill>
                  <a:latin typeface="+mj-lt"/>
                  <a:ea typeface="+mj-ea"/>
                  <a:cs typeface="+mj-cs"/>
                  <a:sym typeface="Calibri"/>
                </a:defRPr>
              </a:pPr>
              <a:endParaRPr/>
            </a:p>
          </p:txBody>
        </p:sp>
      </p:grpSp>
      <p:pic>
        <p:nvPicPr>
          <p:cNvPr id="32" name="Picture 28" descr="Picture 28"/>
          <p:cNvPicPr>
            <a:picLocks noChangeAspect="1"/>
          </p:cNvPicPr>
          <p:nvPr/>
        </p:nvPicPr>
        <p:blipFill>
          <a:blip r:embed="rId3"/>
          <a:stretch>
            <a:fillRect/>
          </a:stretch>
        </p:blipFill>
        <p:spPr>
          <a:xfrm>
            <a:off x="1013859" y="962172"/>
            <a:ext cx="886500" cy="886500"/>
          </a:xfrm>
          <a:prstGeom prst="rect">
            <a:avLst/>
          </a:prstGeom>
          <a:ln w="12700">
            <a:miter lim="400000"/>
          </a:ln>
        </p:spPr>
      </p:pic>
      <p:sp>
        <p:nvSpPr>
          <p:cNvPr id="33" name="Straight Connector 48"/>
          <p:cNvSpPr/>
          <p:nvPr/>
        </p:nvSpPr>
        <p:spPr>
          <a:xfrm>
            <a:off x="6090212" y="962172"/>
            <a:ext cx="1" cy="840174"/>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34" name="Straight Connector 50"/>
          <p:cNvSpPr/>
          <p:nvPr/>
        </p:nvSpPr>
        <p:spPr>
          <a:xfrm>
            <a:off x="8642580" y="962172"/>
            <a:ext cx="1" cy="840174"/>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35" name="Straight Connector 51"/>
          <p:cNvSpPr/>
          <p:nvPr/>
        </p:nvSpPr>
        <p:spPr>
          <a:xfrm>
            <a:off x="11179046" y="962172"/>
            <a:ext cx="1" cy="840174"/>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36" name="Название факультета в две строки (16 pt)"/>
          <p:cNvSpPr txBox="1">
            <a:spLocks noGrp="1"/>
          </p:cNvSpPr>
          <p:nvPr>
            <p:ph type="body" sz="quarter" idx="21"/>
          </p:nvPr>
        </p:nvSpPr>
        <p:spPr>
          <a:xfrm>
            <a:off x="2130739" y="1112072"/>
            <a:ext cx="3581410" cy="704282"/>
          </a:xfrm>
          <a:prstGeom prst="rect">
            <a:avLst/>
          </a:prstGeom>
        </p:spPr>
        <p:txBody>
          <a:bodyPr>
            <a:noAutofit/>
          </a:bodyPr>
          <a:lstStyle/>
          <a:p>
            <a:pPr marL="0" indent="0">
              <a:spcBef>
                <a:spcPts val="0"/>
              </a:spcBef>
              <a:buSzTx/>
              <a:buFontTx/>
              <a:buNone/>
              <a:defRPr sz="1600">
                <a:latin typeface="+mn-lt"/>
                <a:ea typeface="+mn-ea"/>
                <a:cs typeface="+mn-cs"/>
                <a:sym typeface="Helvetica"/>
              </a:defRPr>
            </a:pPr>
            <a:r>
              <a:t>Название факультета</a:t>
            </a:r>
            <a:br/>
            <a:r>
              <a:t>в две строки (16 pt)</a:t>
            </a:r>
          </a:p>
        </p:txBody>
      </p:sp>
      <p:sp>
        <p:nvSpPr>
          <p:cNvPr id="37" name="Название подразделения в две или три строки (12pt)"/>
          <p:cNvSpPr txBox="1">
            <a:spLocks noGrp="1"/>
          </p:cNvSpPr>
          <p:nvPr>
            <p:ph type="body" sz="quarter" idx="22"/>
          </p:nvPr>
        </p:nvSpPr>
        <p:spPr>
          <a:xfrm>
            <a:off x="6239979" y="1112072"/>
            <a:ext cx="2252835" cy="540375"/>
          </a:xfrm>
          <a:prstGeom prst="rect">
            <a:avLst/>
          </a:prstGeom>
        </p:spPr>
        <p:txBody>
          <a:bodyPr>
            <a:noAutofit/>
          </a:bodyPr>
          <a:lstStyle/>
          <a:p>
            <a:pPr marL="0" indent="0">
              <a:spcBef>
                <a:spcPts val="0"/>
              </a:spcBef>
              <a:buSzTx/>
              <a:buFontTx/>
              <a:buNone/>
              <a:defRPr sz="1200">
                <a:latin typeface="+mn-lt"/>
                <a:ea typeface="+mn-ea"/>
                <a:cs typeface="+mn-cs"/>
                <a:sym typeface="Helvetica"/>
              </a:defRPr>
            </a:pPr>
            <a:r>
              <a:t>Название подразделения</a:t>
            </a:r>
            <a:br/>
            <a:r>
              <a:t>в две или три строки (12pt)</a:t>
            </a:r>
          </a:p>
        </p:txBody>
      </p:sp>
      <p:sp>
        <p:nvSpPr>
          <p:cNvPr id="38" name="Москва 2022 (12pt)"/>
          <p:cNvSpPr txBox="1">
            <a:spLocks noGrp="1"/>
          </p:cNvSpPr>
          <p:nvPr>
            <p:ph type="body" sz="quarter" idx="23"/>
          </p:nvPr>
        </p:nvSpPr>
        <p:spPr>
          <a:xfrm>
            <a:off x="8796001" y="1112072"/>
            <a:ext cx="2252835" cy="540375"/>
          </a:xfrm>
          <a:prstGeom prst="rect">
            <a:avLst/>
          </a:prstGeom>
        </p:spPr>
        <p:txBody>
          <a:bodyPr>
            <a:noAutofit/>
          </a:bodyPr>
          <a:lstStyle/>
          <a:p>
            <a:pPr marL="0" indent="0">
              <a:lnSpc>
                <a:spcPct val="80000"/>
              </a:lnSpc>
              <a:spcBef>
                <a:spcPts val="0"/>
              </a:spcBef>
              <a:buSzTx/>
              <a:buFontTx/>
              <a:buNone/>
              <a:defRPr sz="1200">
                <a:latin typeface="+mn-lt"/>
                <a:ea typeface="+mn-ea"/>
                <a:cs typeface="+mn-cs"/>
                <a:sym typeface="Helvetica"/>
              </a:defRPr>
            </a:pPr>
            <a:r>
              <a:t>Москва</a:t>
            </a:r>
            <a:br/>
            <a:r>
              <a:t>2022 (12pt)</a:t>
            </a:r>
          </a:p>
        </p:txBody>
      </p:sp>
      <p:sp>
        <p:nvSpPr>
          <p:cNvPr id="39" name="Название презентации может быть набрано в две  или три строки (43 pt)"/>
          <p:cNvSpPr txBox="1">
            <a:spLocks noGrp="1"/>
          </p:cNvSpPr>
          <p:nvPr>
            <p:ph type="body" sz="half" idx="24"/>
          </p:nvPr>
        </p:nvSpPr>
        <p:spPr>
          <a:xfrm>
            <a:off x="1014505" y="2284019"/>
            <a:ext cx="10162990" cy="1981496"/>
          </a:xfrm>
          <a:prstGeom prst="rect">
            <a:avLst/>
          </a:prstGeom>
        </p:spPr>
        <p:txBody>
          <a:bodyPr>
            <a:noAutofit/>
          </a:bodyPr>
          <a:lstStyle/>
          <a:p>
            <a:pPr marL="0" indent="0">
              <a:lnSpc>
                <a:spcPct val="80000"/>
              </a:lnSpc>
              <a:spcBef>
                <a:spcPts val="0"/>
              </a:spcBef>
              <a:buSzTx/>
              <a:buFontTx/>
              <a:buNone/>
              <a:defRPr sz="4300">
                <a:solidFill>
                  <a:srgbClr val="172C65"/>
                </a:solidFill>
                <a:latin typeface="+mn-lt"/>
                <a:ea typeface="+mn-ea"/>
                <a:cs typeface="+mn-cs"/>
                <a:sym typeface="Helvetica"/>
              </a:defRPr>
            </a:pPr>
            <a:r>
              <a:t>Название презентации</a:t>
            </a:r>
            <a:br/>
            <a:r>
              <a:t>может быть набрано в две </a:t>
            </a:r>
            <a:br/>
            <a:r>
              <a:t>или три строки (43 pt)</a:t>
            </a:r>
          </a:p>
        </p:txBody>
      </p:sp>
      <p:sp>
        <p:nvSpPr>
          <p:cNvPr id="40" name="Если нужно больше места,  то используйте подзаголовок (16 pt)"/>
          <p:cNvSpPr txBox="1">
            <a:spLocks noGrp="1"/>
          </p:cNvSpPr>
          <p:nvPr>
            <p:ph type="body" sz="quarter" idx="25"/>
          </p:nvPr>
        </p:nvSpPr>
        <p:spPr>
          <a:xfrm>
            <a:off x="1014505" y="4747187"/>
            <a:ext cx="4997854" cy="886500"/>
          </a:xfrm>
          <a:prstGeom prst="rect">
            <a:avLst/>
          </a:prstGeom>
        </p:spPr>
        <p:txBody>
          <a:bodyPr>
            <a:noAutofit/>
          </a:bodyPr>
          <a:lstStyle/>
          <a:p>
            <a:pPr marL="0" indent="0">
              <a:spcBef>
                <a:spcPts val="0"/>
              </a:spcBef>
              <a:buSzTx/>
              <a:buFontTx/>
              <a:buNone/>
              <a:defRPr sz="1600">
                <a:latin typeface="+mn-lt"/>
                <a:ea typeface="+mn-ea"/>
                <a:cs typeface="+mn-cs"/>
                <a:sym typeface="Helvetica"/>
              </a:defRPr>
            </a:pPr>
            <a:r>
              <a:t>Если нужно больше места, </a:t>
            </a:r>
            <a:br/>
            <a:r>
              <a:t>то используйте подзаголовок (16 pt)</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Текст_1">
    <p:spTree>
      <p:nvGrpSpPr>
        <p:cNvPr id="1" name=""/>
        <p:cNvGrpSpPr/>
        <p:nvPr/>
      </p:nvGrpSpPr>
      <p:grpSpPr>
        <a:xfrm>
          <a:off x="0" y="0"/>
          <a:ext cx="0" cy="0"/>
          <a:chOff x="0" y="0"/>
          <a:chExt cx="0" cy="0"/>
        </a:xfrm>
      </p:grpSpPr>
      <p:sp>
        <p:nvSpPr>
          <p:cNvPr id="48" name="TextBox 27"/>
          <p:cNvSpPr txBox="1">
            <a:spLocks noGrp="1"/>
          </p:cNvSpPr>
          <p:nvPr>
            <p:ph type="body" sz="quarter" idx="21"/>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49" name="TextBox 30"/>
          <p:cNvSpPr txBox="1">
            <a:spLocks noGrp="1"/>
          </p:cNvSpPr>
          <p:nvPr>
            <p:ph type="body" sz="quarter" idx="22"/>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50" name="TextBox 31"/>
          <p:cNvSpPr txBox="1">
            <a:spLocks noGrp="1"/>
          </p:cNvSpPr>
          <p:nvPr>
            <p:ph type="body" sz="quarter" idx="23"/>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51" name="TextBox 63"/>
          <p:cNvSpPr txBox="1">
            <a:spLocks noGrp="1"/>
          </p:cNvSpPr>
          <p:nvPr>
            <p:ph type="body" sz="quarter" idx="24"/>
          </p:nvPr>
        </p:nvSpPr>
        <p:spPr>
          <a:xfrm>
            <a:off x="535695" y="1396903"/>
            <a:ext cx="10041551" cy="791210"/>
          </a:xfrm>
          <a:prstGeom prst="rect">
            <a:avLst/>
          </a:prstGeom>
        </p:spPr>
        <p:txBody>
          <a:bodyPr>
            <a:spAutoFit/>
          </a:bodyPr>
          <a:lstStyle/>
          <a:p>
            <a:pPr marL="0" indent="0" defTabSz="12700">
              <a:spcBef>
                <a:spcPts val="1200"/>
              </a:spcBef>
              <a:buSzTx/>
              <a:buFontTx/>
              <a:buNone/>
              <a:defRPr sz="2400">
                <a:solidFill>
                  <a:srgbClr val="102D69"/>
                </a:solidFill>
                <a:latin typeface="+mn-lt"/>
                <a:ea typeface="+mn-ea"/>
                <a:cs typeface="+mn-cs"/>
                <a:sym typeface="Helvetica"/>
              </a:defRPr>
            </a:pPr>
            <a:r>
              <a:t>Заголовок может быть набран</a:t>
            </a:r>
            <a:br/>
            <a:r>
              <a:t>в две или три строки (24 pt)</a:t>
            </a:r>
          </a:p>
        </p:txBody>
      </p:sp>
      <p:sp>
        <p:nvSpPr>
          <p:cNvPr id="52" name="TextBox 32"/>
          <p:cNvSpPr txBox="1">
            <a:spLocks noGrp="1"/>
          </p:cNvSpPr>
          <p:nvPr>
            <p:ph type="body" sz="quarter" idx="25"/>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53" name="TextBox 44"/>
          <p:cNvSpPr txBox="1">
            <a:spLocks noGrp="1"/>
          </p:cNvSpPr>
          <p:nvPr>
            <p:ph type="body" sz="quarter" idx="26"/>
          </p:nvPr>
        </p:nvSpPr>
        <p:spPr>
          <a:xfrm>
            <a:off x="562919" y="2362798"/>
            <a:ext cx="4536709" cy="2631441"/>
          </a:xfrm>
          <a:prstGeom prst="rect">
            <a:avLst/>
          </a:prstGeom>
        </p:spPr>
        <p:txBody>
          <a:bodyPr>
            <a:spAutoFit/>
          </a:bodyPr>
          <a:lstStyle/>
          <a:p>
            <a:pPr marL="0" indent="0">
              <a:lnSpc>
                <a:spcPct val="100000"/>
              </a:lnSpc>
              <a:spcBef>
                <a:spcPts val="1200"/>
              </a:spcBef>
              <a:buSzTx/>
              <a:buFontTx/>
              <a:buNone/>
              <a:defRPr sz="1300">
                <a:latin typeface="+mn-lt"/>
                <a:ea typeface="+mn-ea"/>
                <a:cs typeface="+mn-cs"/>
                <a:sym typeface="Helvetica"/>
              </a:defRPr>
            </a:pPr>
            <a:r>
              <a:t>Небольшие куски текста (13pt) можно набирать в одну колонку, но не делайте колонку на всю ширину экрана. </a:t>
            </a:r>
          </a:p>
          <a:p>
            <a:pPr marL="0" indent="0">
              <a:lnSpc>
                <a:spcPct val="100000"/>
              </a:lnSpc>
              <a:spcBef>
                <a:spcPts val="1200"/>
              </a:spcBef>
              <a:buSzTx/>
              <a:buFontTx/>
              <a:buNone/>
              <a:defRPr sz="1300">
                <a:latin typeface="+mn-lt"/>
                <a:ea typeface="+mn-ea"/>
                <a:cs typeface="+mn-cs"/>
                <a:sym typeface="Helvetica"/>
              </a:defRPr>
            </a:pPr>
            <a:r>
              <a:t>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a:t>
            </a:r>
          </a:p>
          <a:p>
            <a:pPr marL="0" indent="0">
              <a:lnSpc>
                <a:spcPct val="100000"/>
              </a:lnSpc>
              <a:spcBef>
                <a:spcPts val="1200"/>
              </a:spcBef>
              <a:buSzTx/>
              <a:buFontTx/>
              <a:buNone/>
              <a:defRPr sz="1300" i="1">
                <a:latin typeface="+mn-lt"/>
                <a:ea typeface="+mn-ea"/>
                <a:cs typeface="+mn-cs"/>
                <a:sym typeface="Helvetica"/>
              </a:defRPr>
            </a:pPr>
            <a:r>
              <a:t>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Текст_2">
    <p:spTree>
      <p:nvGrpSpPr>
        <p:cNvPr id="1" name=""/>
        <p:cNvGrpSpPr/>
        <p:nvPr/>
      </p:nvGrpSpPr>
      <p:grpSpPr>
        <a:xfrm>
          <a:off x="0" y="0"/>
          <a:ext cx="0" cy="0"/>
          <a:chOff x="0" y="0"/>
          <a:chExt cx="0" cy="0"/>
        </a:xfrm>
      </p:grpSpPr>
      <p:sp>
        <p:nvSpPr>
          <p:cNvPr id="61" name="TextBox 15"/>
          <p:cNvSpPr txBox="1">
            <a:spLocks noGrp="1"/>
          </p:cNvSpPr>
          <p:nvPr>
            <p:ph type="body" sz="quarter" idx="21"/>
          </p:nvPr>
        </p:nvSpPr>
        <p:spPr>
          <a:xfrm>
            <a:off x="535694" y="2469009"/>
            <a:ext cx="4780382" cy="2694941"/>
          </a:xfrm>
          <a:prstGeom prst="rect">
            <a:avLst/>
          </a:prstGeom>
        </p:spPr>
        <p:txBody>
          <a:bodyPr>
            <a:spAutoFit/>
          </a:bodyPr>
          <a:lstStyle/>
          <a:p>
            <a:pPr marL="0" indent="0" defTabSz="12700">
              <a:lnSpc>
                <a:spcPct val="100000"/>
              </a:lnSpc>
              <a:spcBef>
                <a:spcPts val="1300"/>
              </a:spcBef>
              <a:buSzTx/>
              <a:buFontTx/>
              <a:buNone/>
              <a:defRPr sz="1300">
                <a:latin typeface="+mn-lt"/>
                <a:ea typeface="+mn-ea"/>
                <a:cs typeface="+mn-cs"/>
                <a:sym typeface="Helvetica"/>
              </a:defRPr>
            </a:pPr>
            <a:r>
              <a:t>Я как раз тот самый обычный текст о котором говорится справа, набирайте меня везде одинаковым кеглем (13 pt), в таком размере я хорошо читаюсь на экране и на распечатанных слайдах. Не нужно меня увеличивать без надобности, ведь всегда под рукой есть кнопка полноэкранного режима.</a:t>
            </a:r>
          </a:p>
          <a:p>
            <a:pPr marL="0" indent="0" defTabSz="12700">
              <a:lnSpc>
                <a:spcPct val="100000"/>
              </a:lnSpc>
              <a:spcBef>
                <a:spcPts val="1300"/>
              </a:spcBef>
              <a:buSzTx/>
              <a:buFontTx/>
              <a:buNone/>
              <a:defRPr sz="1300">
                <a:latin typeface="+mn-lt"/>
                <a:ea typeface="+mn-ea"/>
                <a:cs typeface="+mn-cs"/>
                <a:sym typeface="Helvetica"/>
              </a:defRPr>
            </a:pPr>
            <a:r>
              <a:t>Я как раз тот самый обычный текст о котором говорится справа, набирайте меня везде одинаковым кеглем (13 pt), в таком размере я хорошо читаюсь на экране и на распечатанных слайдах. Не нужно меня увеличивать без надобности, ведь всегда под рукой есть кнопка полноэкранного режима.</a:t>
            </a:r>
          </a:p>
        </p:txBody>
      </p:sp>
      <p:sp>
        <p:nvSpPr>
          <p:cNvPr id="62" name="TextBox 23"/>
          <p:cNvSpPr txBox="1">
            <a:spLocks noGrp="1"/>
          </p:cNvSpPr>
          <p:nvPr>
            <p:ph type="body" sz="quarter" idx="22"/>
          </p:nvPr>
        </p:nvSpPr>
        <p:spPr>
          <a:xfrm>
            <a:off x="535695" y="5323542"/>
            <a:ext cx="4780381"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Примечания, или любая другая пояснительная или дополнительная информация набираются шрифтом размером 10 pt</a:t>
            </a:r>
          </a:p>
        </p:txBody>
      </p:sp>
      <p:sp>
        <p:nvSpPr>
          <p:cNvPr id="63" name="TextBox 63"/>
          <p:cNvSpPr txBox="1">
            <a:spLocks noGrp="1"/>
          </p:cNvSpPr>
          <p:nvPr>
            <p:ph type="body" sz="quarter" idx="23"/>
          </p:nvPr>
        </p:nvSpPr>
        <p:spPr>
          <a:xfrm>
            <a:off x="535695" y="1396903"/>
            <a:ext cx="10041551" cy="791210"/>
          </a:xfrm>
          <a:prstGeom prst="rect">
            <a:avLst/>
          </a:prstGeom>
        </p:spPr>
        <p:txBody>
          <a:bodyPr>
            <a:spAutoFit/>
          </a:bodyPr>
          <a:lstStyle/>
          <a:p>
            <a:pPr marL="0" indent="0" defTabSz="12700">
              <a:spcBef>
                <a:spcPts val="1200"/>
              </a:spcBef>
              <a:buSzTx/>
              <a:buFontTx/>
              <a:buNone/>
              <a:defRPr sz="2400">
                <a:solidFill>
                  <a:srgbClr val="102D69"/>
                </a:solidFill>
                <a:latin typeface="+mn-lt"/>
                <a:ea typeface="+mn-ea"/>
                <a:cs typeface="+mn-cs"/>
                <a:sym typeface="Helvetica"/>
              </a:defRPr>
            </a:pPr>
            <a:r>
              <a:t>Заголовок может быть набран</a:t>
            </a:r>
            <a:br/>
            <a:r>
              <a:t>в две или три строки (24 pt)</a:t>
            </a:r>
          </a:p>
        </p:txBody>
      </p:sp>
      <p:sp>
        <p:nvSpPr>
          <p:cNvPr id="64" name="TextBox 22"/>
          <p:cNvSpPr txBox="1">
            <a:spLocks noGrp="1"/>
          </p:cNvSpPr>
          <p:nvPr>
            <p:ph type="body" sz="half" idx="24"/>
          </p:nvPr>
        </p:nvSpPr>
        <p:spPr>
          <a:xfrm>
            <a:off x="6095358" y="2462971"/>
            <a:ext cx="5487361" cy="3962401"/>
          </a:xfrm>
          <a:prstGeom prst="rect">
            <a:avLst/>
          </a:prstGeom>
        </p:spPr>
        <p:txBody>
          <a:bodyPr lIns="50800" tIns="50800" rIns="50800" bIns="50800">
            <a:spAutoFit/>
          </a:bodyPr>
          <a:lstStyle/>
          <a:p>
            <a:pPr marL="0" indent="0" defTabSz="12700">
              <a:lnSpc>
                <a:spcPct val="100000"/>
              </a:lnSpc>
              <a:spcBef>
                <a:spcPts val="1200"/>
              </a:spcBef>
              <a:buSzTx/>
              <a:buFontTx/>
              <a:buNone/>
              <a:defRPr sz="3200">
                <a:solidFill>
                  <a:srgbClr val="102D69"/>
                </a:solidFill>
                <a:latin typeface="+mn-lt"/>
                <a:ea typeface="+mn-ea"/>
                <a:cs typeface="+mn-cs"/>
                <a:sym typeface="Helvetica"/>
              </a:defRPr>
            </a:pPr>
            <a:r>
              <a:t>Небольшую фразу, с важной информацией, можно выделить, набрав ее более крупным кеглем, чем обычный  текст. Делать </a:t>
            </a:r>
            <a:br/>
            <a:r>
              <a:t>это часто не рекомендуется.</a:t>
            </a:r>
          </a:p>
        </p:txBody>
      </p:sp>
      <p:sp>
        <p:nvSpPr>
          <p:cNvPr id="65" name="TextBox 32"/>
          <p:cNvSpPr txBox="1">
            <a:spLocks noGrp="1"/>
          </p:cNvSpPr>
          <p:nvPr>
            <p:ph type="body" sz="quarter" idx="25"/>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66" name="TextBox 27"/>
          <p:cNvSpPr txBox="1">
            <a:spLocks noGrp="1"/>
          </p:cNvSpPr>
          <p:nvPr>
            <p:ph type="body" sz="quarter" idx="26"/>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67" name="TextBox 30"/>
          <p:cNvSpPr txBox="1">
            <a:spLocks noGrp="1"/>
          </p:cNvSpPr>
          <p:nvPr>
            <p:ph type="body" sz="quarter" idx="27"/>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68" name="TextBox 31"/>
          <p:cNvSpPr txBox="1">
            <a:spLocks noGrp="1"/>
          </p:cNvSpPr>
          <p:nvPr>
            <p:ph type="body" sz="quarter" idx="28"/>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6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Текст_3">
    <p:spTree>
      <p:nvGrpSpPr>
        <p:cNvPr id="1" name=""/>
        <p:cNvGrpSpPr/>
        <p:nvPr/>
      </p:nvGrpSpPr>
      <p:grpSpPr>
        <a:xfrm>
          <a:off x="0" y="0"/>
          <a:ext cx="0" cy="0"/>
          <a:chOff x="0" y="0"/>
          <a:chExt cx="0" cy="0"/>
        </a:xfrm>
      </p:grpSpPr>
      <p:pic>
        <p:nvPicPr>
          <p:cNvPr id="76" name="Picture 9" descr="Picture 9"/>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77" name="Rectangle 24"/>
          <p:cNvSpPr/>
          <p:nvPr/>
        </p:nvSpPr>
        <p:spPr>
          <a:xfrm>
            <a:off x="132681" y="134898"/>
            <a:ext cx="11926638" cy="6602381"/>
          </a:xfrm>
          <a:prstGeom prst="rect">
            <a:avLst/>
          </a:prstGeom>
          <a:solidFill>
            <a:srgbClr val="FFFFFF"/>
          </a:solidFill>
          <a:ln w="3175">
            <a:solidFill>
              <a:srgbClr val="32538F"/>
            </a:solidFill>
            <a:miter/>
          </a:ln>
        </p:spPr>
        <p:txBody>
          <a:bodyPr lIns="45719" rIns="45719" anchor="ctr"/>
          <a:lstStyle/>
          <a:p>
            <a:pPr algn="ctr" defTabSz="914400">
              <a:spcBef>
                <a:spcPts val="0"/>
              </a:spcBef>
              <a:defRPr sz="1600">
                <a:solidFill>
                  <a:srgbClr val="FFFFFF"/>
                </a:solidFill>
                <a:latin typeface="+mj-lt"/>
                <a:ea typeface="+mj-ea"/>
                <a:cs typeface="+mj-cs"/>
                <a:sym typeface="Calibri"/>
              </a:defRPr>
            </a:pPr>
            <a:endParaRPr/>
          </a:p>
        </p:txBody>
      </p:sp>
      <p:pic>
        <p:nvPicPr>
          <p:cNvPr id="78" name="Picture 4" descr="Picture 4"/>
          <p:cNvPicPr>
            <a:picLocks noChangeAspect="1"/>
          </p:cNvPicPr>
          <p:nvPr/>
        </p:nvPicPr>
        <p:blipFill>
          <a:blip r:embed="rId3"/>
          <a:stretch>
            <a:fillRect/>
          </a:stretch>
        </p:blipFill>
        <p:spPr>
          <a:xfrm>
            <a:off x="517199" y="464362"/>
            <a:ext cx="448276" cy="448277"/>
          </a:xfrm>
          <a:prstGeom prst="rect">
            <a:avLst/>
          </a:prstGeom>
          <a:ln w="12700">
            <a:miter lim="400000"/>
          </a:ln>
        </p:spPr>
      </p:pic>
      <p:sp>
        <p:nvSpPr>
          <p:cNvPr id="79" name="Straight Connector 19"/>
          <p:cNvSpPr/>
          <p:nvPr/>
        </p:nvSpPr>
        <p:spPr>
          <a:xfrm>
            <a:off x="3298685"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80" name="Straight Connector 21"/>
          <p:cNvSpPr/>
          <p:nvPr/>
        </p:nvSpPr>
        <p:spPr>
          <a:xfrm>
            <a:off x="6099415"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81" name="Straight Connector 59"/>
          <p:cNvSpPr/>
          <p:nvPr/>
        </p:nvSpPr>
        <p:spPr>
          <a:xfrm>
            <a:off x="11643868"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82" name="TextBox 27"/>
          <p:cNvSpPr txBox="1">
            <a:spLocks noGrp="1"/>
          </p:cNvSpPr>
          <p:nvPr>
            <p:ph type="body" sz="quarter" idx="21"/>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83" name="TextBox 30"/>
          <p:cNvSpPr txBox="1">
            <a:spLocks noGrp="1"/>
          </p:cNvSpPr>
          <p:nvPr>
            <p:ph type="body" sz="quarter" idx="22"/>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84" name="TextBox 31"/>
          <p:cNvSpPr txBox="1">
            <a:spLocks noGrp="1"/>
          </p:cNvSpPr>
          <p:nvPr>
            <p:ph type="body" sz="quarter" idx="23"/>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85" name="TextBox 63"/>
          <p:cNvSpPr txBox="1">
            <a:spLocks noGrp="1"/>
          </p:cNvSpPr>
          <p:nvPr>
            <p:ph type="body" sz="quarter" idx="24"/>
          </p:nvPr>
        </p:nvSpPr>
        <p:spPr>
          <a:xfrm>
            <a:off x="535695" y="1396903"/>
            <a:ext cx="10041551" cy="791210"/>
          </a:xfrm>
          <a:prstGeom prst="rect">
            <a:avLst/>
          </a:prstGeom>
        </p:spPr>
        <p:txBody>
          <a:bodyPr>
            <a:spAutoFit/>
          </a:bodyPr>
          <a:lstStyle/>
          <a:p>
            <a:pPr marL="0" indent="0" defTabSz="12700">
              <a:spcBef>
                <a:spcPts val="1200"/>
              </a:spcBef>
              <a:buSzTx/>
              <a:buFontTx/>
              <a:buNone/>
              <a:defRPr sz="2400">
                <a:solidFill>
                  <a:srgbClr val="102D69"/>
                </a:solidFill>
                <a:latin typeface="+mn-lt"/>
                <a:ea typeface="+mn-ea"/>
                <a:cs typeface="+mn-cs"/>
                <a:sym typeface="Helvetica"/>
              </a:defRPr>
            </a:pPr>
            <a:r>
              <a:t>Заголовок может быть набран</a:t>
            </a:r>
            <a:br/>
            <a:r>
              <a:t>в две или три строки (24 pt)</a:t>
            </a:r>
          </a:p>
        </p:txBody>
      </p:sp>
      <p:sp>
        <p:nvSpPr>
          <p:cNvPr id="86" name="TextBox 32"/>
          <p:cNvSpPr txBox="1"/>
          <p:nvPr/>
        </p:nvSpPr>
        <p:spPr>
          <a:xfrm>
            <a:off x="10337842" y="497314"/>
            <a:ext cx="245404" cy="396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defTabSz="914400">
              <a:spcBef>
                <a:spcPts val="0"/>
              </a:spcBef>
              <a:defRPr sz="2000"/>
            </a:lvl1pPr>
          </a:lstStyle>
          <a:p>
            <a:r>
              <a:t>3</a:t>
            </a:r>
          </a:p>
        </p:txBody>
      </p:sp>
      <p:sp>
        <p:nvSpPr>
          <p:cNvPr id="87" name="Straight Connector 25"/>
          <p:cNvSpPr/>
          <p:nvPr/>
        </p:nvSpPr>
        <p:spPr>
          <a:xfrm>
            <a:off x="10277081"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88" name="TextBox 14"/>
          <p:cNvSpPr txBox="1">
            <a:spLocks noGrp="1"/>
          </p:cNvSpPr>
          <p:nvPr>
            <p:ph type="body" idx="25"/>
          </p:nvPr>
        </p:nvSpPr>
        <p:spPr>
          <a:xfrm>
            <a:off x="562920" y="2362798"/>
            <a:ext cx="11066161" cy="3282660"/>
          </a:xfrm>
          <a:prstGeom prst="rect">
            <a:avLst/>
          </a:prstGeom>
        </p:spPr>
        <p:txBody>
          <a:bodyPr numCol="3" spcCol="126384">
            <a:noAutofit/>
          </a:bodyPr>
          <a:lstStyle/>
          <a:p>
            <a:pPr marL="0" indent="0">
              <a:lnSpc>
                <a:spcPct val="100000"/>
              </a:lnSpc>
              <a:spcBef>
                <a:spcPts val="1200"/>
              </a:spcBef>
              <a:buSzTx/>
              <a:buFontTx/>
              <a:buNone/>
              <a:defRPr sz="1300">
                <a:latin typeface="+mn-lt"/>
                <a:ea typeface="+mn-ea"/>
                <a:cs typeface="+mn-cs"/>
                <a:sym typeface="Helvetica"/>
              </a:defRPr>
            </a:pPr>
            <a: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a:t>
            </a:r>
          </a:p>
          <a:p>
            <a:pPr marL="0" indent="0">
              <a:lnSpc>
                <a:spcPct val="100000"/>
              </a:lnSpc>
              <a:spcBef>
                <a:spcPts val="1200"/>
              </a:spcBef>
              <a:buSzTx/>
              <a:buFontTx/>
              <a:buNone/>
              <a:defRPr sz="1300">
                <a:latin typeface="+mn-lt"/>
                <a:ea typeface="+mn-ea"/>
                <a:cs typeface="+mn-cs"/>
                <a:sym typeface="Helvetica"/>
              </a:defRPr>
            </a:pPr>
            <a: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a:t>
            </a:r>
          </a:p>
          <a:p>
            <a:pPr marL="0" indent="0">
              <a:lnSpc>
                <a:spcPct val="100000"/>
              </a:lnSpc>
              <a:spcBef>
                <a:spcPts val="1200"/>
              </a:spcBef>
              <a:buSzTx/>
              <a:buFontTx/>
              <a:buNone/>
              <a:defRPr sz="1300">
                <a:latin typeface="+mn-lt"/>
                <a:ea typeface="+mn-ea"/>
                <a:cs typeface="+mn-cs"/>
                <a:sym typeface="Helvetica"/>
              </a:defRPr>
            </a:pPr>
            <a:r>
              <a:t>Старайтесь чтобы в строке было в среднем семь — девять слов. Большее количество слов в строке способствует хорошему сну, но не чтению.</a:t>
            </a:r>
          </a:p>
          <a:p>
            <a:pPr marL="0" indent="0">
              <a:lnSpc>
                <a:spcPct val="100000"/>
              </a:lnSpc>
              <a:spcBef>
                <a:spcPts val="1200"/>
              </a:spcBef>
              <a:buSzTx/>
              <a:buFontTx/>
              <a:buNone/>
              <a:defRPr sz="1300">
                <a:latin typeface="+mn-lt"/>
                <a:ea typeface="+mn-ea"/>
                <a:cs typeface="+mn-cs"/>
                <a:sym typeface="Helvetica"/>
              </a:defRPr>
            </a:pPr>
            <a: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a:t>
            </a:r>
          </a:p>
          <a:p>
            <a:pPr marL="0" indent="0">
              <a:lnSpc>
                <a:spcPct val="100000"/>
              </a:lnSpc>
              <a:spcBef>
                <a:spcPts val="1200"/>
              </a:spcBef>
              <a:buSzTx/>
              <a:buFontTx/>
              <a:buNone/>
              <a:defRPr sz="1300">
                <a:latin typeface="+mn-lt"/>
                <a:ea typeface="+mn-ea"/>
                <a:cs typeface="+mn-cs"/>
                <a:sym typeface="Helvetica"/>
              </a:defRPr>
            </a:pPr>
            <a: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a:t>
            </a:r>
          </a:p>
          <a:p>
            <a:pPr marL="0" indent="0">
              <a:lnSpc>
                <a:spcPct val="100000"/>
              </a:lnSpc>
              <a:spcBef>
                <a:spcPts val="1200"/>
              </a:spcBef>
              <a:buSzTx/>
              <a:buFontTx/>
              <a:buNone/>
              <a:defRPr sz="1300">
                <a:latin typeface="+mn-lt"/>
                <a:ea typeface="+mn-ea"/>
                <a:cs typeface="+mn-cs"/>
                <a:sym typeface="Helvetica"/>
              </a:defRPr>
            </a:pPr>
            <a: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a:t>
            </a:r>
          </a:p>
        </p:txBody>
      </p:sp>
      <p:sp>
        <p:nvSpPr>
          <p:cNvPr id="8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График_1">
    <p:spTree>
      <p:nvGrpSpPr>
        <p:cNvPr id="1" name=""/>
        <p:cNvGrpSpPr/>
        <p:nvPr/>
      </p:nvGrpSpPr>
      <p:grpSpPr>
        <a:xfrm>
          <a:off x="0" y="0"/>
          <a:ext cx="0" cy="0"/>
          <a:chOff x="0" y="0"/>
          <a:chExt cx="0" cy="0"/>
        </a:xfrm>
      </p:grpSpPr>
      <p:sp>
        <p:nvSpPr>
          <p:cNvPr id="96" name="TextBox 17"/>
          <p:cNvSpPr txBox="1">
            <a:spLocks noGrp="1"/>
          </p:cNvSpPr>
          <p:nvPr>
            <p:ph type="body" sz="quarter" idx="21"/>
          </p:nvPr>
        </p:nvSpPr>
        <p:spPr>
          <a:xfrm>
            <a:off x="513173" y="1485004"/>
            <a:ext cx="3560279" cy="1056641"/>
          </a:xfrm>
          <a:prstGeom prst="rect">
            <a:avLst/>
          </a:prstGeom>
        </p:spPr>
        <p:txBody>
          <a:bodyPr>
            <a:spAutoFit/>
          </a:bodyPr>
          <a:lstStyle/>
          <a:p>
            <a:pPr marL="0" indent="0" defTabSz="12700">
              <a:lnSpc>
                <a:spcPct val="100000"/>
              </a:lnSpc>
              <a:spcBef>
                <a:spcPts val="0"/>
              </a:spcBef>
              <a:buSzTx/>
              <a:buFontTx/>
              <a:buNone/>
              <a:defRPr sz="1600">
                <a:solidFill>
                  <a:srgbClr val="102D69"/>
                </a:solidFill>
                <a:latin typeface="+mn-lt"/>
                <a:ea typeface="+mn-ea"/>
                <a:cs typeface="+mn-cs"/>
                <a:sym typeface="Helvetica"/>
              </a:defRPr>
            </a:pPr>
            <a:r>
              <a:t>Название графика. Обратите</a:t>
            </a:r>
            <a:br/>
            <a:r>
              <a:t>внимание, что название графика набирается меньшим кеглем, </a:t>
            </a:r>
            <a:br/>
            <a:r>
              <a:t>чем заголовок (16pt)</a:t>
            </a:r>
          </a:p>
        </p:txBody>
      </p:sp>
      <p:sp>
        <p:nvSpPr>
          <p:cNvPr id="97" name="TextBox 18"/>
          <p:cNvSpPr txBox="1">
            <a:spLocks noGrp="1"/>
          </p:cNvSpPr>
          <p:nvPr>
            <p:ph type="body" sz="quarter" idx="22"/>
          </p:nvPr>
        </p:nvSpPr>
        <p:spPr>
          <a:xfrm>
            <a:off x="513173" y="3040323"/>
            <a:ext cx="3560279" cy="2123441"/>
          </a:xfrm>
          <a:prstGeom prst="rect">
            <a:avLst/>
          </a:prstGeom>
        </p:spPr>
        <p:txBody>
          <a:bodyPr>
            <a:spAutoFit/>
          </a:bodyPr>
          <a:lstStyle/>
          <a:p>
            <a:pPr marL="0" indent="0" defTabSz="12700">
              <a:lnSpc>
                <a:spcPct val="100000"/>
              </a:lnSpc>
              <a:spcBef>
                <a:spcPts val="1200"/>
              </a:spcBef>
              <a:buSzTx/>
              <a:buFontTx/>
              <a:buNone/>
              <a:defRPr sz="1300">
                <a:latin typeface="+mn-lt"/>
                <a:ea typeface="+mn-ea"/>
                <a:cs typeface="+mn-cs"/>
                <a:sym typeface="Helvetica"/>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a:t>
            </a:r>
          </a:p>
        </p:txBody>
      </p:sp>
      <p:sp>
        <p:nvSpPr>
          <p:cNvPr id="98" name="TextBox 32"/>
          <p:cNvSpPr txBox="1">
            <a:spLocks noGrp="1"/>
          </p:cNvSpPr>
          <p:nvPr>
            <p:ph type="body" sz="quarter" idx="23"/>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99" name="TextBox 27"/>
          <p:cNvSpPr txBox="1">
            <a:spLocks noGrp="1"/>
          </p:cNvSpPr>
          <p:nvPr>
            <p:ph type="body" sz="quarter" idx="24"/>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100" name="TextBox 30"/>
          <p:cNvSpPr txBox="1">
            <a:spLocks noGrp="1"/>
          </p:cNvSpPr>
          <p:nvPr>
            <p:ph type="body" sz="quarter" idx="25"/>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101" name="TextBox 31"/>
          <p:cNvSpPr txBox="1">
            <a:spLocks noGrp="1"/>
          </p:cNvSpPr>
          <p:nvPr>
            <p:ph type="body" sz="quarter" idx="26"/>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102" name="TextBox 23"/>
          <p:cNvSpPr txBox="1">
            <a:spLocks noGrp="1"/>
          </p:cNvSpPr>
          <p:nvPr>
            <p:ph type="body" sz="quarter" idx="27"/>
          </p:nvPr>
        </p:nvSpPr>
        <p:spPr>
          <a:xfrm>
            <a:off x="535695" y="5764043"/>
            <a:ext cx="3269328"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Примечания, или любая другая пояснительная или дополнительная информация набираются шрифтом размером 10 pt</a:t>
            </a: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График_2">
    <p:spTree>
      <p:nvGrpSpPr>
        <p:cNvPr id="1" name=""/>
        <p:cNvGrpSpPr/>
        <p:nvPr/>
      </p:nvGrpSpPr>
      <p:grpSpPr>
        <a:xfrm>
          <a:off x="0" y="0"/>
          <a:ext cx="0" cy="0"/>
          <a:chOff x="0" y="0"/>
          <a:chExt cx="0" cy="0"/>
        </a:xfrm>
      </p:grpSpPr>
      <p:sp>
        <p:nvSpPr>
          <p:cNvPr id="110" name="TextBox 63"/>
          <p:cNvSpPr txBox="1">
            <a:spLocks noGrp="1"/>
          </p:cNvSpPr>
          <p:nvPr>
            <p:ph type="body" sz="quarter" idx="21"/>
          </p:nvPr>
        </p:nvSpPr>
        <p:spPr>
          <a:xfrm>
            <a:off x="535695" y="1396903"/>
            <a:ext cx="10041551" cy="791210"/>
          </a:xfrm>
          <a:prstGeom prst="rect">
            <a:avLst/>
          </a:prstGeom>
        </p:spPr>
        <p:txBody>
          <a:bodyPr>
            <a:spAutoFit/>
          </a:bodyPr>
          <a:lstStyle/>
          <a:p>
            <a:pPr marL="0" indent="0" defTabSz="12700">
              <a:spcBef>
                <a:spcPts val="1200"/>
              </a:spcBef>
              <a:buSzTx/>
              <a:buFontTx/>
              <a:buNone/>
              <a:defRPr sz="2400">
                <a:solidFill>
                  <a:srgbClr val="102D69"/>
                </a:solidFill>
                <a:latin typeface="+mn-lt"/>
                <a:ea typeface="+mn-ea"/>
                <a:cs typeface="+mn-cs"/>
                <a:sym typeface="Helvetica"/>
              </a:defRPr>
            </a:pPr>
            <a:r>
              <a:t>Заголовок может быть набран</a:t>
            </a:r>
            <a:br/>
            <a:r>
              <a:t>в две или три строки (24 pt)</a:t>
            </a:r>
          </a:p>
        </p:txBody>
      </p:sp>
      <p:sp>
        <p:nvSpPr>
          <p:cNvPr id="111" name="TextBox 32"/>
          <p:cNvSpPr txBox="1">
            <a:spLocks noGrp="1"/>
          </p:cNvSpPr>
          <p:nvPr>
            <p:ph type="body" sz="quarter" idx="22"/>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112" name="TextBox 27"/>
          <p:cNvSpPr txBox="1">
            <a:spLocks noGrp="1"/>
          </p:cNvSpPr>
          <p:nvPr>
            <p:ph type="body" sz="quarter" idx="23"/>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113" name="TextBox 30"/>
          <p:cNvSpPr txBox="1">
            <a:spLocks noGrp="1"/>
          </p:cNvSpPr>
          <p:nvPr>
            <p:ph type="body" sz="quarter" idx="24"/>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114" name="TextBox 31"/>
          <p:cNvSpPr txBox="1">
            <a:spLocks noGrp="1"/>
          </p:cNvSpPr>
          <p:nvPr>
            <p:ph type="body" sz="quarter" idx="25"/>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115" name="TextBox 18"/>
          <p:cNvSpPr txBox="1">
            <a:spLocks noGrp="1"/>
          </p:cNvSpPr>
          <p:nvPr>
            <p:ph type="body" sz="quarter" idx="26"/>
          </p:nvPr>
        </p:nvSpPr>
        <p:spPr>
          <a:xfrm>
            <a:off x="535694" y="2443463"/>
            <a:ext cx="3480446" cy="2123441"/>
          </a:xfrm>
          <a:prstGeom prst="rect">
            <a:avLst/>
          </a:prstGeom>
        </p:spPr>
        <p:txBody>
          <a:bodyPr>
            <a:spAutoFit/>
          </a:bodyPr>
          <a:lstStyle/>
          <a:p>
            <a:pPr marL="0" indent="0">
              <a:lnSpc>
                <a:spcPct val="100000"/>
              </a:lnSpc>
              <a:spcBef>
                <a:spcPts val="0"/>
              </a:spcBef>
              <a:buSzTx/>
              <a:buFontTx/>
              <a:buNone/>
              <a:defRPr sz="1300">
                <a:latin typeface="+mn-lt"/>
                <a:ea typeface="+mn-ea"/>
                <a:cs typeface="+mn-cs"/>
                <a:sym typeface="Helvetica"/>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a:t>
            </a:r>
          </a:p>
        </p:txBody>
      </p:sp>
      <p:sp>
        <p:nvSpPr>
          <p:cNvPr id="116" name="TextBox 23"/>
          <p:cNvSpPr txBox="1">
            <a:spLocks noGrp="1"/>
          </p:cNvSpPr>
          <p:nvPr>
            <p:ph type="body" sz="quarter" idx="27"/>
          </p:nvPr>
        </p:nvSpPr>
        <p:spPr>
          <a:xfrm>
            <a:off x="535695" y="5764043"/>
            <a:ext cx="3269328"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Примечания, или любая другая пояснительная или дополнительная информация набираются шрифтом размером 10 pt</a:t>
            </a: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График_3">
    <p:spTree>
      <p:nvGrpSpPr>
        <p:cNvPr id="1" name=""/>
        <p:cNvGrpSpPr/>
        <p:nvPr/>
      </p:nvGrpSpPr>
      <p:grpSpPr>
        <a:xfrm>
          <a:off x="0" y="0"/>
          <a:ext cx="0" cy="0"/>
          <a:chOff x="0" y="0"/>
          <a:chExt cx="0" cy="0"/>
        </a:xfrm>
      </p:grpSpPr>
      <p:sp>
        <p:nvSpPr>
          <p:cNvPr id="124" name="TextBox 63"/>
          <p:cNvSpPr txBox="1">
            <a:spLocks noGrp="1"/>
          </p:cNvSpPr>
          <p:nvPr>
            <p:ph type="body" sz="quarter" idx="21"/>
          </p:nvPr>
        </p:nvSpPr>
        <p:spPr>
          <a:xfrm>
            <a:off x="535695" y="1396903"/>
            <a:ext cx="2771719" cy="791210"/>
          </a:xfrm>
          <a:prstGeom prst="rect">
            <a:avLst/>
          </a:prstGeom>
        </p:spPr>
        <p:txBody>
          <a:bodyPr>
            <a:spAutoFit/>
          </a:bodyPr>
          <a:lstStyle/>
          <a:p>
            <a:pPr marL="0" indent="0" defTabSz="12700">
              <a:spcBef>
                <a:spcPts val="1200"/>
              </a:spcBef>
              <a:buSzTx/>
              <a:buFontTx/>
              <a:buNone/>
              <a:defRPr sz="2400">
                <a:solidFill>
                  <a:srgbClr val="102D69"/>
                </a:solidFill>
                <a:latin typeface="+mn-lt"/>
                <a:ea typeface="+mn-ea"/>
                <a:cs typeface="+mn-cs"/>
                <a:sym typeface="Helvetica"/>
              </a:defRPr>
            </a:pPr>
            <a:r>
              <a:t>Очередной </a:t>
            </a:r>
            <a:br/>
            <a:r>
              <a:t>заголовок (24 pt)</a:t>
            </a:r>
          </a:p>
        </p:txBody>
      </p:sp>
      <p:sp>
        <p:nvSpPr>
          <p:cNvPr id="125" name="TextBox 16"/>
          <p:cNvSpPr txBox="1">
            <a:spLocks noGrp="1"/>
          </p:cNvSpPr>
          <p:nvPr>
            <p:ph type="body" sz="quarter" idx="22"/>
          </p:nvPr>
        </p:nvSpPr>
        <p:spPr>
          <a:xfrm>
            <a:off x="562919" y="2367263"/>
            <a:ext cx="2717271" cy="1920241"/>
          </a:xfrm>
          <a:prstGeom prst="rect">
            <a:avLst/>
          </a:prstGeom>
        </p:spPr>
        <p:txBody>
          <a:bodyPr>
            <a:spAutoFit/>
          </a:bodyPr>
          <a:lstStyle>
            <a:lvl1pPr marL="0" indent="0" defTabSz="12700">
              <a:lnSpc>
                <a:spcPct val="100000"/>
              </a:lnSpc>
              <a:spcBef>
                <a:spcPts val="1200"/>
              </a:spcBef>
              <a:buSzTx/>
              <a:buFontTx/>
              <a:buNone/>
              <a:defRPr sz="1300">
                <a:latin typeface="+mn-lt"/>
                <a:ea typeface="+mn-ea"/>
                <a:cs typeface="+mn-cs"/>
                <a:sym typeface="Helvetica"/>
              </a:defRPr>
            </a:lvl1pPr>
          </a:lstStyle>
          <a:p>
            <a:r>
              <a:t>Для оформления графиков, таблиц, диаграмм могут потребоваться дополнительные цвета и вы совершенно правы, задавая вопрос, какие цвета использовать и где их взять. Мы предлагаем использовать палитру цветов Вышки для этих целей.</a:t>
            </a:r>
          </a:p>
        </p:txBody>
      </p:sp>
      <p:sp>
        <p:nvSpPr>
          <p:cNvPr id="126" name="TextBox 32"/>
          <p:cNvSpPr txBox="1">
            <a:spLocks noGrp="1"/>
          </p:cNvSpPr>
          <p:nvPr>
            <p:ph type="body" sz="quarter" idx="23"/>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127" name="TextBox 27"/>
          <p:cNvSpPr txBox="1">
            <a:spLocks noGrp="1"/>
          </p:cNvSpPr>
          <p:nvPr>
            <p:ph type="body" sz="quarter" idx="24"/>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128" name="TextBox 30"/>
          <p:cNvSpPr txBox="1">
            <a:spLocks noGrp="1"/>
          </p:cNvSpPr>
          <p:nvPr>
            <p:ph type="body" sz="quarter" idx="25"/>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129" name="TextBox 31"/>
          <p:cNvSpPr txBox="1">
            <a:spLocks noGrp="1"/>
          </p:cNvSpPr>
          <p:nvPr>
            <p:ph type="body" sz="quarter" idx="26"/>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130" name="TextBox 23"/>
          <p:cNvSpPr txBox="1">
            <a:spLocks noGrp="1"/>
          </p:cNvSpPr>
          <p:nvPr>
            <p:ph type="body" sz="quarter" idx="27"/>
          </p:nvPr>
        </p:nvSpPr>
        <p:spPr>
          <a:xfrm>
            <a:off x="535695" y="5764043"/>
            <a:ext cx="3269328"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Примечания, или любая другая пояснительная или дополнительная информация набираются шрифтом размером 10 pt</a:t>
            </a:r>
          </a:p>
        </p:txBody>
      </p:sp>
      <p:sp>
        <p:nvSpPr>
          <p:cNvPr id="1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Цифры">
    <p:spTree>
      <p:nvGrpSpPr>
        <p:cNvPr id="1" name=""/>
        <p:cNvGrpSpPr/>
        <p:nvPr/>
      </p:nvGrpSpPr>
      <p:grpSpPr>
        <a:xfrm>
          <a:off x="0" y="0"/>
          <a:ext cx="0" cy="0"/>
          <a:chOff x="0" y="0"/>
          <a:chExt cx="0" cy="0"/>
        </a:xfrm>
      </p:grpSpPr>
      <p:sp>
        <p:nvSpPr>
          <p:cNvPr id="138" name="Название презентации может быть набрано в две  или три строки"/>
          <p:cNvSpPr txBox="1"/>
          <p:nvPr/>
        </p:nvSpPr>
        <p:spPr>
          <a:xfrm>
            <a:off x="1014505" y="2284019"/>
            <a:ext cx="10162990" cy="19814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pPr defTabSz="914400">
              <a:lnSpc>
                <a:spcPct val="80000"/>
              </a:lnSpc>
              <a:spcBef>
                <a:spcPts val="0"/>
              </a:spcBef>
              <a:defRPr sz="4300">
                <a:solidFill>
                  <a:srgbClr val="172C65"/>
                </a:solidFill>
              </a:defRPr>
            </a:pPr>
            <a:r>
              <a:t>Название презентации</a:t>
            </a:r>
            <a:br/>
            <a:r>
              <a:t>может быть набрано в две </a:t>
            </a:r>
            <a:br/>
            <a:r>
              <a:t>или три строки</a:t>
            </a:r>
          </a:p>
        </p:txBody>
      </p:sp>
      <p:sp>
        <p:nvSpPr>
          <p:cNvPr id="139" name="Если нужно больше места, то используйте подзаголовок"/>
          <p:cNvSpPr txBox="1"/>
          <p:nvPr/>
        </p:nvSpPr>
        <p:spPr>
          <a:xfrm>
            <a:off x="1014505" y="4897087"/>
            <a:ext cx="10162990" cy="886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lvl1pPr>
              <a:lnSpc>
                <a:spcPct val="80000"/>
              </a:lnSpc>
              <a:spcBef>
                <a:spcPts val="0"/>
              </a:spcBef>
              <a:defRPr sz="1400">
                <a:solidFill>
                  <a:srgbClr val="000000"/>
                </a:solidFill>
              </a:defRPr>
            </a:lvl1pPr>
          </a:lstStyle>
          <a:p>
            <a:pPr defTabSz="914400"/>
            <a:r>
              <a:t>Если нужно больше места, то используйте подзаголовок</a:t>
            </a:r>
          </a:p>
        </p:txBody>
      </p:sp>
      <p:pic>
        <p:nvPicPr>
          <p:cNvPr id="140" name="Picture 9" descr="Picture 9"/>
          <p:cNvPicPr>
            <a:picLocks noChangeAspect="1"/>
          </p:cNvPicPr>
          <p:nvPr/>
        </p:nvPicPr>
        <p:blipFill>
          <a:blip r:embed="rId2"/>
          <a:stretch>
            <a:fillRect/>
          </a:stretch>
        </p:blipFill>
        <p:spPr>
          <a:xfrm>
            <a:off x="0" y="0"/>
            <a:ext cx="12192000" cy="6858000"/>
          </a:xfrm>
          <a:prstGeom prst="rect">
            <a:avLst/>
          </a:prstGeom>
          <a:ln w="12700">
            <a:miter lim="400000"/>
          </a:ln>
        </p:spPr>
      </p:pic>
      <p:sp>
        <p:nvSpPr>
          <p:cNvPr id="141" name="Rectangle 24"/>
          <p:cNvSpPr/>
          <p:nvPr/>
        </p:nvSpPr>
        <p:spPr>
          <a:xfrm>
            <a:off x="132681" y="134898"/>
            <a:ext cx="11926638" cy="6602381"/>
          </a:xfrm>
          <a:prstGeom prst="rect">
            <a:avLst/>
          </a:prstGeom>
          <a:solidFill>
            <a:srgbClr val="FFFFFF"/>
          </a:solidFill>
          <a:ln w="3175">
            <a:solidFill>
              <a:srgbClr val="32538F"/>
            </a:solidFill>
            <a:miter/>
          </a:ln>
        </p:spPr>
        <p:txBody>
          <a:bodyPr lIns="45719" rIns="45719" anchor="ctr"/>
          <a:lstStyle/>
          <a:p>
            <a:pPr algn="ctr" defTabSz="914400">
              <a:spcBef>
                <a:spcPts val="0"/>
              </a:spcBef>
              <a:defRPr sz="1800">
                <a:solidFill>
                  <a:srgbClr val="FFFFFF"/>
                </a:solidFill>
                <a:latin typeface="+mj-lt"/>
                <a:ea typeface="+mj-ea"/>
                <a:cs typeface="+mj-cs"/>
                <a:sym typeface="Calibri"/>
              </a:defRPr>
            </a:pPr>
            <a:endParaRPr/>
          </a:p>
        </p:txBody>
      </p:sp>
      <p:sp>
        <p:nvSpPr>
          <p:cNvPr id="142" name="TextBox 16"/>
          <p:cNvSpPr txBox="1">
            <a:spLocks noGrp="1"/>
          </p:cNvSpPr>
          <p:nvPr>
            <p:ph type="body" sz="quarter" idx="21"/>
          </p:nvPr>
        </p:nvSpPr>
        <p:spPr>
          <a:xfrm>
            <a:off x="535695" y="2468546"/>
            <a:ext cx="2823148" cy="1551941"/>
          </a:xfrm>
          <a:prstGeom prst="rect">
            <a:avLst/>
          </a:prstGeom>
        </p:spPr>
        <p:txBody>
          <a:bodyPr>
            <a:spAutoFit/>
          </a:bodyPr>
          <a:lstStyle/>
          <a:p>
            <a:pPr marL="0" indent="0" defTabSz="12700">
              <a:lnSpc>
                <a:spcPct val="100000"/>
              </a:lnSpc>
              <a:spcBef>
                <a:spcPts val="1200"/>
              </a:spcBef>
              <a:buSzTx/>
              <a:buFontTx/>
              <a:buNone/>
              <a:defRPr sz="9600">
                <a:solidFill>
                  <a:srgbClr val="102D69"/>
                </a:solidFill>
                <a:latin typeface="+mn-lt"/>
                <a:ea typeface="+mn-ea"/>
                <a:cs typeface="+mn-cs"/>
                <a:sym typeface="Helvetica"/>
              </a:defRPr>
            </a:pPr>
            <a:r>
              <a:t>152</a:t>
            </a:r>
            <a:r>
              <a:rPr sz="1600"/>
              <a:t> МЛН</a:t>
            </a:r>
          </a:p>
        </p:txBody>
      </p:sp>
      <p:sp>
        <p:nvSpPr>
          <p:cNvPr id="143" name="TextBox 22"/>
          <p:cNvSpPr txBox="1">
            <a:spLocks noGrp="1"/>
          </p:cNvSpPr>
          <p:nvPr>
            <p:ph type="body" sz="quarter" idx="22"/>
          </p:nvPr>
        </p:nvSpPr>
        <p:spPr>
          <a:xfrm>
            <a:off x="4067790" y="2468546"/>
            <a:ext cx="3156867" cy="1551941"/>
          </a:xfrm>
          <a:prstGeom prst="rect">
            <a:avLst/>
          </a:prstGeom>
        </p:spPr>
        <p:txBody>
          <a:bodyPr>
            <a:spAutoFit/>
          </a:bodyPr>
          <a:lstStyle/>
          <a:p>
            <a:pPr marL="0" indent="0" defTabSz="12700">
              <a:lnSpc>
                <a:spcPct val="100000"/>
              </a:lnSpc>
              <a:spcBef>
                <a:spcPts val="1200"/>
              </a:spcBef>
              <a:buSzTx/>
              <a:buFontTx/>
              <a:buNone/>
              <a:defRPr sz="9600">
                <a:solidFill>
                  <a:srgbClr val="102D69"/>
                </a:solidFill>
                <a:latin typeface="+mn-lt"/>
                <a:ea typeface="+mn-ea"/>
                <a:cs typeface="+mn-cs"/>
                <a:sym typeface="Helvetica"/>
              </a:defRPr>
            </a:pPr>
            <a:r>
              <a:t>93,2</a:t>
            </a:r>
            <a:r>
              <a:rPr sz="1600"/>
              <a:t> МЛН</a:t>
            </a:r>
          </a:p>
        </p:txBody>
      </p:sp>
      <p:sp>
        <p:nvSpPr>
          <p:cNvPr id="144" name="TextBox 26"/>
          <p:cNvSpPr txBox="1">
            <a:spLocks noGrp="1"/>
          </p:cNvSpPr>
          <p:nvPr>
            <p:ph type="body" sz="quarter" idx="23"/>
          </p:nvPr>
        </p:nvSpPr>
        <p:spPr>
          <a:xfrm>
            <a:off x="7555060" y="2468546"/>
            <a:ext cx="2823147" cy="1551941"/>
          </a:xfrm>
          <a:prstGeom prst="rect">
            <a:avLst/>
          </a:prstGeom>
        </p:spPr>
        <p:txBody>
          <a:bodyPr>
            <a:spAutoFit/>
          </a:bodyPr>
          <a:lstStyle/>
          <a:p>
            <a:pPr marL="0" indent="0" defTabSz="12700">
              <a:lnSpc>
                <a:spcPct val="100000"/>
              </a:lnSpc>
              <a:spcBef>
                <a:spcPts val="1200"/>
              </a:spcBef>
              <a:buSzTx/>
              <a:buFontTx/>
              <a:buNone/>
              <a:defRPr sz="9600">
                <a:solidFill>
                  <a:srgbClr val="102D69"/>
                </a:solidFill>
                <a:latin typeface="+mn-lt"/>
                <a:ea typeface="+mn-ea"/>
                <a:cs typeface="+mn-cs"/>
                <a:sym typeface="Helvetica"/>
              </a:defRPr>
            </a:pPr>
            <a:r>
              <a:t>1,3</a:t>
            </a:r>
            <a:r>
              <a:rPr sz="1600"/>
              <a:t> МЛН</a:t>
            </a:r>
          </a:p>
        </p:txBody>
      </p:sp>
      <p:pic>
        <p:nvPicPr>
          <p:cNvPr id="145" name="Picture 4" descr="Picture 4"/>
          <p:cNvPicPr>
            <a:picLocks noChangeAspect="1"/>
          </p:cNvPicPr>
          <p:nvPr/>
        </p:nvPicPr>
        <p:blipFill>
          <a:blip r:embed="rId3"/>
          <a:stretch>
            <a:fillRect/>
          </a:stretch>
        </p:blipFill>
        <p:spPr>
          <a:xfrm>
            <a:off x="517199" y="464362"/>
            <a:ext cx="448276" cy="448277"/>
          </a:xfrm>
          <a:prstGeom prst="rect">
            <a:avLst/>
          </a:prstGeom>
          <a:ln w="12700">
            <a:miter lim="400000"/>
          </a:ln>
        </p:spPr>
      </p:pic>
      <p:sp>
        <p:nvSpPr>
          <p:cNvPr id="146" name="Straight Connector 19"/>
          <p:cNvSpPr/>
          <p:nvPr/>
        </p:nvSpPr>
        <p:spPr>
          <a:xfrm>
            <a:off x="3298685"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147" name="Straight Connector 21"/>
          <p:cNvSpPr/>
          <p:nvPr/>
        </p:nvSpPr>
        <p:spPr>
          <a:xfrm>
            <a:off x="6099415"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148" name="Straight Connector 59"/>
          <p:cNvSpPr/>
          <p:nvPr/>
        </p:nvSpPr>
        <p:spPr>
          <a:xfrm>
            <a:off x="11643868"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149" name="TextBox 63"/>
          <p:cNvSpPr txBox="1">
            <a:spLocks noGrp="1"/>
          </p:cNvSpPr>
          <p:nvPr>
            <p:ph type="body" sz="quarter" idx="24"/>
          </p:nvPr>
        </p:nvSpPr>
        <p:spPr>
          <a:xfrm>
            <a:off x="535695" y="1396903"/>
            <a:ext cx="10041551" cy="791210"/>
          </a:xfrm>
          <a:prstGeom prst="rect">
            <a:avLst/>
          </a:prstGeom>
        </p:spPr>
        <p:txBody>
          <a:bodyPr>
            <a:spAutoFit/>
          </a:bodyPr>
          <a:lstStyle/>
          <a:p>
            <a:pPr marL="0" indent="0" defTabSz="12700">
              <a:spcBef>
                <a:spcPts val="1200"/>
              </a:spcBef>
              <a:buSzTx/>
              <a:buFontTx/>
              <a:buNone/>
              <a:defRPr sz="2400">
                <a:solidFill>
                  <a:srgbClr val="102D69"/>
                </a:solidFill>
                <a:latin typeface="+mn-lt"/>
                <a:ea typeface="+mn-ea"/>
                <a:cs typeface="+mn-cs"/>
                <a:sym typeface="Helvetica"/>
              </a:defRPr>
            </a:pPr>
            <a:r>
              <a:t>Заголовок может быть набран</a:t>
            </a:r>
            <a:br/>
            <a:r>
              <a:t>в две или три строки (24 pt)</a:t>
            </a:r>
          </a:p>
        </p:txBody>
      </p:sp>
      <p:sp>
        <p:nvSpPr>
          <p:cNvPr id="150" name="TextBox 32"/>
          <p:cNvSpPr txBox="1">
            <a:spLocks noGrp="1"/>
          </p:cNvSpPr>
          <p:nvPr>
            <p:ph type="body" sz="quarter" idx="25"/>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151" name="Straight Connector 59"/>
          <p:cNvSpPr/>
          <p:nvPr/>
        </p:nvSpPr>
        <p:spPr>
          <a:xfrm>
            <a:off x="11643868"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152" name="Straight Connector 25"/>
          <p:cNvSpPr/>
          <p:nvPr/>
        </p:nvSpPr>
        <p:spPr>
          <a:xfrm>
            <a:off x="10277081"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153" name="TextBox 27"/>
          <p:cNvSpPr txBox="1">
            <a:spLocks noGrp="1"/>
          </p:cNvSpPr>
          <p:nvPr>
            <p:ph type="body" sz="quarter" idx="26"/>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154" name="TextBox 30"/>
          <p:cNvSpPr txBox="1">
            <a:spLocks noGrp="1"/>
          </p:cNvSpPr>
          <p:nvPr>
            <p:ph type="body" sz="quarter" idx="27"/>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155" name="TextBox 31"/>
          <p:cNvSpPr txBox="1">
            <a:spLocks noGrp="1"/>
          </p:cNvSpPr>
          <p:nvPr>
            <p:ph type="body" sz="quarter" idx="28"/>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156" name="TextBox 18"/>
          <p:cNvSpPr txBox="1">
            <a:spLocks noGrp="1"/>
          </p:cNvSpPr>
          <p:nvPr>
            <p:ph type="body" sz="quarter" idx="29"/>
          </p:nvPr>
        </p:nvSpPr>
        <p:spPr>
          <a:xfrm>
            <a:off x="535696" y="4175888"/>
            <a:ext cx="2717271" cy="1513841"/>
          </a:xfrm>
          <a:prstGeom prst="rect">
            <a:avLst/>
          </a:prstGeom>
        </p:spPr>
        <p:txBody>
          <a:bodyPr>
            <a:spAutoFit/>
          </a:bodyPr>
          <a:lstStyle/>
          <a:p>
            <a:pPr marL="0" indent="0" defTabSz="12700">
              <a:lnSpc>
                <a:spcPct val="100000"/>
              </a:lnSpc>
              <a:spcBef>
                <a:spcPts val="1200"/>
              </a:spcBef>
              <a:buSzTx/>
              <a:buFontTx/>
              <a:buNone/>
              <a:defRPr sz="1300">
                <a:latin typeface="+mn-lt"/>
                <a:ea typeface="+mn-ea"/>
                <a:cs typeface="+mn-cs"/>
                <a:sym typeface="Helvetica"/>
              </a:defRPr>
            </a:pPr>
            <a:r>
              <a:t>Если у вас мало данных, то не переживайте. Сделайте несколько крупных цифр и аккуратные подписи к ним, это позволит подать информацию красиво </a:t>
            </a:r>
            <a:br/>
            <a:r>
              <a:t>и аккуратно. (13 pt)</a:t>
            </a:r>
          </a:p>
        </p:txBody>
      </p:sp>
      <p:sp>
        <p:nvSpPr>
          <p:cNvPr id="157" name="TextBox 20"/>
          <p:cNvSpPr txBox="1">
            <a:spLocks noGrp="1"/>
          </p:cNvSpPr>
          <p:nvPr>
            <p:ph type="body" sz="quarter" idx="30"/>
          </p:nvPr>
        </p:nvSpPr>
        <p:spPr>
          <a:xfrm>
            <a:off x="4067790" y="4175888"/>
            <a:ext cx="2717271" cy="1513841"/>
          </a:xfrm>
          <a:prstGeom prst="rect">
            <a:avLst/>
          </a:prstGeom>
        </p:spPr>
        <p:txBody>
          <a:bodyPr>
            <a:spAutoFit/>
          </a:bodyPr>
          <a:lstStyle/>
          <a:p>
            <a:pPr marL="0" indent="0" defTabSz="12700">
              <a:lnSpc>
                <a:spcPct val="100000"/>
              </a:lnSpc>
              <a:spcBef>
                <a:spcPts val="1200"/>
              </a:spcBef>
              <a:buSzTx/>
              <a:buFontTx/>
              <a:buNone/>
              <a:defRPr sz="1300">
                <a:latin typeface="+mn-lt"/>
                <a:ea typeface="+mn-ea"/>
                <a:cs typeface="+mn-cs"/>
                <a:sym typeface="Helvetica"/>
              </a:defRPr>
            </a:pPr>
            <a:r>
              <a:t>Если у вас мало данных, то не переживайте. Сделайте несколько крупных цифр и аккуратные подписи к ним, это позволит подать информацию красиво </a:t>
            </a:r>
            <a:br/>
            <a:r>
              <a:t>и аккуратно. (13 pt)</a:t>
            </a:r>
          </a:p>
        </p:txBody>
      </p:sp>
      <p:sp>
        <p:nvSpPr>
          <p:cNvPr id="158" name="TextBox 23"/>
          <p:cNvSpPr txBox="1">
            <a:spLocks noGrp="1"/>
          </p:cNvSpPr>
          <p:nvPr>
            <p:ph type="body" sz="quarter" idx="31"/>
          </p:nvPr>
        </p:nvSpPr>
        <p:spPr>
          <a:xfrm>
            <a:off x="7555060" y="4175888"/>
            <a:ext cx="2717271" cy="1513841"/>
          </a:xfrm>
          <a:prstGeom prst="rect">
            <a:avLst/>
          </a:prstGeom>
        </p:spPr>
        <p:txBody>
          <a:bodyPr>
            <a:spAutoFit/>
          </a:bodyPr>
          <a:lstStyle/>
          <a:p>
            <a:pPr marL="0" indent="0" defTabSz="12700">
              <a:lnSpc>
                <a:spcPct val="100000"/>
              </a:lnSpc>
              <a:spcBef>
                <a:spcPts val="1200"/>
              </a:spcBef>
              <a:buSzTx/>
              <a:buFontTx/>
              <a:buNone/>
              <a:defRPr sz="1300">
                <a:latin typeface="+mn-lt"/>
                <a:ea typeface="+mn-ea"/>
                <a:cs typeface="+mn-cs"/>
                <a:sym typeface="Helvetica"/>
              </a:defRPr>
            </a:pPr>
            <a:r>
              <a:t>Если у вас мало данных, то не переживайте. Сделайте несколько крупных цифр и аккуратные подписи к ним, это позволит подать информацию красиво </a:t>
            </a:r>
            <a:br/>
            <a:r>
              <a:t>и аккуратно. (13 pt)</a:t>
            </a:r>
          </a:p>
        </p:txBody>
      </p:sp>
      <p:sp>
        <p:nvSpPr>
          <p:cNvPr id="15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Таблица_1">
    <p:spTree>
      <p:nvGrpSpPr>
        <p:cNvPr id="1" name=""/>
        <p:cNvGrpSpPr/>
        <p:nvPr/>
      </p:nvGrpSpPr>
      <p:grpSpPr>
        <a:xfrm>
          <a:off x="0" y="0"/>
          <a:ext cx="0" cy="0"/>
          <a:chOff x="0" y="0"/>
          <a:chExt cx="0" cy="0"/>
        </a:xfrm>
      </p:grpSpPr>
      <p:sp>
        <p:nvSpPr>
          <p:cNvPr id="166" name="TextBox 28"/>
          <p:cNvSpPr txBox="1">
            <a:spLocks noGrp="1"/>
          </p:cNvSpPr>
          <p:nvPr>
            <p:ph type="body" sz="quarter" idx="21"/>
          </p:nvPr>
        </p:nvSpPr>
        <p:spPr>
          <a:xfrm>
            <a:off x="535695" y="1396903"/>
            <a:ext cx="7763686" cy="574041"/>
          </a:xfrm>
          <a:prstGeom prst="rect">
            <a:avLst/>
          </a:prstGeom>
        </p:spPr>
        <p:txBody>
          <a:bodyPr>
            <a:spAutoFit/>
          </a:bodyPr>
          <a:lstStyle/>
          <a:p>
            <a:pPr marL="0" indent="0" defTabSz="12700">
              <a:lnSpc>
                <a:spcPct val="100000"/>
              </a:lnSpc>
              <a:spcBef>
                <a:spcPts val="0"/>
              </a:spcBef>
              <a:buSzTx/>
              <a:buFontTx/>
              <a:buNone/>
              <a:defRPr sz="1600">
                <a:solidFill>
                  <a:srgbClr val="102D69"/>
                </a:solidFill>
                <a:latin typeface="+mn-lt"/>
                <a:ea typeface="+mn-ea"/>
                <a:cs typeface="+mn-cs"/>
                <a:sym typeface="Helvetica"/>
              </a:defRPr>
            </a:pPr>
            <a:r>
              <a:t>Название таблицы. Обратите внимание, что название графика </a:t>
            </a:r>
          </a:p>
          <a:p>
            <a:pPr marL="0" indent="0" defTabSz="12700">
              <a:lnSpc>
                <a:spcPct val="100000"/>
              </a:lnSpc>
              <a:spcBef>
                <a:spcPts val="0"/>
              </a:spcBef>
              <a:buSzTx/>
              <a:buFontTx/>
              <a:buNone/>
              <a:defRPr sz="1600">
                <a:solidFill>
                  <a:srgbClr val="102D69"/>
                </a:solidFill>
                <a:latin typeface="+mn-lt"/>
                <a:ea typeface="+mn-ea"/>
                <a:cs typeface="+mn-cs"/>
                <a:sym typeface="Helvetica"/>
              </a:defRPr>
            </a:pPr>
            <a:r>
              <a:t>набирается меньшим кеглем, чем заголовок (16pt)</a:t>
            </a:r>
          </a:p>
        </p:txBody>
      </p:sp>
      <p:sp>
        <p:nvSpPr>
          <p:cNvPr id="167" name="TextBox 29"/>
          <p:cNvSpPr txBox="1">
            <a:spLocks noGrp="1"/>
          </p:cNvSpPr>
          <p:nvPr>
            <p:ph type="body" sz="quarter" idx="22"/>
          </p:nvPr>
        </p:nvSpPr>
        <p:spPr>
          <a:xfrm>
            <a:off x="535694" y="5581215"/>
            <a:ext cx="7763687" cy="701041"/>
          </a:xfrm>
          <a:prstGeom prst="rect">
            <a:avLst/>
          </a:prstGeom>
        </p:spPr>
        <p:txBody>
          <a:bodyPr>
            <a:spAutoFit/>
          </a:bodyPr>
          <a:lstStyle>
            <a:lvl1pPr marL="0" indent="0" defTabSz="12700">
              <a:lnSpc>
                <a:spcPct val="100000"/>
              </a:lnSpc>
              <a:spcBef>
                <a:spcPts val="600"/>
              </a:spcBef>
              <a:buSzTx/>
              <a:buFontTx/>
              <a:buNone/>
              <a:defRPr sz="1300">
                <a:latin typeface="+mn-lt"/>
                <a:ea typeface="+mn-ea"/>
                <a:cs typeface="+mn-cs"/>
                <a:sym typeface="Helvetica"/>
              </a:defRPr>
            </a:lvl1pPr>
          </a:lstStyle>
          <a:p>
            <a:r>
              <a:t>Мы рекомендуем очень аккуратно использовать жирное начертание, старайтесь выделять жирным самое важное. Также старайтесь не использовать выделение жирным начертанием вместе с заливкой ячеек каким-либо цветом, достаточно и одного акцента.</a:t>
            </a:r>
          </a:p>
        </p:txBody>
      </p:sp>
      <p:sp>
        <p:nvSpPr>
          <p:cNvPr id="168" name="TextBox 32"/>
          <p:cNvSpPr txBox="1">
            <a:spLocks noGrp="1"/>
          </p:cNvSpPr>
          <p:nvPr>
            <p:ph type="body" sz="quarter" idx="23"/>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169" name="TextBox 27"/>
          <p:cNvSpPr txBox="1">
            <a:spLocks noGrp="1"/>
          </p:cNvSpPr>
          <p:nvPr>
            <p:ph type="body" sz="quarter" idx="24"/>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170" name="TextBox 30"/>
          <p:cNvSpPr txBox="1">
            <a:spLocks noGrp="1"/>
          </p:cNvSpPr>
          <p:nvPr>
            <p:ph type="body" sz="quarter" idx="25"/>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171" name="TextBox 31"/>
          <p:cNvSpPr txBox="1">
            <a:spLocks noGrp="1"/>
          </p:cNvSpPr>
          <p:nvPr>
            <p:ph type="body" sz="quarter" idx="26"/>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17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Таблица_2">
    <p:spTree>
      <p:nvGrpSpPr>
        <p:cNvPr id="1" name=""/>
        <p:cNvGrpSpPr/>
        <p:nvPr/>
      </p:nvGrpSpPr>
      <p:grpSpPr>
        <a:xfrm>
          <a:off x="0" y="0"/>
          <a:ext cx="0" cy="0"/>
          <a:chOff x="0" y="0"/>
          <a:chExt cx="0" cy="0"/>
        </a:xfrm>
      </p:grpSpPr>
      <p:sp>
        <p:nvSpPr>
          <p:cNvPr id="179" name="TextBox 28"/>
          <p:cNvSpPr txBox="1">
            <a:spLocks noGrp="1"/>
          </p:cNvSpPr>
          <p:nvPr>
            <p:ph type="body" sz="quarter" idx="21"/>
          </p:nvPr>
        </p:nvSpPr>
        <p:spPr>
          <a:xfrm>
            <a:off x="535695" y="1396903"/>
            <a:ext cx="7763686" cy="574041"/>
          </a:xfrm>
          <a:prstGeom prst="rect">
            <a:avLst/>
          </a:prstGeom>
        </p:spPr>
        <p:txBody>
          <a:bodyPr>
            <a:spAutoFit/>
          </a:bodyPr>
          <a:lstStyle/>
          <a:p>
            <a:pPr marL="0" indent="0" defTabSz="12700">
              <a:lnSpc>
                <a:spcPct val="100000"/>
              </a:lnSpc>
              <a:spcBef>
                <a:spcPts val="0"/>
              </a:spcBef>
              <a:buSzTx/>
              <a:buFontTx/>
              <a:buNone/>
              <a:defRPr sz="1600">
                <a:solidFill>
                  <a:srgbClr val="102D69"/>
                </a:solidFill>
                <a:latin typeface="+mn-lt"/>
                <a:ea typeface="+mn-ea"/>
                <a:cs typeface="+mn-cs"/>
                <a:sym typeface="Helvetica"/>
              </a:defRPr>
            </a:pPr>
            <a:r>
              <a:t>Название таблицы. Обратите внимание, что название графика </a:t>
            </a:r>
          </a:p>
          <a:p>
            <a:pPr marL="0" indent="0" defTabSz="12700">
              <a:lnSpc>
                <a:spcPct val="100000"/>
              </a:lnSpc>
              <a:spcBef>
                <a:spcPts val="0"/>
              </a:spcBef>
              <a:buSzTx/>
              <a:buFontTx/>
              <a:buNone/>
              <a:defRPr sz="1600">
                <a:solidFill>
                  <a:srgbClr val="102D69"/>
                </a:solidFill>
                <a:latin typeface="+mn-lt"/>
                <a:ea typeface="+mn-ea"/>
                <a:cs typeface="+mn-cs"/>
                <a:sym typeface="Helvetica"/>
              </a:defRPr>
            </a:pPr>
            <a:r>
              <a:t>набирается меньшим кеглем, чем заголовок (16pt)</a:t>
            </a:r>
          </a:p>
        </p:txBody>
      </p:sp>
      <p:sp>
        <p:nvSpPr>
          <p:cNvPr id="180" name="TextBox 14"/>
          <p:cNvSpPr txBox="1">
            <a:spLocks noGrp="1"/>
          </p:cNvSpPr>
          <p:nvPr>
            <p:ph type="body" sz="quarter" idx="22"/>
          </p:nvPr>
        </p:nvSpPr>
        <p:spPr>
          <a:xfrm>
            <a:off x="8694382" y="2188739"/>
            <a:ext cx="2717271" cy="2936241"/>
          </a:xfrm>
          <a:prstGeom prst="rect">
            <a:avLst/>
          </a:prstGeom>
        </p:spPr>
        <p:txBody>
          <a:bodyPr>
            <a:spAutoFit/>
          </a:bodyPr>
          <a:lstStyle/>
          <a:p>
            <a:pPr marL="0" indent="0" defTabSz="12700">
              <a:lnSpc>
                <a:spcPct val="100000"/>
              </a:lnSpc>
              <a:spcBef>
                <a:spcPts val="1200"/>
              </a:spcBef>
              <a:buSzTx/>
              <a:buFontTx/>
              <a:buNone/>
              <a:defRPr sz="1300">
                <a:solidFill>
                  <a:srgbClr val="102D69"/>
                </a:solidFill>
                <a:latin typeface="+mn-lt"/>
                <a:ea typeface="+mn-ea"/>
                <a:cs typeface="+mn-cs"/>
                <a:sym typeface="Helvetica"/>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a:t>
            </a:r>
          </a:p>
        </p:txBody>
      </p:sp>
      <p:sp>
        <p:nvSpPr>
          <p:cNvPr id="181" name="TextBox 32"/>
          <p:cNvSpPr txBox="1">
            <a:spLocks noGrp="1"/>
          </p:cNvSpPr>
          <p:nvPr>
            <p:ph type="body" sz="quarter" idx="23"/>
          </p:nvPr>
        </p:nvSpPr>
        <p:spPr>
          <a:xfrm>
            <a:off x="10337842" y="497314"/>
            <a:ext cx="273557" cy="396241"/>
          </a:xfrm>
          <a:prstGeom prst="rect">
            <a:avLst/>
          </a:prstGeom>
        </p:spPr>
        <p:txBody>
          <a:bodyPr wrap="none">
            <a:spAutoFit/>
          </a:bodyPr>
          <a:lstStyle>
            <a:lvl1pPr marL="0" indent="0">
              <a:lnSpc>
                <a:spcPct val="100000"/>
              </a:lnSpc>
              <a:spcBef>
                <a:spcPts val="0"/>
              </a:spcBef>
              <a:buSzTx/>
              <a:buFontTx/>
              <a:buNone/>
              <a:defRPr sz="2000">
                <a:solidFill>
                  <a:srgbClr val="102D69"/>
                </a:solidFill>
                <a:latin typeface="+mn-lt"/>
                <a:ea typeface="+mn-ea"/>
                <a:cs typeface="+mn-cs"/>
                <a:sym typeface="Helvetica"/>
              </a:defRPr>
            </a:lvl1pPr>
          </a:lstStyle>
          <a:p>
            <a:fld id="{86CB4B4D-7CA3-9044-876B-883B54F8677D}" type="slidenum">
              <a:t>​</a:t>
            </a:fld>
            <a:endParaRPr/>
          </a:p>
        </p:txBody>
      </p:sp>
      <p:sp>
        <p:nvSpPr>
          <p:cNvPr id="182" name="TextBox 27"/>
          <p:cNvSpPr txBox="1">
            <a:spLocks noGrp="1"/>
          </p:cNvSpPr>
          <p:nvPr>
            <p:ph type="body" sz="quarter" idx="24"/>
          </p:nvPr>
        </p:nvSpPr>
        <p:spPr>
          <a:xfrm>
            <a:off x="1103535" y="497314"/>
            <a:ext cx="2255307" cy="3962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подразделения</a:t>
            </a:r>
            <a:br/>
            <a:r>
              <a:t>в две или три строки (10pt)</a:t>
            </a:r>
          </a:p>
        </p:txBody>
      </p:sp>
      <p:sp>
        <p:nvSpPr>
          <p:cNvPr id="183" name="TextBox 30"/>
          <p:cNvSpPr txBox="1">
            <a:spLocks noGrp="1"/>
          </p:cNvSpPr>
          <p:nvPr>
            <p:ph type="body" sz="quarter" idx="25"/>
          </p:nvPr>
        </p:nvSpPr>
        <p:spPr>
          <a:xfrm>
            <a:off x="3411347" y="497314"/>
            <a:ext cx="2255306"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презентации может быть набрано в две или три строки (10pt)</a:t>
            </a:r>
          </a:p>
        </p:txBody>
      </p:sp>
      <p:sp>
        <p:nvSpPr>
          <p:cNvPr id="184" name="TextBox 31"/>
          <p:cNvSpPr txBox="1">
            <a:spLocks noGrp="1"/>
          </p:cNvSpPr>
          <p:nvPr>
            <p:ph type="body" sz="quarter" idx="26"/>
          </p:nvPr>
        </p:nvSpPr>
        <p:spPr>
          <a:xfrm>
            <a:off x="6203837" y="497314"/>
            <a:ext cx="2255307" cy="548641"/>
          </a:xfrm>
          <a:prstGeom prst="rect">
            <a:avLst/>
          </a:prstGeom>
        </p:spPr>
        <p:txBody>
          <a:bodyPr>
            <a:spAutoFit/>
          </a:bodyPr>
          <a:lstStyle/>
          <a:p>
            <a:pPr marL="0" indent="0" defTabSz="12700">
              <a:lnSpc>
                <a:spcPct val="100000"/>
              </a:lnSpc>
              <a:spcBef>
                <a:spcPts val="1200"/>
              </a:spcBef>
              <a:buSzTx/>
              <a:buFontTx/>
              <a:buNone/>
              <a:defRPr sz="1000">
                <a:latin typeface="+mn-lt"/>
                <a:ea typeface="+mn-ea"/>
                <a:cs typeface="+mn-cs"/>
                <a:sym typeface="Helvetica"/>
              </a:defRPr>
            </a:pPr>
            <a:r>
              <a:t>Название раздела может быть набрано в две или три строки (10pt)</a:t>
            </a:r>
          </a:p>
        </p:txBody>
      </p:sp>
      <p:sp>
        <p:nvSpPr>
          <p:cNvPr id="1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Таблица_2 copy">
    <p:spTree>
      <p:nvGrpSpPr>
        <p:cNvPr id="1" name=""/>
        <p:cNvGrpSpPr/>
        <p:nvPr/>
      </p:nvGrpSpPr>
      <p:grpSpPr>
        <a:xfrm>
          <a:off x="0" y="0"/>
          <a:ext cx="0" cy="0"/>
          <a:chOff x="0" y="0"/>
          <a:chExt cx="0" cy="0"/>
        </a:xfrm>
      </p:grpSpPr>
      <p:sp>
        <p:nvSpPr>
          <p:cNvPr id="192" name="Rectangle"/>
          <p:cNvSpPr/>
          <p:nvPr/>
        </p:nvSpPr>
        <p:spPr>
          <a:xfrm>
            <a:off x="-351154" y="-10861"/>
            <a:ext cx="13083515" cy="6879722"/>
          </a:xfrm>
          <a:prstGeom prst="rect">
            <a:avLst/>
          </a:prstGeom>
          <a:solidFill>
            <a:srgbClr val="172C65"/>
          </a:solidFill>
          <a:ln w="12700">
            <a:miter lim="400000"/>
          </a:ln>
        </p:spPr>
        <p:txBody>
          <a:bodyPr lIns="45719" rIns="45719" anchor="ctr"/>
          <a:lstStyle/>
          <a:p>
            <a:pPr defTabSz="914400">
              <a:spcBef>
                <a:spcPts val="0"/>
              </a:spcBef>
              <a:defRPr sz="1800">
                <a:solidFill>
                  <a:srgbClr val="000000"/>
                </a:solidFill>
                <a:latin typeface="+mj-lt"/>
                <a:ea typeface="+mj-ea"/>
                <a:cs typeface="+mj-cs"/>
                <a:sym typeface="Calibri"/>
              </a:defRPr>
            </a:pPr>
            <a:endParaRPr/>
          </a:p>
        </p:txBody>
      </p:sp>
      <p:pic>
        <p:nvPicPr>
          <p:cNvPr id="193" name="01_Logo_HSE_full_rus_CMYK_for_dark_1.png" descr="01_Logo_HSE_full_rus_CMYK_for_dark_1.png"/>
          <p:cNvPicPr>
            <a:picLocks noChangeAspect="1"/>
          </p:cNvPicPr>
          <p:nvPr/>
        </p:nvPicPr>
        <p:blipFill>
          <a:blip r:embed="rId2"/>
          <a:stretch>
            <a:fillRect/>
          </a:stretch>
        </p:blipFill>
        <p:spPr>
          <a:xfrm>
            <a:off x="5313362" y="2646362"/>
            <a:ext cx="1565147" cy="1565147"/>
          </a:xfrm>
          <a:prstGeom prst="rect">
            <a:avLst/>
          </a:prstGeom>
          <a:ln w="12700">
            <a:miter lim="400000"/>
          </a:ln>
        </p:spPr>
      </p:pic>
      <p:sp>
        <p:nvSpPr>
          <p:cNvPr id="1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9" descr="Picture 9"/>
          <p:cNvPicPr>
            <a:picLocks noChangeAspect="1"/>
          </p:cNvPicPr>
          <p:nvPr/>
        </p:nvPicPr>
        <p:blipFill>
          <a:blip r:embed="rId14"/>
          <a:stretch>
            <a:fillRect/>
          </a:stretch>
        </p:blipFill>
        <p:spPr>
          <a:xfrm>
            <a:off x="0" y="0"/>
            <a:ext cx="12192000" cy="6858000"/>
          </a:xfrm>
          <a:prstGeom prst="rect">
            <a:avLst/>
          </a:prstGeom>
          <a:ln w="12700">
            <a:miter lim="400000"/>
          </a:ln>
        </p:spPr>
      </p:pic>
      <p:sp>
        <p:nvSpPr>
          <p:cNvPr id="3" name="Rectangle 24"/>
          <p:cNvSpPr/>
          <p:nvPr/>
        </p:nvSpPr>
        <p:spPr>
          <a:xfrm>
            <a:off x="132681" y="134898"/>
            <a:ext cx="11926638" cy="6602381"/>
          </a:xfrm>
          <a:prstGeom prst="rect">
            <a:avLst/>
          </a:prstGeom>
          <a:solidFill>
            <a:srgbClr val="FFFFFF"/>
          </a:solidFill>
          <a:ln w="3175">
            <a:solidFill>
              <a:srgbClr val="32538F"/>
            </a:solidFill>
            <a:miter/>
          </a:ln>
        </p:spPr>
        <p:txBody>
          <a:bodyPr lIns="45719" rIns="45719" anchor="ctr"/>
          <a:lstStyle/>
          <a:p>
            <a:pPr algn="ctr" defTabSz="914400">
              <a:spcBef>
                <a:spcPts val="0"/>
              </a:spcBef>
              <a:defRPr sz="1600">
                <a:solidFill>
                  <a:srgbClr val="FFFFFF"/>
                </a:solidFill>
                <a:latin typeface="+mj-lt"/>
                <a:ea typeface="+mj-ea"/>
                <a:cs typeface="+mj-cs"/>
                <a:sym typeface="Calibri"/>
              </a:defRPr>
            </a:pPr>
            <a:endParaRPr/>
          </a:p>
        </p:txBody>
      </p:sp>
      <p:pic>
        <p:nvPicPr>
          <p:cNvPr id="4" name="Picture 4" descr="Picture 4"/>
          <p:cNvPicPr>
            <a:picLocks noChangeAspect="1"/>
          </p:cNvPicPr>
          <p:nvPr/>
        </p:nvPicPr>
        <p:blipFill>
          <a:blip r:embed="rId15"/>
          <a:stretch>
            <a:fillRect/>
          </a:stretch>
        </p:blipFill>
        <p:spPr>
          <a:xfrm>
            <a:off x="517199" y="464362"/>
            <a:ext cx="448276" cy="448277"/>
          </a:xfrm>
          <a:prstGeom prst="rect">
            <a:avLst/>
          </a:prstGeom>
          <a:ln w="12700">
            <a:miter lim="400000"/>
          </a:ln>
        </p:spPr>
      </p:pic>
      <p:sp>
        <p:nvSpPr>
          <p:cNvPr id="5" name="Straight Connector 19"/>
          <p:cNvSpPr/>
          <p:nvPr/>
        </p:nvSpPr>
        <p:spPr>
          <a:xfrm>
            <a:off x="3298685"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6" name="Straight Connector 21"/>
          <p:cNvSpPr/>
          <p:nvPr/>
        </p:nvSpPr>
        <p:spPr>
          <a:xfrm>
            <a:off x="6099415"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7" name="Straight Connector 59"/>
          <p:cNvSpPr/>
          <p:nvPr/>
        </p:nvSpPr>
        <p:spPr>
          <a:xfrm>
            <a:off x="11643868"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8" name="Straight Connector 25"/>
          <p:cNvSpPr/>
          <p:nvPr/>
        </p:nvSpPr>
        <p:spPr>
          <a:xfrm>
            <a:off x="10277081" y="464363"/>
            <a:ext cx="1" cy="586261"/>
          </a:xfrm>
          <a:prstGeom prst="line">
            <a:avLst/>
          </a:prstGeom>
          <a:ln w="12700">
            <a:solidFill>
              <a:srgbClr val="102D69"/>
            </a:solidFill>
            <a:miter/>
          </a:ln>
        </p:spPr>
        <p:txBody>
          <a:bodyPr lIns="45719" rIns="45719"/>
          <a:lstStyle/>
          <a:p>
            <a:pPr defTabSz="914400">
              <a:spcBef>
                <a:spcPts val="0"/>
              </a:spcBef>
              <a:defRPr sz="1800">
                <a:solidFill>
                  <a:srgbClr val="000000"/>
                </a:solidFill>
                <a:latin typeface="+mj-lt"/>
                <a:ea typeface="+mj-ea"/>
                <a:cs typeface="+mj-cs"/>
                <a:sym typeface="Calibri"/>
              </a:defRPr>
            </a:pPr>
            <a:endParaRPr/>
          </a:p>
        </p:txBody>
      </p:sp>
      <p:sp>
        <p:nvSpPr>
          <p:cNvPr id="9"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10" name="Body Level One…"/>
          <p:cNvSpPr txBox="1">
            <a:spLocks noGrp="1"/>
          </p:cNvSpPr>
          <p:nvPr>
            <p:ph type="body" idx="1"/>
          </p:nvPr>
        </p:nvSpPr>
        <p:spPr>
          <a:xfrm>
            <a:off x="609600" y="1600200"/>
            <a:ext cx="10972800" cy="4525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11"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defTabSz="914400">
              <a:spcBef>
                <a:spcPts val="0"/>
              </a:spcBef>
              <a:defRPr sz="1200">
                <a:solidFill>
                  <a:srgbClr val="888888"/>
                </a:solidFill>
                <a:latin typeface="+mj-lt"/>
                <a:ea typeface="+mj-ea"/>
                <a:cs typeface="+mj-cs"/>
                <a:sym typeface="Calibri"/>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hyperlink" Target="https://music.apple.com/" TargetMode="External"/><Relationship Id="rId3" Type="http://schemas.openxmlformats.org/officeDocument/2006/relationships/hyperlink" Target="https://git-scm.com/" TargetMode="External"/><Relationship Id="rId7" Type="http://schemas.openxmlformats.org/officeDocument/2006/relationships/hyperlink" Target="https://music.youtube.com/" TargetMode="External"/><Relationship Id="rId12" Type="http://schemas.openxmlformats.org/officeDocument/2006/relationships/hyperlink" Target="https://mstream.io/" TargetMode="External"/><Relationship Id="rId2" Type="http://schemas.openxmlformats.org/officeDocument/2006/relationships/hyperlink" Target="https://developer.apple.com/xcode/" TargetMode="External"/><Relationship Id="rId1" Type="http://schemas.openxmlformats.org/officeDocument/2006/relationships/slideLayout" Target="../slideLayouts/slideLayout1.xml"/><Relationship Id="rId6" Type="http://schemas.openxmlformats.org/officeDocument/2006/relationships/hyperlink" Target="https://music.vk.com/" TargetMode="External"/><Relationship Id="rId11" Type="http://schemas.openxmlformats.org/officeDocument/2006/relationships/hyperlink" Target="https://ampache.org/" TargetMode="External"/><Relationship Id="rId5" Type="http://schemas.openxmlformats.org/officeDocument/2006/relationships/hyperlink" Target="https://www.spotify.com/" TargetMode="External"/><Relationship Id="rId10" Type="http://schemas.openxmlformats.org/officeDocument/2006/relationships/hyperlink" Target="https://www.navidrome.org/" TargetMode="External"/><Relationship Id="rId4" Type="http://schemas.openxmlformats.org/officeDocument/2006/relationships/hyperlink" Target="https://music.yandex.ru/" TargetMode="External"/><Relationship Id="rId9" Type="http://schemas.openxmlformats.org/officeDocument/2006/relationships/hyperlink" Target="https://github.com/blackcandy-or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Факультет…"/>
          <p:cNvSpPr txBox="1">
            <a:spLocks noGrp="1"/>
          </p:cNvSpPr>
          <p:nvPr>
            <p:ph type="body" idx="21"/>
          </p:nvPr>
        </p:nvSpPr>
        <p:spPr>
          <a:prstGeom prst="rect">
            <a:avLst/>
          </a:prstGeom>
        </p:spPr>
        <p:txBody>
          <a:bodyPr/>
          <a:lstStyle/>
          <a:p>
            <a:pPr marL="0" indent="0">
              <a:spcBef>
                <a:spcPts val="0"/>
              </a:spcBef>
              <a:buSzTx/>
              <a:buFontTx/>
              <a:buNone/>
              <a:defRPr sz="1600">
                <a:latin typeface="+mn-lt"/>
                <a:ea typeface="+mn-ea"/>
                <a:cs typeface="+mn-cs"/>
                <a:sym typeface="Helvetica"/>
              </a:defRPr>
            </a:pPr>
            <a:r>
              <a:rPr dirty="0" err="1"/>
              <a:t>Факультет</a:t>
            </a:r>
            <a:r>
              <a:rPr dirty="0"/>
              <a:t> </a:t>
            </a:r>
          </a:p>
          <a:p>
            <a:pPr marL="0" indent="0">
              <a:spcBef>
                <a:spcPts val="0"/>
              </a:spcBef>
              <a:buSzTx/>
              <a:buFontTx/>
              <a:buNone/>
              <a:defRPr sz="1600">
                <a:latin typeface="+mn-lt"/>
                <a:ea typeface="+mn-ea"/>
                <a:cs typeface="+mn-cs"/>
                <a:sym typeface="Helvetica"/>
              </a:defRPr>
            </a:pPr>
            <a:r>
              <a:rPr dirty="0" err="1"/>
              <a:t>компьютерных</a:t>
            </a:r>
            <a:r>
              <a:rPr dirty="0"/>
              <a:t> </a:t>
            </a:r>
            <a:r>
              <a:rPr dirty="0" err="1"/>
              <a:t>наук</a:t>
            </a:r>
            <a:endParaRPr dirty="0"/>
          </a:p>
        </p:txBody>
      </p:sp>
      <p:sp>
        <p:nvSpPr>
          <p:cNvPr id="204" name="Департамент…"/>
          <p:cNvSpPr txBox="1">
            <a:spLocks noGrp="1"/>
          </p:cNvSpPr>
          <p:nvPr>
            <p:ph type="body" idx="22"/>
          </p:nvPr>
        </p:nvSpPr>
        <p:spPr>
          <a:prstGeom prst="rect">
            <a:avLst/>
          </a:prstGeom>
        </p:spPr>
        <p:txBody>
          <a:bodyPr/>
          <a:lstStyle/>
          <a:p>
            <a:pPr marL="0" indent="0">
              <a:spcBef>
                <a:spcPts val="0"/>
              </a:spcBef>
              <a:buSzTx/>
              <a:buFontTx/>
              <a:buNone/>
              <a:defRPr sz="1200">
                <a:latin typeface="+mn-lt"/>
                <a:ea typeface="+mn-ea"/>
                <a:cs typeface="+mn-cs"/>
                <a:sym typeface="Helvetica"/>
              </a:defRPr>
            </a:pPr>
            <a:r>
              <a:rPr dirty="0" err="1"/>
              <a:t>Департамент</a:t>
            </a:r>
            <a:r>
              <a:rPr dirty="0"/>
              <a:t> </a:t>
            </a:r>
          </a:p>
          <a:p>
            <a:pPr marL="0" indent="0">
              <a:spcBef>
                <a:spcPts val="0"/>
              </a:spcBef>
              <a:buSzTx/>
              <a:buFontTx/>
              <a:buNone/>
              <a:defRPr sz="1200">
                <a:latin typeface="+mn-lt"/>
                <a:ea typeface="+mn-ea"/>
                <a:cs typeface="+mn-cs"/>
                <a:sym typeface="Helvetica"/>
              </a:defRPr>
            </a:pPr>
            <a:r>
              <a:rPr dirty="0" err="1"/>
              <a:t>программной</a:t>
            </a:r>
            <a:r>
              <a:rPr dirty="0"/>
              <a:t> </a:t>
            </a:r>
            <a:r>
              <a:rPr dirty="0" err="1"/>
              <a:t>инженерии</a:t>
            </a:r>
            <a:endParaRPr dirty="0"/>
          </a:p>
        </p:txBody>
      </p:sp>
      <p:sp>
        <p:nvSpPr>
          <p:cNvPr id="205" name="Москва 2025"/>
          <p:cNvSpPr txBox="1">
            <a:spLocks noGrp="1"/>
          </p:cNvSpPr>
          <p:nvPr>
            <p:ph type="body" idx="23"/>
          </p:nvPr>
        </p:nvSpPr>
        <p:spPr>
          <a:prstGeom prst="rect">
            <a:avLst/>
          </a:prstGeom>
        </p:spPr>
        <p:txBody>
          <a:bodyPr/>
          <a:lstStyle/>
          <a:p>
            <a:pPr marL="0" indent="0">
              <a:lnSpc>
                <a:spcPct val="80000"/>
              </a:lnSpc>
              <a:spcBef>
                <a:spcPts val="0"/>
              </a:spcBef>
              <a:buSzTx/>
              <a:buFontTx/>
              <a:buNone/>
              <a:defRPr sz="1200">
                <a:latin typeface="+mn-lt"/>
                <a:ea typeface="+mn-ea"/>
                <a:cs typeface="+mn-cs"/>
                <a:sym typeface="Helvetica"/>
              </a:defRPr>
            </a:pPr>
            <a:r>
              <a:rPr dirty="0" err="1"/>
              <a:t>Москва</a:t>
            </a:r>
            <a:br>
              <a:rPr dirty="0"/>
            </a:br>
            <a:r>
              <a:rPr dirty="0"/>
              <a:t>202</a:t>
            </a:r>
            <a:r>
              <a:rPr lang="ru-RU" dirty="0"/>
              <a:t>6</a:t>
            </a:r>
            <a:endParaRPr dirty="0"/>
          </a:p>
        </p:txBody>
      </p:sp>
      <p:sp>
        <p:nvSpPr>
          <p:cNvPr id="206" name="Сервис для стриминга и селфхостинга музыки. iOS-приложение…"/>
          <p:cNvSpPr txBox="1">
            <a:spLocks noGrp="1"/>
          </p:cNvSpPr>
          <p:nvPr>
            <p:ph type="body" idx="24"/>
          </p:nvPr>
        </p:nvSpPr>
        <p:spPr>
          <a:prstGeom prst="rect">
            <a:avLst/>
          </a:prstGeom>
        </p:spPr>
        <p:txBody>
          <a:bodyPr/>
          <a:lstStyle/>
          <a:p>
            <a:pPr marL="0" indent="0">
              <a:lnSpc>
                <a:spcPct val="100000"/>
              </a:lnSpc>
              <a:spcBef>
                <a:spcPts val="0"/>
              </a:spcBef>
              <a:buSzTx/>
              <a:buFontTx/>
              <a:buNone/>
              <a:defRPr sz="3500">
                <a:solidFill>
                  <a:srgbClr val="172C65"/>
                </a:solidFill>
                <a:latin typeface="+mn-lt"/>
                <a:ea typeface="+mn-ea"/>
                <a:cs typeface="+mn-cs"/>
                <a:sym typeface="Helvetica"/>
              </a:defRPr>
            </a:pPr>
            <a:r>
              <a:rPr dirty="0" err="1"/>
              <a:t>Сервис</a:t>
            </a:r>
            <a:r>
              <a:rPr dirty="0"/>
              <a:t> </a:t>
            </a:r>
            <a:r>
              <a:rPr dirty="0" err="1"/>
              <a:t>для</a:t>
            </a:r>
            <a:r>
              <a:rPr dirty="0"/>
              <a:t> </a:t>
            </a:r>
            <a:r>
              <a:rPr dirty="0" err="1"/>
              <a:t>стриминга</a:t>
            </a:r>
            <a:r>
              <a:rPr dirty="0"/>
              <a:t> </a:t>
            </a:r>
            <a:r>
              <a:rPr dirty="0" err="1"/>
              <a:t>и</a:t>
            </a:r>
            <a:r>
              <a:rPr dirty="0"/>
              <a:t> </a:t>
            </a:r>
            <a:r>
              <a:rPr dirty="0" err="1"/>
              <a:t>селфхостинга</a:t>
            </a:r>
            <a:r>
              <a:rPr dirty="0"/>
              <a:t> </a:t>
            </a:r>
            <a:r>
              <a:rPr dirty="0" err="1"/>
              <a:t>музыки</a:t>
            </a:r>
            <a:r>
              <a:rPr dirty="0"/>
              <a:t>. iOS-</a:t>
            </a:r>
            <a:r>
              <a:rPr dirty="0" err="1"/>
              <a:t>приложение</a:t>
            </a:r>
            <a:endParaRPr dirty="0"/>
          </a:p>
          <a:p>
            <a:pPr marL="0" indent="0">
              <a:lnSpc>
                <a:spcPct val="100000"/>
              </a:lnSpc>
              <a:spcBef>
                <a:spcPts val="0"/>
              </a:spcBef>
              <a:buSzTx/>
              <a:buFontTx/>
              <a:buNone/>
              <a:defRPr sz="2400">
                <a:solidFill>
                  <a:srgbClr val="172C65"/>
                </a:solidFill>
                <a:latin typeface="+mn-lt"/>
                <a:ea typeface="+mn-ea"/>
                <a:cs typeface="+mn-cs"/>
                <a:sym typeface="Helvetica"/>
              </a:defRPr>
            </a:pPr>
            <a:r>
              <a:rPr dirty="0"/>
              <a:t>Service for Self-hosting and Streaming Music. iOS app</a:t>
            </a:r>
          </a:p>
        </p:txBody>
      </p:sp>
      <p:sp>
        <p:nvSpPr>
          <p:cNvPr id="207" name="Выполнил: студент БПИ235 Васюков Александр Владимирович…"/>
          <p:cNvSpPr txBox="1">
            <a:spLocks noGrp="1"/>
          </p:cNvSpPr>
          <p:nvPr>
            <p:ph type="body" idx="25"/>
          </p:nvPr>
        </p:nvSpPr>
        <p:spPr>
          <a:xfrm>
            <a:off x="1014505" y="4747187"/>
            <a:ext cx="4997854" cy="1140500"/>
          </a:xfrm>
          <a:prstGeom prst="rect">
            <a:avLst/>
          </a:prstGeom>
        </p:spPr>
        <p:txBody>
          <a:bodyPr/>
          <a:lstStyle/>
          <a:p>
            <a:pPr marL="0" indent="0">
              <a:spcBef>
                <a:spcPts val="0"/>
              </a:spcBef>
              <a:buSzTx/>
              <a:buFontTx/>
              <a:buNone/>
              <a:defRPr sz="1600">
                <a:latin typeface="+mn-lt"/>
                <a:ea typeface="+mn-ea"/>
                <a:cs typeface="+mn-cs"/>
                <a:sym typeface="Helvetica"/>
              </a:defRPr>
            </a:pPr>
            <a:r>
              <a:rPr dirty="0" err="1"/>
              <a:t>Выполнил</a:t>
            </a:r>
            <a:r>
              <a:rPr dirty="0"/>
              <a:t>: </a:t>
            </a:r>
            <a:r>
              <a:rPr dirty="0" err="1"/>
              <a:t>студент</a:t>
            </a:r>
            <a:r>
              <a:rPr dirty="0"/>
              <a:t> </a:t>
            </a:r>
            <a:r>
              <a:rPr dirty="0" err="1"/>
              <a:t>Б</a:t>
            </a:r>
            <a:r>
              <a:rPr lang="ru-RU" dirty="0"/>
              <a:t>ДРИП242</a:t>
            </a:r>
            <a:br>
              <a:rPr dirty="0"/>
            </a:br>
            <a:r>
              <a:rPr lang="ru-RU" dirty="0"/>
              <a:t>Шарков Артём Дмитриевич</a:t>
            </a:r>
            <a:endParaRPr dirty="0"/>
          </a:p>
          <a:p>
            <a:pPr marL="0" indent="0">
              <a:spcBef>
                <a:spcPts val="0"/>
              </a:spcBef>
              <a:buSzTx/>
              <a:buFontTx/>
              <a:buNone/>
              <a:defRPr sz="1600">
                <a:latin typeface="+mn-lt"/>
                <a:ea typeface="+mn-ea"/>
                <a:cs typeface="+mn-cs"/>
                <a:sym typeface="Helvetica"/>
              </a:defRPr>
            </a:pPr>
            <a:endParaRPr dirty="0"/>
          </a:p>
          <a:p>
            <a:pPr marL="0" indent="0">
              <a:spcBef>
                <a:spcPts val="0"/>
              </a:spcBef>
              <a:buSzTx/>
              <a:buFontTx/>
              <a:buNone/>
              <a:defRPr sz="1600">
                <a:latin typeface="+mn-lt"/>
                <a:ea typeface="+mn-ea"/>
                <a:cs typeface="+mn-cs"/>
                <a:sym typeface="Helvetica"/>
              </a:defRPr>
            </a:pPr>
            <a:r>
              <a:rPr dirty="0" err="1"/>
              <a:t>Командный</a:t>
            </a:r>
            <a:r>
              <a:rPr dirty="0"/>
              <a:t> </a:t>
            </a:r>
            <a:r>
              <a:rPr dirty="0" err="1"/>
              <a:t>программный</a:t>
            </a:r>
            <a:r>
              <a:rPr dirty="0"/>
              <a:t> </a:t>
            </a:r>
            <a:r>
              <a:rPr dirty="0" err="1"/>
              <a:t>проект</a:t>
            </a:r>
            <a:endParaRPr dirty="0"/>
          </a:p>
        </p:txBody>
      </p:sp>
      <p:sp>
        <p:nvSpPr>
          <p:cNvPr id="208" name="Научный руководитель:…"/>
          <p:cNvSpPr txBox="1"/>
          <p:nvPr/>
        </p:nvSpPr>
        <p:spPr>
          <a:xfrm>
            <a:off x="8223749" y="4747187"/>
            <a:ext cx="2981165" cy="1140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pPr defTabSz="914400">
              <a:lnSpc>
                <a:spcPct val="90000"/>
              </a:lnSpc>
              <a:spcBef>
                <a:spcPts val="0"/>
              </a:spcBef>
              <a:defRPr sz="1600">
                <a:solidFill>
                  <a:srgbClr val="000000"/>
                </a:solidFill>
              </a:defRPr>
            </a:pPr>
            <a:r>
              <a:rPr dirty="0" err="1"/>
              <a:t>Научный</a:t>
            </a:r>
            <a:r>
              <a:rPr dirty="0"/>
              <a:t> </a:t>
            </a:r>
            <a:r>
              <a:rPr dirty="0" err="1"/>
              <a:t>руководитель</a:t>
            </a:r>
            <a:r>
              <a:rPr dirty="0"/>
              <a:t>: </a:t>
            </a:r>
          </a:p>
          <a:p>
            <a:pPr defTabSz="914400">
              <a:lnSpc>
                <a:spcPct val="90000"/>
              </a:lnSpc>
              <a:spcBef>
                <a:spcPts val="0"/>
              </a:spcBef>
              <a:defRPr sz="1600">
                <a:solidFill>
                  <a:srgbClr val="000000"/>
                </a:solidFill>
              </a:defRPr>
            </a:pPr>
            <a:r>
              <a:rPr lang="ru-RU" dirty="0" err="1"/>
              <a:t>Учватов</a:t>
            </a:r>
            <a:r>
              <a:rPr lang="en-US" dirty="0"/>
              <a:t> </a:t>
            </a:r>
            <a:r>
              <a:rPr lang="ru-RU" dirty="0"/>
              <a:t>С</a:t>
            </a:r>
            <a:r>
              <a:rPr dirty="0"/>
              <a:t>.</a:t>
            </a:r>
            <a:r>
              <a:rPr lang="en-US" dirty="0"/>
              <a:t> </a:t>
            </a:r>
            <a:r>
              <a:rPr lang="ru-RU" dirty="0"/>
              <a:t>А</a:t>
            </a:r>
            <a:r>
              <a:rPr dirty="0"/>
              <a:t>.,</a:t>
            </a:r>
            <a:r>
              <a:rPr lang="en-US" dirty="0"/>
              <a:t> </a:t>
            </a:r>
            <a:r>
              <a:rPr lang="ru-RU" dirty="0"/>
              <a:t>ведущий разработчик ООО</a:t>
            </a:r>
            <a:r>
              <a:rPr lang="en-US" dirty="0"/>
              <a:t> ”</a:t>
            </a:r>
            <a:r>
              <a:rPr lang="ru-RU" dirty="0"/>
              <a:t>ТЦР</a:t>
            </a:r>
            <a:r>
              <a:rPr lang="en-US" dirty="0"/>
              <a:t>”</a:t>
            </a:r>
            <a:endParaRPr lang="ru-RU"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TextBox 27"/>
          <p:cNvSpPr txBox="1">
            <a:spLocks noGrp="1"/>
          </p:cNvSpPr>
          <p:nvPr>
            <p:ph type="body" idx="21"/>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11" name="TextBox 31"/>
          <p:cNvSpPr txBox="1">
            <a:spLocks noGrp="1"/>
          </p:cNvSpPr>
          <p:nvPr>
            <p:ph type="body" idx="23"/>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Описание темы проекта</a:t>
            </a:r>
          </a:p>
        </p:txBody>
      </p:sp>
      <p:sp>
        <p:nvSpPr>
          <p:cNvPr id="212" name="TextBox 63"/>
          <p:cNvSpPr txBox="1">
            <a:spLocks noGrp="1"/>
          </p:cNvSpPr>
          <p:nvPr>
            <p:ph type="body" idx="24"/>
          </p:nvPr>
        </p:nvSpPr>
        <p:spPr>
          <a:xfrm>
            <a:off x="535695" y="1396903"/>
            <a:ext cx="10041551" cy="459741"/>
          </a:xfrm>
          <a:prstGeom prst="rect">
            <a:avLst/>
          </a:prstGeom>
        </p:spPr>
        <p:txBody>
          <a:bodyPr/>
          <a:lstStyle>
            <a:lvl1pPr marL="0" indent="0" defTabSz="12700">
              <a:spcBef>
                <a:spcPts val="1200"/>
              </a:spcBef>
              <a:buSzTx/>
              <a:buFontTx/>
              <a:buNone/>
              <a:defRPr sz="2400">
                <a:solidFill>
                  <a:srgbClr val="102D69"/>
                </a:solidFill>
                <a:latin typeface="+mn-lt"/>
                <a:ea typeface="+mn-ea"/>
                <a:cs typeface="+mn-cs"/>
                <a:sym typeface="Helvetica"/>
              </a:defRPr>
            </a:lvl1pPr>
          </a:lstStyle>
          <a:p>
            <a:r>
              <a:t>Описание темы проекта</a:t>
            </a:r>
          </a:p>
        </p:txBody>
      </p:sp>
      <p:sp>
        <p:nvSpPr>
          <p:cNvPr id="213" name="TextBox 32"/>
          <p:cNvSpPr txBox="1">
            <a:spLocks noGrp="1"/>
          </p:cNvSpPr>
          <p:nvPr>
            <p:ph type="body" idx="25"/>
          </p:nvPr>
        </p:nvSpPr>
        <p:spPr>
          <a:xfrm>
            <a:off x="10337842" y="497314"/>
            <a:ext cx="245404" cy="396241"/>
          </a:xfrm>
          <a:prstGeom prst="rect">
            <a:avLst/>
          </a:prstGeom>
        </p:spPr>
        <p:txBody>
          <a:bodyPr/>
          <a:lstStyle/>
          <a:p>
            <a:fld id="{86CB4B4D-7CA3-9044-876B-883B54F8677D}" type="slidenum">
              <a:rPr/>
              <a:t>2</a:t>
            </a:fld>
            <a:endParaRPr/>
          </a:p>
        </p:txBody>
      </p:sp>
      <p:sp>
        <p:nvSpPr>
          <p:cNvPr id="214" name="TextBox 44"/>
          <p:cNvSpPr txBox="1">
            <a:spLocks noGrp="1"/>
          </p:cNvSpPr>
          <p:nvPr>
            <p:ph type="body" idx="26"/>
          </p:nvPr>
        </p:nvSpPr>
        <p:spPr>
          <a:xfrm>
            <a:off x="562919" y="2362798"/>
            <a:ext cx="5219982" cy="2655571"/>
          </a:xfrm>
          <a:prstGeom prst="rect">
            <a:avLst/>
          </a:prstGeom>
        </p:spPr>
        <p:txBody>
          <a:bodyPr/>
          <a:lstStyle/>
          <a:p>
            <a:pPr marL="0" indent="0">
              <a:lnSpc>
                <a:spcPct val="100000"/>
              </a:lnSpc>
              <a:spcBef>
                <a:spcPts val="1200"/>
              </a:spcBef>
              <a:buSzTx/>
              <a:buFontTx/>
              <a:buNone/>
              <a:defRPr sz="1600">
                <a:latin typeface="+mn-lt"/>
                <a:ea typeface="+mn-ea"/>
                <a:cs typeface="+mn-cs"/>
                <a:sym typeface="Helvetica"/>
              </a:defRPr>
            </a:pPr>
            <a:r>
              <a:t>Приложение «Сервис для стриминга и селфхостинга музыки» позволяет пользователям хранить музыку локально или на собственном сервере, создавать плейлисты и слушать треки в режиме онлайн или оффлайн.</a:t>
            </a:r>
          </a:p>
          <a:p>
            <a:pPr marL="0" indent="0">
              <a:lnSpc>
                <a:spcPct val="70000"/>
              </a:lnSpc>
              <a:spcBef>
                <a:spcPts val="1200"/>
              </a:spcBef>
              <a:buSzTx/>
              <a:buFontTx/>
              <a:buNone/>
              <a:defRPr sz="1600">
                <a:latin typeface="+mn-lt"/>
                <a:ea typeface="+mn-ea"/>
                <a:cs typeface="+mn-cs"/>
                <a:sym typeface="Helvetica"/>
              </a:defRPr>
            </a:pPr>
            <a:r>
              <a:t>Основные преимущества: </a:t>
            </a:r>
          </a:p>
          <a:p>
            <a:pPr marL="160421" indent="-160421">
              <a:lnSpc>
                <a:spcPct val="70000"/>
              </a:lnSpc>
              <a:spcBef>
                <a:spcPts val="1200"/>
              </a:spcBef>
              <a:buFontTx/>
              <a:defRPr sz="1600">
                <a:latin typeface="+mn-lt"/>
                <a:ea typeface="+mn-ea"/>
                <a:cs typeface="+mn-cs"/>
                <a:sym typeface="Helvetica"/>
              </a:defRPr>
            </a:pPr>
            <a:r>
              <a:t>полный контроль над контентом</a:t>
            </a:r>
          </a:p>
          <a:p>
            <a:pPr marL="160421" indent="-160421">
              <a:lnSpc>
                <a:spcPct val="70000"/>
              </a:lnSpc>
              <a:spcBef>
                <a:spcPts val="1200"/>
              </a:spcBef>
              <a:buFontTx/>
              <a:defRPr sz="1600">
                <a:latin typeface="+mn-lt"/>
                <a:ea typeface="+mn-ea"/>
                <a:cs typeface="+mn-cs"/>
                <a:sym typeface="Helvetica"/>
              </a:defRPr>
            </a:pPr>
            <a:r>
              <a:t>удобный интерфейс</a:t>
            </a:r>
          </a:p>
          <a:p>
            <a:pPr marL="160421" indent="-160421">
              <a:lnSpc>
                <a:spcPct val="70000"/>
              </a:lnSpc>
              <a:spcBef>
                <a:spcPts val="1200"/>
              </a:spcBef>
              <a:buFontTx/>
              <a:defRPr sz="1600">
                <a:latin typeface="+mn-lt"/>
                <a:ea typeface="+mn-ea"/>
                <a:cs typeface="+mn-cs"/>
                <a:sym typeface="Helvetica"/>
              </a:defRPr>
            </a:pPr>
            <a:r>
              <a:t>отсутствие рекламы.</a:t>
            </a:r>
          </a:p>
        </p:txBody>
      </p:sp>
      <p:sp>
        <p:nvSpPr>
          <p:cNvPr id="215" name="TextBox 30"/>
          <p:cNvSpPr txBox="1"/>
          <p:nvPr/>
        </p:nvSpPr>
        <p:spPr>
          <a:xfrm>
            <a:off x="3411347" y="500857"/>
            <a:ext cx="2575408"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spcBef>
                <a:spcPts val="0"/>
              </a:spcBef>
              <a:defRPr sz="1000">
                <a:solidFill>
                  <a:srgbClr val="000000"/>
                </a:solidFill>
              </a:defRPr>
            </a:lvl1pPr>
          </a:lstStyle>
          <a:p>
            <a:pPr defTabSz="914400"/>
            <a:r>
              <a:t>Сервис для стриминга и селфхостинга музыки. iOS-приложение</a:t>
            </a:r>
          </a:p>
        </p:txBody>
      </p:sp>
      <p:pic>
        <p:nvPicPr>
          <p:cNvPr id="216" name="Image Gallery" descr="Image Gallery"/>
          <p:cNvPicPr>
            <a:picLocks noChangeAspect="1"/>
          </p:cNvPicPr>
          <p:nvPr/>
        </p:nvPicPr>
        <p:blipFill>
          <a:blip r:embed="rId2"/>
          <a:srcRect t="5551" b="5551"/>
          <a:stretch>
            <a:fillRect/>
          </a:stretch>
        </p:blipFill>
        <p:spPr>
          <a:xfrm>
            <a:off x="8880081" y="1211121"/>
            <a:ext cx="2794001" cy="5396524"/>
          </a:xfrm>
          <a:prstGeom prst="rect">
            <a:avLst/>
          </a:prstGeom>
          <a:ln w="12700">
            <a:miter lim="400000"/>
          </a:ln>
        </p:spPr>
      </p:pic>
      <p:grpSp>
        <p:nvGrpSpPr>
          <p:cNvPr id="219" name="Image Gallery"/>
          <p:cNvGrpSpPr/>
          <p:nvPr/>
        </p:nvGrpSpPr>
        <p:grpSpPr>
          <a:xfrm>
            <a:off x="5934490" y="1226160"/>
            <a:ext cx="2794001" cy="5836693"/>
            <a:chOff x="0" y="0"/>
            <a:chExt cx="2794000" cy="5836691"/>
          </a:xfrm>
        </p:grpSpPr>
        <p:pic>
          <p:nvPicPr>
            <p:cNvPr id="217" name="Simulator Screenshot - iPhone 16 Pro Max - 2025-04-21 at 15.50.40.png" descr="Simulator Screenshot - iPhone 16 Pro Max - 2025-04-21 at 15.50.40.png"/>
            <p:cNvPicPr>
              <a:picLocks noChangeAspect="1"/>
            </p:cNvPicPr>
            <p:nvPr/>
          </p:nvPicPr>
          <p:blipFill>
            <a:blip r:embed="rId3"/>
            <a:srcRect t="5799" b="5799"/>
            <a:stretch>
              <a:fillRect/>
            </a:stretch>
          </p:blipFill>
          <p:spPr>
            <a:xfrm>
              <a:off x="0" y="0"/>
              <a:ext cx="2794000" cy="5366445"/>
            </a:xfrm>
            <a:prstGeom prst="rect">
              <a:avLst/>
            </a:prstGeom>
            <a:ln w="12700" cap="flat">
              <a:noFill/>
              <a:miter lim="400000"/>
            </a:ln>
            <a:effectLst/>
          </p:spPr>
        </p:pic>
        <p:sp>
          <p:nvSpPr>
            <p:cNvPr id="218" name="Caption"/>
            <p:cNvSpPr/>
            <p:nvPr/>
          </p:nvSpPr>
          <p:spPr>
            <a:xfrm>
              <a:off x="0" y="5442644"/>
              <a:ext cx="2794000" cy="39404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6200" tIns="76200" rIns="76200" bIns="76200" numCol="1" anchor="t">
              <a:noAutofit/>
            </a:bodyPr>
            <a:lstStyle>
              <a:lvl1pPr defTabSz="914400">
                <a:spcBef>
                  <a:spcPts val="0"/>
                </a:spcBef>
                <a:defRPr sz="1800">
                  <a:solidFill>
                    <a:srgbClr val="000000"/>
                  </a:solidFill>
                  <a:latin typeface="+mj-lt"/>
                  <a:ea typeface="+mj-ea"/>
                  <a:cs typeface="+mj-cs"/>
                  <a:sym typeface="Calibri"/>
                </a:defRPr>
              </a:lvl1pPr>
            </a:lstStyle>
            <a:p>
              <a:r>
                <a:t>Caption</a:t>
              </a:r>
            </a:p>
          </p:txBody>
        </p:sp>
      </p:gr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TextBox 27"/>
          <p:cNvSpPr txBox="1">
            <a:spLocks noGrp="1"/>
          </p:cNvSpPr>
          <p:nvPr>
            <p:ph type="body" idx="21"/>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22" name="TextBox 30"/>
          <p:cNvSpPr txBox="1">
            <a:spLocks noGrp="1"/>
          </p:cNvSpPr>
          <p:nvPr>
            <p:ph type="body" idx="22"/>
          </p:nvPr>
        </p:nvSpPr>
        <p:spPr>
          <a:xfrm>
            <a:off x="3411347" y="497314"/>
            <a:ext cx="2575408" cy="381001"/>
          </a:xfrm>
          <a:prstGeom prst="rect">
            <a:avLst/>
          </a:prstGeom>
        </p:spPr>
        <p:txBody>
          <a:bodyPr/>
          <a:lstStyle>
            <a:lvl1pPr marL="0" indent="0">
              <a:spcBef>
                <a:spcPts val="0"/>
              </a:spcBef>
              <a:buSzTx/>
              <a:buFontTx/>
              <a:buNone/>
              <a:defRPr sz="1000">
                <a:latin typeface="+mn-lt"/>
                <a:ea typeface="+mn-ea"/>
                <a:cs typeface="+mn-cs"/>
                <a:sym typeface="Helvetica"/>
              </a:defRPr>
            </a:lvl1pPr>
          </a:lstStyle>
          <a:p>
            <a:r>
              <a:t>Сервис для стриминга и селфхостинга музыки. iOS-приложение</a:t>
            </a:r>
          </a:p>
        </p:txBody>
      </p:sp>
      <p:sp>
        <p:nvSpPr>
          <p:cNvPr id="223" name="TextBox 31"/>
          <p:cNvSpPr txBox="1">
            <a:spLocks noGrp="1"/>
          </p:cNvSpPr>
          <p:nvPr>
            <p:ph type="body" idx="23"/>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Цель и задачи</a:t>
            </a:r>
          </a:p>
        </p:txBody>
      </p:sp>
      <p:sp>
        <p:nvSpPr>
          <p:cNvPr id="224" name="TextBox 63"/>
          <p:cNvSpPr txBox="1">
            <a:spLocks noGrp="1"/>
          </p:cNvSpPr>
          <p:nvPr>
            <p:ph type="body" idx="24"/>
          </p:nvPr>
        </p:nvSpPr>
        <p:spPr>
          <a:xfrm>
            <a:off x="535695" y="1396903"/>
            <a:ext cx="10041551" cy="459741"/>
          </a:xfrm>
          <a:prstGeom prst="rect">
            <a:avLst/>
          </a:prstGeom>
        </p:spPr>
        <p:txBody>
          <a:bodyPr/>
          <a:lstStyle>
            <a:lvl1pPr marL="0" indent="0" defTabSz="12700">
              <a:spcBef>
                <a:spcPts val="1200"/>
              </a:spcBef>
              <a:buSzTx/>
              <a:buFontTx/>
              <a:buNone/>
              <a:defRPr sz="2400">
                <a:solidFill>
                  <a:srgbClr val="102D69"/>
                </a:solidFill>
                <a:latin typeface="+mn-lt"/>
                <a:ea typeface="+mn-ea"/>
                <a:cs typeface="+mn-cs"/>
                <a:sym typeface="Helvetica"/>
              </a:defRPr>
            </a:lvl1pPr>
          </a:lstStyle>
          <a:p>
            <a:r>
              <a:t>Цель и задачи</a:t>
            </a:r>
          </a:p>
        </p:txBody>
      </p:sp>
      <p:sp>
        <p:nvSpPr>
          <p:cNvPr id="225" name="TextBox 14"/>
          <p:cNvSpPr txBox="1">
            <a:spLocks noGrp="1"/>
          </p:cNvSpPr>
          <p:nvPr>
            <p:ph type="body" idx="25"/>
          </p:nvPr>
        </p:nvSpPr>
        <p:spPr>
          <a:xfrm>
            <a:off x="562919" y="2074230"/>
            <a:ext cx="5604733" cy="4489160"/>
          </a:xfrm>
          <a:prstGeom prst="rect">
            <a:avLst/>
          </a:prstGeom>
        </p:spPr>
        <p:txBody>
          <a:bodyPr numCol="1" spcCol="38100"/>
          <a:lstStyle/>
          <a:p>
            <a:pPr marL="0" indent="0">
              <a:lnSpc>
                <a:spcPct val="100000"/>
              </a:lnSpc>
              <a:spcBef>
                <a:spcPts val="1200"/>
              </a:spcBef>
              <a:buSzTx/>
              <a:buFontTx/>
              <a:buNone/>
              <a:defRPr sz="1600">
                <a:latin typeface="+mn-lt"/>
                <a:ea typeface="+mn-ea"/>
                <a:cs typeface="+mn-cs"/>
                <a:sym typeface="Helvetica"/>
              </a:defRPr>
            </a:pPr>
            <a:r>
              <a:t>Цель: Разработать приложение под операционную систему iOS для неограниченного доступа к трекам, прослушиванию и хранению музыки.</a:t>
            </a:r>
          </a:p>
          <a:p>
            <a:pPr marL="0" indent="0">
              <a:lnSpc>
                <a:spcPct val="70000"/>
              </a:lnSpc>
              <a:spcBef>
                <a:spcPts val="1200"/>
              </a:spcBef>
              <a:buSzTx/>
              <a:buFontTx/>
              <a:buNone/>
              <a:defRPr sz="1600">
                <a:latin typeface="+mn-lt"/>
                <a:ea typeface="+mn-ea"/>
                <a:cs typeface="+mn-cs"/>
                <a:sym typeface="Helvetica"/>
              </a:defRPr>
            </a:pPr>
            <a:r>
              <a:t>Задачи:</a:t>
            </a:r>
          </a:p>
          <a:p>
            <a:pPr marL="173789" indent="-173789">
              <a:lnSpc>
                <a:spcPct val="70000"/>
              </a:lnSpc>
              <a:spcBef>
                <a:spcPts val="1200"/>
              </a:spcBef>
              <a:buFontTx/>
              <a:buAutoNum type="arabicPeriod"/>
              <a:defRPr sz="1600">
                <a:latin typeface="+mn-lt"/>
                <a:ea typeface="+mn-ea"/>
                <a:cs typeface="+mn-cs"/>
                <a:sym typeface="Helvetica"/>
              </a:defRPr>
            </a:pPr>
            <a:r>
              <a:t> Провести анализ аналогов</a:t>
            </a:r>
          </a:p>
          <a:p>
            <a:pPr marL="173789" indent="-173789">
              <a:lnSpc>
                <a:spcPct val="70000"/>
              </a:lnSpc>
              <a:spcBef>
                <a:spcPts val="1200"/>
              </a:spcBef>
              <a:buFontTx/>
              <a:buAutoNum type="arabicPeriod"/>
              <a:defRPr sz="1600">
                <a:latin typeface="+mn-lt"/>
                <a:ea typeface="+mn-ea"/>
                <a:cs typeface="+mn-cs"/>
                <a:sym typeface="Helvetica"/>
              </a:defRPr>
            </a:pPr>
            <a:r>
              <a:t> Определить функциональные требования</a:t>
            </a:r>
          </a:p>
          <a:p>
            <a:pPr marL="173789" indent="-173789">
              <a:lnSpc>
                <a:spcPct val="70000"/>
              </a:lnSpc>
              <a:spcBef>
                <a:spcPts val="1200"/>
              </a:spcBef>
              <a:buFontTx/>
              <a:buAutoNum type="arabicPeriod"/>
              <a:defRPr sz="1600">
                <a:latin typeface="+mn-lt"/>
                <a:ea typeface="+mn-ea"/>
                <a:cs typeface="+mn-cs"/>
                <a:sym typeface="Helvetica"/>
              </a:defRPr>
            </a:pPr>
            <a:r>
              <a:t> Разработать архитектуру приложения</a:t>
            </a:r>
          </a:p>
          <a:p>
            <a:pPr marL="173789" indent="-173789">
              <a:lnSpc>
                <a:spcPct val="70000"/>
              </a:lnSpc>
              <a:spcBef>
                <a:spcPts val="1200"/>
              </a:spcBef>
              <a:buFontTx/>
              <a:buAutoNum type="arabicPeriod"/>
              <a:defRPr sz="1600">
                <a:latin typeface="+mn-lt"/>
                <a:ea typeface="+mn-ea"/>
                <a:cs typeface="+mn-cs"/>
                <a:sym typeface="Helvetica"/>
              </a:defRPr>
            </a:pPr>
            <a:r>
              <a:t> Выбрать стек технологий</a:t>
            </a:r>
          </a:p>
          <a:p>
            <a:pPr marL="173789" indent="-173789">
              <a:lnSpc>
                <a:spcPct val="70000"/>
              </a:lnSpc>
              <a:spcBef>
                <a:spcPts val="1200"/>
              </a:spcBef>
              <a:buFontTx/>
              <a:buAutoNum type="arabicPeriod"/>
              <a:defRPr sz="1600">
                <a:latin typeface="+mn-lt"/>
                <a:ea typeface="+mn-ea"/>
                <a:cs typeface="+mn-cs"/>
                <a:sym typeface="Helvetica"/>
              </a:defRPr>
            </a:pPr>
            <a:r>
              <a:t> Реализовать бизнес-логику</a:t>
            </a:r>
          </a:p>
          <a:p>
            <a:pPr marL="511342" lvl="1" indent="-130342">
              <a:lnSpc>
                <a:spcPct val="70000"/>
              </a:lnSpc>
              <a:spcBef>
                <a:spcPts val="1200"/>
              </a:spcBef>
              <a:buFontTx/>
              <a:defRPr sz="1600">
                <a:latin typeface="+mn-lt"/>
                <a:ea typeface="+mn-ea"/>
                <a:cs typeface="+mn-cs"/>
                <a:sym typeface="Helvetica"/>
              </a:defRPr>
            </a:pPr>
            <a:r>
              <a:t>Режим offline</a:t>
            </a:r>
          </a:p>
          <a:p>
            <a:pPr marL="511342" lvl="1" indent="-130342">
              <a:lnSpc>
                <a:spcPct val="70000"/>
              </a:lnSpc>
              <a:spcBef>
                <a:spcPts val="1200"/>
              </a:spcBef>
              <a:buFontTx/>
              <a:defRPr sz="1600">
                <a:latin typeface="+mn-lt"/>
                <a:ea typeface="+mn-ea"/>
                <a:cs typeface="+mn-cs"/>
                <a:sym typeface="Helvetica"/>
              </a:defRPr>
            </a:pPr>
            <a:r>
              <a:t>Режим online</a:t>
            </a:r>
          </a:p>
          <a:p>
            <a:pPr marL="511342" lvl="1" indent="-130342">
              <a:lnSpc>
                <a:spcPct val="70000"/>
              </a:lnSpc>
              <a:spcBef>
                <a:spcPts val="1200"/>
              </a:spcBef>
              <a:buFontTx/>
              <a:defRPr sz="1600">
                <a:latin typeface="+mn-lt"/>
                <a:ea typeface="+mn-ea"/>
                <a:cs typeface="+mn-cs"/>
                <a:sym typeface="Helvetica"/>
              </a:defRPr>
            </a:pPr>
            <a:r>
              <a:t>Переключение между режимами</a:t>
            </a:r>
          </a:p>
          <a:p>
            <a:pPr marL="173789" indent="-173789">
              <a:lnSpc>
                <a:spcPct val="70000"/>
              </a:lnSpc>
              <a:spcBef>
                <a:spcPts val="1200"/>
              </a:spcBef>
              <a:buFontTx/>
              <a:buAutoNum type="arabicPeriod"/>
              <a:defRPr sz="1600">
                <a:latin typeface="+mn-lt"/>
                <a:ea typeface="+mn-ea"/>
                <a:cs typeface="+mn-cs"/>
                <a:sym typeface="Helvetica"/>
              </a:defRPr>
            </a:pPr>
            <a:r>
              <a:t> Реализовать дизайн приложения</a:t>
            </a:r>
          </a:p>
        </p:txBody>
      </p:sp>
      <p:pic>
        <p:nvPicPr>
          <p:cNvPr id="226" name="ChatGPT Image Apr 21 2025 Streaming.png" descr="ChatGPT Image Apr 21 2025 Streaming.png"/>
          <p:cNvPicPr>
            <a:picLocks noChangeAspect="1"/>
          </p:cNvPicPr>
          <p:nvPr/>
        </p:nvPicPr>
        <p:blipFill>
          <a:blip r:embed="rId2"/>
          <a:srcRect l="29270" t="18350" r="29244" b="20233"/>
          <a:stretch>
            <a:fillRect/>
          </a:stretch>
        </p:blipFill>
        <p:spPr>
          <a:xfrm>
            <a:off x="6929048" y="1813118"/>
            <a:ext cx="1488847" cy="2204149"/>
          </a:xfrm>
          <a:custGeom>
            <a:avLst/>
            <a:gdLst/>
            <a:ahLst/>
            <a:cxnLst>
              <a:cxn ang="0">
                <a:pos x="wd2" y="hd2"/>
              </a:cxn>
              <a:cxn ang="5400000">
                <a:pos x="wd2" y="hd2"/>
              </a:cxn>
              <a:cxn ang="10800000">
                <a:pos x="wd2" y="hd2"/>
              </a:cxn>
              <a:cxn ang="16200000">
                <a:pos x="wd2" y="hd2"/>
              </a:cxn>
            </a:cxnLst>
            <a:rect l="0" t="0" r="r" b="b"/>
            <a:pathLst>
              <a:path w="21531" h="21581" extrusionOk="0">
                <a:moveTo>
                  <a:pt x="11496" y="0"/>
                </a:moveTo>
                <a:lnTo>
                  <a:pt x="11255" y="163"/>
                </a:lnTo>
                <a:lnTo>
                  <a:pt x="11020" y="326"/>
                </a:lnTo>
                <a:lnTo>
                  <a:pt x="11020" y="7395"/>
                </a:lnTo>
                <a:lnTo>
                  <a:pt x="11020" y="14459"/>
                </a:lnTo>
                <a:lnTo>
                  <a:pt x="10498" y="14284"/>
                </a:lnTo>
                <a:cubicBezTo>
                  <a:pt x="10213" y="14187"/>
                  <a:pt x="9925" y="14109"/>
                  <a:pt x="9855" y="14109"/>
                </a:cubicBezTo>
                <a:cubicBezTo>
                  <a:pt x="9785" y="14109"/>
                  <a:pt x="9716" y="14095"/>
                  <a:pt x="9700" y="14078"/>
                </a:cubicBezTo>
                <a:cubicBezTo>
                  <a:pt x="9684" y="14061"/>
                  <a:pt x="9592" y="14035"/>
                  <a:pt x="9499" y="14024"/>
                </a:cubicBezTo>
                <a:cubicBezTo>
                  <a:pt x="9406" y="14013"/>
                  <a:pt x="9203" y="13989"/>
                  <a:pt x="9046" y="13966"/>
                </a:cubicBezTo>
                <a:cubicBezTo>
                  <a:pt x="8691" y="13914"/>
                  <a:pt x="7312" y="13910"/>
                  <a:pt x="6893" y="13962"/>
                </a:cubicBezTo>
                <a:cubicBezTo>
                  <a:pt x="6722" y="13983"/>
                  <a:pt x="6462" y="14014"/>
                  <a:pt x="6319" y="14032"/>
                </a:cubicBezTo>
                <a:cubicBezTo>
                  <a:pt x="6177" y="14049"/>
                  <a:pt x="5954" y="14089"/>
                  <a:pt x="5826" y="14121"/>
                </a:cubicBezTo>
                <a:cubicBezTo>
                  <a:pt x="5697" y="14153"/>
                  <a:pt x="5554" y="14179"/>
                  <a:pt x="5504" y="14179"/>
                </a:cubicBezTo>
                <a:cubicBezTo>
                  <a:pt x="5455" y="14180"/>
                  <a:pt x="5340" y="14211"/>
                  <a:pt x="5246" y="14249"/>
                </a:cubicBezTo>
                <a:cubicBezTo>
                  <a:pt x="5153" y="14288"/>
                  <a:pt x="5051" y="14319"/>
                  <a:pt x="5017" y="14319"/>
                </a:cubicBezTo>
                <a:cubicBezTo>
                  <a:pt x="4935" y="14319"/>
                  <a:pt x="3730" y="14716"/>
                  <a:pt x="3708" y="14750"/>
                </a:cubicBezTo>
                <a:cubicBezTo>
                  <a:pt x="3698" y="14765"/>
                  <a:pt x="3657" y="14774"/>
                  <a:pt x="3616" y="14774"/>
                </a:cubicBezTo>
                <a:cubicBezTo>
                  <a:pt x="3576" y="14774"/>
                  <a:pt x="3547" y="14792"/>
                  <a:pt x="3547" y="14813"/>
                </a:cubicBezTo>
                <a:cubicBezTo>
                  <a:pt x="3547" y="14833"/>
                  <a:pt x="3522" y="14839"/>
                  <a:pt x="3496" y="14828"/>
                </a:cubicBezTo>
                <a:cubicBezTo>
                  <a:pt x="3469" y="14817"/>
                  <a:pt x="3415" y="14836"/>
                  <a:pt x="3369" y="14867"/>
                </a:cubicBezTo>
                <a:cubicBezTo>
                  <a:pt x="3324" y="14898"/>
                  <a:pt x="3283" y="14909"/>
                  <a:pt x="3283" y="14894"/>
                </a:cubicBezTo>
                <a:cubicBezTo>
                  <a:pt x="3283" y="14879"/>
                  <a:pt x="3203" y="14931"/>
                  <a:pt x="3100" y="15007"/>
                </a:cubicBezTo>
                <a:cubicBezTo>
                  <a:pt x="2996" y="15083"/>
                  <a:pt x="2906" y="15137"/>
                  <a:pt x="2899" y="15127"/>
                </a:cubicBezTo>
                <a:cubicBezTo>
                  <a:pt x="2882" y="15104"/>
                  <a:pt x="2541" y="15298"/>
                  <a:pt x="2038" y="15617"/>
                </a:cubicBezTo>
                <a:cubicBezTo>
                  <a:pt x="1811" y="15760"/>
                  <a:pt x="1635" y="15884"/>
                  <a:pt x="1648" y="15893"/>
                </a:cubicBezTo>
                <a:cubicBezTo>
                  <a:pt x="1660" y="15902"/>
                  <a:pt x="1564" y="15988"/>
                  <a:pt x="1429" y="16083"/>
                </a:cubicBezTo>
                <a:cubicBezTo>
                  <a:pt x="1295" y="16179"/>
                  <a:pt x="1171" y="16274"/>
                  <a:pt x="1160" y="16297"/>
                </a:cubicBezTo>
                <a:cubicBezTo>
                  <a:pt x="1148" y="16320"/>
                  <a:pt x="1103" y="16361"/>
                  <a:pt x="1056" y="16390"/>
                </a:cubicBezTo>
                <a:cubicBezTo>
                  <a:pt x="1010" y="16419"/>
                  <a:pt x="907" y="16539"/>
                  <a:pt x="827" y="16654"/>
                </a:cubicBezTo>
                <a:cubicBezTo>
                  <a:pt x="747" y="16770"/>
                  <a:pt x="653" y="16890"/>
                  <a:pt x="615" y="16919"/>
                </a:cubicBezTo>
                <a:cubicBezTo>
                  <a:pt x="577" y="16948"/>
                  <a:pt x="505" y="17039"/>
                  <a:pt x="460" y="17121"/>
                </a:cubicBezTo>
                <a:cubicBezTo>
                  <a:pt x="415" y="17203"/>
                  <a:pt x="339" y="17338"/>
                  <a:pt x="293" y="17420"/>
                </a:cubicBezTo>
                <a:cubicBezTo>
                  <a:pt x="76" y="17805"/>
                  <a:pt x="1" y="18103"/>
                  <a:pt x="0" y="18570"/>
                </a:cubicBezTo>
                <a:cubicBezTo>
                  <a:pt x="0" y="18792"/>
                  <a:pt x="26" y="19047"/>
                  <a:pt x="58" y="19134"/>
                </a:cubicBezTo>
                <a:cubicBezTo>
                  <a:pt x="89" y="19221"/>
                  <a:pt x="136" y="19356"/>
                  <a:pt x="161" y="19433"/>
                </a:cubicBezTo>
                <a:cubicBezTo>
                  <a:pt x="201" y="19554"/>
                  <a:pt x="495" y="19969"/>
                  <a:pt x="781" y="20307"/>
                </a:cubicBezTo>
                <a:cubicBezTo>
                  <a:pt x="900" y="20448"/>
                  <a:pt x="1488" y="20830"/>
                  <a:pt x="1808" y="20975"/>
                </a:cubicBezTo>
                <a:cubicBezTo>
                  <a:pt x="2307" y="21202"/>
                  <a:pt x="3391" y="21522"/>
                  <a:pt x="3668" y="21523"/>
                </a:cubicBezTo>
                <a:cubicBezTo>
                  <a:pt x="3757" y="21524"/>
                  <a:pt x="3866" y="21539"/>
                  <a:pt x="3909" y="21558"/>
                </a:cubicBezTo>
                <a:cubicBezTo>
                  <a:pt x="4002" y="21600"/>
                  <a:pt x="5943" y="21579"/>
                  <a:pt x="6480" y="21531"/>
                </a:cubicBezTo>
                <a:cubicBezTo>
                  <a:pt x="6680" y="21513"/>
                  <a:pt x="6949" y="21474"/>
                  <a:pt x="7077" y="21442"/>
                </a:cubicBezTo>
                <a:cubicBezTo>
                  <a:pt x="7205" y="21410"/>
                  <a:pt x="7344" y="21384"/>
                  <a:pt x="7387" y="21383"/>
                </a:cubicBezTo>
                <a:cubicBezTo>
                  <a:pt x="7430" y="21383"/>
                  <a:pt x="7554" y="21350"/>
                  <a:pt x="7668" y="21314"/>
                </a:cubicBezTo>
                <a:cubicBezTo>
                  <a:pt x="7782" y="21277"/>
                  <a:pt x="8051" y="21197"/>
                  <a:pt x="8265" y="21135"/>
                </a:cubicBezTo>
                <a:cubicBezTo>
                  <a:pt x="8479" y="21073"/>
                  <a:pt x="8716" y="21002"/>
                  <a:pt x="8787" y="20975"/>
                </a:cubicBezTo>
                <a:cubicBezTo>
                  <a:pt x="8859" y="20949"/>
                  <a:pt x="9113" y="20859"/>
                  <a:pt x="9356" y="20777"/>
                </a:cubicBezTo>
                <a:cubicBezTo>
                  <a:pt x="9598" y="20695"/>
                  <a:pt x="9858" y="20587"/>
                  <a:pt x="9929" y="20536"/>
                </a:cubicBezTo>
                <a:cubicBezTo>
                  <a:pt x="10001" y="20485"/>
                  <a:pt x="10085" y="20438"/>
                  <a:pt x="10113" y="20431"/>
                </a:cubicBezTo>
                <a:cubicBezTo>
                  <a:pt x="10278" y="20396"/>
                  <a:pt x="11513" y="19631"/>
                  <a:pt x="11462" y="19596"/>
                </a:cubicBezTo>
                <a:cubicBezTo>
                  <a:pt x="11449" y="19587"/>
                  <a:pt x="11533" y="19516"/>
                  <a:pt x="11645" y="19437"/>
                </a:cubicBezTo>
                <a:cubicBezTo>
                  <a:pt x="11758" y="19357"/>
                  <a:pt x="11846" y="19273"/>
                  <a:pt x="11846" y="19250"/>
                </a:cubicBezTo>
                <a:cubicBezTo>
                  <a:pt x="11847" y="19227"/>
                  <a:pt x="11894" y="19187"/>
                  <a:pt x="11950" y="19161"/>
                </a:cubicBezTo>
                <a:cubicBezTo>
                  <a:pt x="12047" y="19115"/>
                  <a:pt x="12265" y="18885"/>
                  <a:pt x="12552" y="18524"/>
                </a:cubicBezTo>
                <a:cubicBezTo>
                  <a:pt x="12673" y="18372"/>
                  <a:pt x="12909" y="17925"/>
                  <a:pt x="13052" y="17587"/>
                </a:cubicBezTo>
                <a:cubicBezTo>
                  <a:pt x="13198" y="17241"/>
                  <a:pt x="13216" y="16762"/>
                  <a:pt x="13247" y="10701"/>
                </a:cubicBezTo>
                <a:cubicBezTo>
                  <a:pt x="13265" y="7252"/>
                  <a:pt x="13280" y="4448"/>
                  <a:pt x="13287" y="4473"/>
                </a:cubicBezTo>
                <a:cubicBezTo>
                  <a:pt x="13294" y="4497"/>
                  <a:pt x="13335" y="4515"/>
                  <a:pt x="13373" y="4515"/>
                </a:cubicBezTo>
                <a:cubicBezTo>
                  <a:pt x="13451" y="4515"/>
                  <a:pt x="14738" y="4956"/>
                  <a:pt x="14860" y="5024"/>
                </a:cubicBezTo>
                <a:cubicBezTo>
                  <a:pt x="14902" y="5048"/>
                  <a:pt x="15054" y="5111"/>
                  <a:pt x="15198" y="5160"/>
                </a:cubicBezTo>
                <a:cubicBezTo>
                  <a:pt x="15526" y="5272"/>
                  <a:pt x="16109" y="5531"/>
                  <a:pt x="16185" y="5599"/>
                </a:cubicBezTo>
                <a:cubicBezTo>
                  <a:pt x="16221" y="5631"/>
                  <a:pt x="16272" y="5640"/>
                  <a:pt x="16317" y="5623"/>
                </a:cubicBezTo>
                <a:cubicBezTo>
                  <a:pt x="16357" y="5607"/>
                  <a:pt x="16372" y="5608"/>
                  <a:pt x="16352" y="5623"/>
                </a:cubicBezTo>
                <a:cubicBezTo>
                  <a:pt x="16297" y="5664"/>
                  <a:pt x="16529" y="5777"/>
                  <a:pt x="16621" y="5755"/>
                </a:cubicBezTo>
                <a:cubicBezTo>
                  <a:pt x="16665" y="5744"/>
                  <a:pt x="16686" y="5744"/>
                  <a:pt x="16667" y="5759"/>
                </a:cubicBezTo>
                <a:cubicBezTo>
                  <a:pt x="16648" y="5773"/>
                  <a:pt x="16727" y="5843"/>
                  <a:pt x="16845" y="5914"/>
                </a:cubicBezTo>
                <a:cubicBezTo>
                  <a:pt x="17415" y="6256"/>
                  <a:pt x="17845" y="6552"/>
                  <a:pt x="18005" y="6715"/>
                </a:cubicBezTo>
                <a:cubicBezTo>
                  <a:pt x="18102" y="6813"/>
                  <a:pt x="18183" y="6903"/>
                  <a:pt x="18183" y="6917"/>
                </a:cubicBezTo>
                <a:cubicBezTo>
                  <a:pt x="18183" y="6930"/>
                  <a:pt x="18229" y="6976"/>
                  <a:pt x="18286" y="7018"/>
                </a:cubicBezTo>
                <a:cubicBezTo>
                  <a:pt x="18343" y="7059"/>
                  <a:pt x="18389" y="7123"/>
                  <a:pt x="18389" y="7158"/>
                </a:cubicBezTo>
                <a:cubicBezTo>
                  <a:pt x="18389" y="7193"/>
                  <a:pt x="18411" y="7220"/>
                  <a:pt x="18441" y="7220"/>
                </a:cubicBezTo>
                <a:cubicBezTo>
                  <a:pt x="18471" y="7220"/>
                  <a:pt x="18486" y="7237"/>
                  <a:pt x="18470" y="7255"/>
                </a:cubicBezTo>
                <a:cubicBezTo>
                  <a:pt x="18453" y="7273"/>
                  <a:pt x="18472" y="7311"/>
                  <a:pt x="18515" y="7340"/>
                </a:cubicBezTo>
                <a:cubicBezTo>
                  <a:pt x="18559" y="7369"/>
                  <a:pt x="18596" y="7409"/>
                  <a:pt x="18596" y="7430"/>
                </a:cubicBezTo>
                <a:cubicBezTo>
                  <a:pt x="18596" y="7450"/>
                  <a:pt x="18623" y="7468"/>
                  <a:pt x="18653" y="7468"/>
                </a:cubicBezTo>
                <a:cubicBezTo>
                  <a:pt x="18683" y="7468"/>
                  <a:pt x="18692" y="7482"/>
                  <a:pt x="18676" y="7500"/>
                </a:cubicBezTo>
                <a:cubicBezTo>
                  <a:pt x="18660" y="7517"/>
                  <a:pt x="18675" y="7552"/>
                  <a:pt x="18711" y="7577"/>
                </a:cubicBezTo>
                <a:cubicBezTo>
                  <a:pt x="18747" y="7603"/>
                  <a:pt x="18787" y="7665"/>
                  <a:pt x="18797" y="7713"/>
                </a:cubicBezTo>
                <a:cubicBezTo>
                  <a:pt x="18807" y="7762"/>
                  <a:pt x="18830" y="7809"/>
                  <a:pt x="18848" y="7818"/>
                </a:cubicBezTo>
                <a:cubicBezTo>
                  <a:pt x="18867" y="7828"/>
                  <a:pt x="18890" y="7875"/>
                  <a:pt x="18900" y="7923"/>
                </a:cubicBezTo>
                <a:cubicBezTo>
                  <a:pt x="18910" y="7971"/>
                  <a:pt x="18942" y="8022"/>
                  <a:pt x="18975" y="8036"/>
                </a:cubicBezTo>
                <a:cubicBezTo>
                  <a:pt x="19007" y="8050"/>
                  <a:pt x="19021" y="8063"/>
                  <a:pt x="19003" y="8063"/>
                </a:cubicBezTo>
                <a:cubicBezTo>
                  <a:pt x="18986" y="8063"/>
                  <a:pt x="18994" y="8132"/>
                  <a:pt x="19021" y="8215"/>
                </a:cubicBezTo>
                <a:cubicBezTo>
                  <a:pt x="19145" y="8594"/>
                  <a:pt x="19181" y="8819"/>
                  <a:pt x="19181" y="9275"/>
                </a:cubicBezTo>
                <a:cubicBezTo>
                  <a:pt x="19181" y="9742"/>
                  <a:pt x="19136" y="10025"/>
                  <a:pt x="19021" y="10321"/>
                </a:cubicBezTo>
                <a:cubicBezTo>
                  <a:pt x="18992" y="10393"/>
                  <a:pt x="18985" y="10452"/>
                  <a:pt x="19003" y="10453"/>
                </a:cubicBezTo>
                <a:cubicBezTo>
                  <a:pt x="19022" y="10453"/>
                  <a:pt x="19007" y="10466"/>
                  <a:pt x="18975" y="10480"/>
                </a:cubicBezTo>
                <a:cubicBezTo>
                  <a:pt x="18942" y="10494"/>
                  <a:pt x="18910" y="10544"/>
                  <a:pt x="18900" y="10593"/>
                </a:cubicBezTo>
                <a:cubicBezTo>
                  <a:pt x="18890" y="10641"/>
                  <a:pt x="18867" y="10692"/>
                  <a:pt x="18848" y="10701"/>
                </a:cubicBezTo>
                <a:cubicBezTo>
                  <a:pt x="18830" y="10711"/>
                  <a:pt x="18807" y="10758"/>
                  <a:pt x="18797" y="10806"/>
                </a:cubicBezTo>
                <a:cubicBezTo>
                  <a:pt x="18787" y="10855"/>
                  <a:pt x="18764" y="10902"/>
                  <a:pt x="18745" y="10911"/>
                </a:cubicBezTo>
                <a:cubicBezTo>
                  <a:pt x="18727" y="10921"/>
                  <a:pt x="18703" y="10968"/>
                  <a:pt x="18693" y="11016"/>
                </a:cubicBezTo>
                <a:cubicBezTo>
                  <a:pt x="18683" y="11065"/>
                  <a:pt x="18655" y="11111"/>
                  <a:pt x="18636" y="11121"/>
                </a:cubicBezTo>
                <a:cubicBezTo>
                  <a:pt x="18617" y="11131"/>
                  <a:pt x="18594" y="11163"/>
                  <a:pt x="18584" y="11191"/>
                </a:cubicBezTo>
                <a:cubicBezTo>
                  <a:pt x="18575" y="11219"/>
                  <a:pt x="18540" y="11262"/>
                  <a:pt x="18504" y="11288"/>
                </a:cubicBezTo>
                <a:cubicBezTo>
                  <a:pt x="18468" y="11314"/>
                  <a:pt x="18453" y="11352"/>
                  <a:pt x="18470" y="11370"/>
                </a:cubicBezTo>
                <a:cubicBezTo>
                  <a:pt x="18486" y="11388"/>
                  <a:pt x="18471" y="11401"/>
                  <a:pt x="18441" y="11401"/>
                </a:cubicBezTo>
                <a:cubicBezTo>
                  <a:pt x="18411" y="11401"/>
                  <a:pt x="18389" y="11432"/>
                  <a:pt x="18389" y="11467"/>
                </a:cubicBezTo>
                <a:cubicBezTo>
                  <a:pt x="18389" y="11502"/>
                  <a:pt x="18348" y="11562"/>
                  <a:pt x="18297" y="11599"/>
                </a:cubicBezTo>
                <a:cubicBezTo>
                  <a:pt x="18156" y="11704"/>
                  <a:pt x="17867" y="12089"/>
                  <a:pt x="17867" y="12174"/>
                </a:cubicBezTo>
                <a:cubicBezTo>
                  <a:pt x="17867" y="12279"/>
                  <a:pt x="18005" y="12445"/>
                  <a:pt x="18125" y="12489"/>
                </a:cubicBezTo>
                <a:cubicBezTo>
                  <a:pt x="18324" y="12561"/>
                  <a:pt x="18516" y="12531"/>
                  <a:pt x="18831" y="12372"/>
                </a:cubicBezTo>
                <a:cubicBezTo>
                  <a:pt x="19001" y="12287"/>
                  <a:pt x="19226" y="12155"/>
                  <a:pt x="19330" y="12081"/>
                </a:cubicBezTo>
                <a:cubicBezTo>
                  <a:pt x="19704" y="11816"/>
                  <a:pt x="20009" y="11580"/>
                  <a:pt x="19973" y="11580"/>
                </a:cubicBezTo>
                <a:cubicBezTo>
                  <a:pt x="19953" y="11580"/>
                  <a:pt x="19974" y="11552"/>
                  <a:pt x="20019" y="11521"/>
                </a:cubicBezTo>
                <a:cubicBezTo>
                  <a:pt x="20064" y="11491"/>
                  <a:pt x="20087" y="11454"/>
                  <a:pt x="20071" y="11436"/>
                </a:cubicBezTo>
                <a:cubicBezTo>
                  <a:pt x="20055" y="11418"/>
                  <a:pt x="20069" y="11401"/>
                  <a:pt x="20100" y="11401"/>
                </a:cubicBezTo>
                <a:cubicBezTo>
                  <a:pt x="20130" y="11401"/>
                  <a:pt x="20151" y="11381"/>
                  <a:pt x="20151" y="11354"/>
                </a:cubicBezTo>
                <a:cubicBezTo>
                  <a:pt x="20151" y="11327"/>
                  <a:pt x="20187" y="11296"/>
                  <a:pt x="20232" y="11284"/>
                </a:cubicBezTo>
                <a:cubicBezTo>
                  <a:pt x="20276" y="11273"/>
                  <a:pt x="20301" y="11246"/>
                  <a:pt x="20283" y="11226"/>
                </a:cubicBezTo>
                <a:cubicBezTo>
                  <a:pt x="20265" y="11207"/>
                  <a:pt x="20276" y="11191"/>
                  <a:pt x="20306" y="11191"/>
                </a:cubicBezTo>
                <a:cubicBezTo>
                  <a:pt x="20336" y="11191"/>
                  <a:pt x="20358" y="11160"/>
                  <a:pt x="20358" y="11121"/>
                </a:cubicBezTo>
                <a:cubicBezTo>
                  <a:pt x="20358" y="11082"/>
                  <a:pt x="20381" y="11051"/>
                  <a:pt x="20409" y="11051"/>
                </a:cubicBezTo>
                <a:cubicBezTo>
                  <a:pt x="20438" y="11051"/>
                  <a:pt x="20467" y="11028"/>
                  <a:pt x="20467" y="11001"/>
                </a:cubicBezTo>
                <a:cubicBezTo>
                  <a:pt x="20467" y="10974"/>
                  <a:pt x="20532" y="10863"/>
                  <a:pt x="20616" y="10756"/>
                </a:cubicBezTo>
                <a:cubicBezTo>
                  <a:pt x="20700" y="10648"/>
                  <a:pt x="20842" y="10417"/>
                  <a:pt x="20932" y="10239"/>
                </a:cubicBezTo>
                <a:cubicBezTo>
                  <a:pt x="21021" y="10061"/>
                  <a:pt x="21126" y="9869"/>
                  <a:pt x="21167" y="9815"/>
                </a:cubicBezTo>
                <a:cubicBezTo>
                  <a:pt x="21208" y="9762"/>
                  <a:pt x="21242" y="9672"/>
                  <a:pt x="21242" y="9617"/>
                </a:cubicBezTo>
                <a:cubicBezTo>
                  <a:pt x="21242" y="9562"/>
                  <a:pt x="21262" y="9504"/>
                  <a:pt x="21288" y="9485"/>
                </a:cubicBezTo>
                <a:cubicBezTo>
                  <a:pt x="21410" y="9398"/>
                  <a:pt x="21600" y="7930"/>
                  <a:pt x="21506" y="7803"/>
                </a:cubicBezTo>
                <a:cubicBezTo>
                  <a:pt x="21476" y="7762"/>
                  <a:pt x="21443" y="7619"/>
                  <a:pt x="21431" y="7484"/>
                </a:cubicBezTo>
                <a:cubicBezTo>
                  <a:pt x="21419" y="7349"/>
                  <a:pt x="21386" y="7167"/>
                  <a:pt x="21356" y="7080"/>
                </a:cubicBezTo>
                <a:cubicBezTo>
                  <a:pt x="21327" y="6993"/>
                  <a:pt x="21280" y="6858"/>
                  <a:pt x="21253" y="6781"/>
                </a:cubicBezTo>
                <a:cubicBezTo>
                  <a:pt x="21153" y="6493"/>
                  <a:pt x="20990" y="6211"/>
                  <a:pt x="20719" y="5852"/>
                </a:cubicBezTo>
                <a:cubicBezTo>
                  <a:pt x="20566" y="5649"/>
                  <a:pt x="20419" y="5478"/>
                  <a:pt x="20398" y="5471"/>
                </a:cubicBezTo>
                <a:cubicBezTo>
                  <a:pt x="20377" y="5465"/>
                  <a:pt x="20358" y="5436"/>
                  <a:pt x="20358" y="5409"/>
                </a:cubicBezTo>
                <a:cubicBezTo>
                  <a:pt x="20358" y="5382"/>
                  <a:pt x="20336" y="5358"/>
                  <a:pt x="20306" y="5358"/>
                </a:cubicBezTo>
                <a:cubicBezTo>
                  <a:pt x="20276" y="5358"/>
                  <a:pt x="20261" y="5345"/>
                  <a:pt x="20277" y="5327"/>
                </a:cubicBezTo>
                <a:cubicBezTo>
                  <a:pt x="20294" y="5310"/>
                  <a:pt x="20276" y="5268"/>
                  <a:pt x="20232" y="5238"/>
                </a:cubicBezTo>
                <a:cubicBezTo>
                  <a:pt x="20187" y="5208"/>
                  <a:pt x="20146" y="5172"/>
                  <a:pt x="20145" y="5156"/>
                </a:cubicBezTo>
                <a:cubicBezTo>
                  <a:pt x="20145" y="5141"/>
                  <a:pt x="20080" y="5082"/>
                  <a:pt x="20002" y="5024"/>
                </a:cubicBezTo>
                <a:cubicBezTo>
                  <a:pt x="19924" y="4966"/>
                  <a:pt x="19863" y="4910"/>
                  <a:pt x="19864" y="4900"/>
                </a:cubicBezTo>
                <a:cubicBezTo>
                  <a:pt x="19870" y="4855"/>
                  <a:pt x="19556" y="4622"/>
                  <a:pt x="18791" y="4103"/>
                </a:cubicBezTo>
                <a:cubicBezTo>
                  <a:pt x="17925" y="3516"/>
                  <a:pt x="17570" y="3296"/>
                  <a:pt x="17500" y="3311"/>
                </a:cubicBezTo>
                <a:cubicBezTo>
                  <a:pt x="17476" y="3316"/>
                  <a:pt x="17454" y="3303"/>
                  <a:pt x="17454" y="3283"/>
                </a:cubicBezTo>
                <a:cubicBezTo>
                  <a:pt x="17454" y="3264"/>
                  <a:pt x="17429" y="3249"/>
                  <a:pt x="17396" y="3249"/>
                </a:cubicBezTo>
                <a:cubicBezTo>
                  <a:pt x="17364" y="3249"/>
                  <a:pt x="17290" y="3217"/>
                  <a:pt x="17236" y="3175"/>
                </a:cubicBezTo>
                <a:cubicBezTo>
                  <a:pt x="17181" y="3132"/>
                  <a:pt x="17100" y="3090"/>
                  <a:pt x="17052" y="3085"/>
                </a:cubicBezTo>
                <a:cubicBezTo>
                  <a:pt x="17004" y="3081"/>
                  <a:pt x="16935" y="3053"/>
                  <a:pt x="16903" y="3023"/>
                </a:cubicBezTo>
                <a:cubicBezTo>
                  <a:pt x="16870" y="2993"/>
                  <a:pt x="16821" y="2969"/>
                  <a:pt x="16794" y="2969"/>
                </a:cubicBezTo>
                <a:cubicBezTo>
                  <a:pt x="16767" y="2969"/>
                  <a:pt x="16701" y="2940"/>
                  <a:pt x="16644" y="2907"/>
                </a:cubicBezTo>
                <a:cubicBezTo>
                  <a:pt x="16536" y="2842"/>
                  <a:pt x="16434" y="2797"/>
                  <a:pt x="16191" y="2697"/>
                </a:cubicBezTo>
                <a:cubicBezTo>
                  <a:pt x="15834" y="2550"/>
                  <a:pt x="15537" y="2413"/>
                  <a:pt x="15273" y="2277"/>
                </a:cubicBezTo>
                <a:cubicBezTo>
                  <a:pt x="14959" y="2116"/>
                  <a:pt x="13977" y="1454"/>
                  <a:pt x="13976" y="1403"/>
                </a:cubicBezTo>
                <a:cubicBezTo>
                  <a:pt x="13975" y="1385"/>
                  <a:pt x="13887" y="1305"/>
                  <a:pt x="13781" y="1228"/>
                </a:cubicBezTo>
                <a:cubicBezTo>
                  <a:pt x="13674" y="1150"/>
                  <a:pt x="13578" y="1066"/>
                  <a:pt x="13568" y="1038"/>
                </a:cubicBezTo>
                <a:cubicBezTo>
                  <a:pt x="13559" y="1009"/>
                  <a:pt x="13527" y="974"/>
                  <a:pt x="13494" y="960"/>
                </a:cubicBezTo>
                <a:cubicBezTo>
                  <a:pt x="13460" y="945"/>
                  <a:pt x="13449" y="933"/>
                  <a:pt x="13471" y="933"/>
                </a:cubicBezTo>
                <a:cubicBezTo>
                  <a:pt x="13492" y="932"/>
                  <a:pt x="13430" y="855"/>
                  <a:pt x="13333" y="762"/>
                </a:cubicBezTo>
                <a:cubicBezTo>
                  <a:pt x="13236" y="668"/>
                  <a:pt x="13118" y="536"/>
                  <a:pt x="13069" y="470"/>
                </a:cubicBezTo>
                <a:cubicBezTo>
                  <a:pt x="13019" y="404"/>
                  <a:pt x="12860" y="271"/>
                  <a:pt x="12713" y="175"/>
                </a:cubicBezTo>
                <a:lnTo>
                  <a:pt x="12443" y="0"/>
                </a:lnTo>
                <a:lnTo>
                  <a:pt x="11973" y="0"/>
                </a:lnTo>
                <a:lnTo>
                  <a:pt x="11496" y="0"/>
                </a:lnTo>
                <a:close/>
              </a:path>
            </a:pathLst>
          </a:custGeom>
          <a:ln w="12700">
            <a:miter lim="400000"/>
          </a:ln>
        </p:spPr>
      </p:pic>
      <p:pic>
        <p:nvPicPr>
          <p:cNvPr id="227" name="ChatGPT Image Apr 21 2025 Logic.png" descr="ChatGPT Image Apr 21 2025 Logic.png"/>
          <p:cNvPicPr>
            <a:picLocks noChangeAspect="1"/>
          </p:cNvPicPr>
          <p:nvPr/>
        </p:nvPicPr>
        <p:blipFill>
          <a:blip r:embed="rId3"/>
          <a:srcRect l="22458" t="6900" r="22410" b="6894"/>
          <a:stretch>
            <a:fillRect/>
          </a:stretch>
        </p:blipFill>
        <p:spPr>
          <a:xfrm>
            <a:off x="9888688" y="2404407"/>
            <a:ext cx="1666539" cy="2605882"/>
          </a:xfrm>
          <a:custGeom>
            <a:avLst/>
            <a:gdLst/>
            <a:ahLst/>
            <a:cxnLst>
              <a:cxn ang="0">
                <a:pos x="wd2" y="hd2"/>
              </a:cxn>
              <a:cxn ang="5400000">
                <a:pos x="wd2" y="hd2"/>
              </a:cxn>
              <a:cxn ang="10800000">
                <a:pos x="wd2" y="hd2"/>
              </a:cxn>
              <a:cxn ang="16200000">
                <a:pos x="wd2" y="hd2"/>
              </a:cxn>
            </a:cxnLst>
            <a:rect l="0" t="0" r="r" b="b"/>
            <a:pathLst>
              <a:path w="21573" h="21600" extrusionOk="0">
                <a:moveTo>
                  <a:pt x="11112" y="0"/>
                </a:moveTo>
                <a:cubicBezTo>
                  <a:pt x="7082" y="0"/>
                  <a:pt x="5024" y="10"/>
                  <a:pt x="5024" y="26"/>
                </a:cubicBezTo>
                <a:cubicBezTo>
                  <a:pt x="5024" y="43"/>
                  <a:pt x="4555" y="49"/>
                  <a:pt x="3694" y="49"/>
                </a:cubicBezTo>
                <a:cubicBezTo>
                  <a:pt x="2962" y="49"/>
                  <a:pt x="2363" y="58"/>
                  <a:pt x="2363" y="69"/>
                </a:cubicBezTo>
                <a:cubicBezTo>
                  <a:pt x="2363" y="80"/>
                  <a:pt x="2299" y="92"/>
                  <a:pt x="2219" y="95"/>
                </a:cubicBezTo>
                <a:cubicBezTo>
                  <a:pt x="2139" y="99"/>
                  <a:pt x="2061" y="112"/>
                  <a:pt x="2050" y="122"/>
                </a:cubicBezTo>
                <a:cubicBezTo>
                  <a:pt x="2038" y="131"/>
                  <a:pt x="1985" y="143"/>
                  <a:pt x="1932" y="148"/>
                </a:cubicBezTo>
                <a:cubicBezTo>
                  <a:pt x="1878" y="153"/>
                  <a:pt x="1824" y="168"/>
                  <a:pt x="1808" y="184"/>
                </a:cubicBezTo>
                <a:cubicBezTo>
                  <a:pt x="1793" y="200"/>
                  <a:pt x="1778" y="205"/>
                  <a:pt x="1778" y="194"/>
                </a:cubicBezTo>
                <a:cubicBezTo>
                  <a:pt x="1777" y="164"/>
                  <a:pt x="1509" y="241"/>
                  <a:pt x="1290" y="336"/>
                </a:cubicBezTo>
                <a:cubicBezTo>
                  <a:pt x="1085" y="424"/>
                  <a:pt x="399" y="852"/>
                  <a:pt x="462" y="852"/>
                </a:cubicBezTo>
                <a:cubicBezTo>
                  <a:pt x="482" y="852"/>
                  <a:pt x="468" y="868"/>
                  <a:pt x="426" y="888"/>
                </a:cubicBezTo>
                <a:cubicBezTo>
                  <a:pt x="385" y="908"/>
                  <a:pt x="362" y="927"/>
                  <a:pt x="380" y="928"/>
                </a:cubicBezTo>
                <a:cubicBezTo>
                  <a:pt x="398" y="928"/>
                  <a:pt x="383" y="945"/>
                  <a:pt x="349" y="967"/>
                </a:cubicBezTo>
                <a:cubicBezTo>
                  <a:pt x="315" y="989"/>
                  <a:pt x="301" y="1017"/>
                  <a:pt x="313" y="1030"/>
                </a:cubicBezTo>
                <a:cubicBezTo>
                  <a:pt x="326" y="1042"/>
                  <a:pt x="316" y="1053"/>
                  <a:pt x="293" y="1053"/>
                </a:cubicBezTo>
                <a:cubicBezTo>
                  <a:pt x="270" y="1053"/>
                  <a:pt x="252" y="1074"/>
                  <a:pt x="252" y="1102"/>
                </a:cubicBezTo>
                <a:cubicBezTo>
                  <a:pt x="252" y="1130"/>
                  <a:pt x="239" y="1151"/>
                  <a:pt x="221" y="1151"/>
                </a:cubicBezTo>
                <a:cubicBezTo>
                  <a:pt x="203" y="1151"/>
                  <a:pt x="165" y="1208"/>
                  <a:pt x="139" y="1273"/>
                </a:cubicBezTo>
                <a:cubicBezTo>
                  <a:pt x="112" y="1339"/>
                  <a:pt x="71" y="1435"/>
                  <a:pt x="46" y="1490"/>
                </a:cubicBezTo>
                <a:cubicBezTo>
                  <a:pt x="12" y="1565"/>
                  <a:pt x="0" y="3887"/>
                  <a:pt x="0" y="10774"/>
                </a:cubicBezTo>
                <a:cubicBezTo>
                  <a:pt x="0" y="17660"/>
                  <a:pt x="12" y="19982"/>
                  <a:pt x="46" y="20057"/>
                </a:cubicBezTo>
                <a:cubicBezTo>
                  <a:pt x="71" y="20112"/>
                  <a:pt x="112" y="20212"/>
                  <a:pt x="139" y="20278"/>
                </a:cubicBezTo>
                <a:cubicBezTo>
                  <a:pt x="165" y="20343"/>
                  <a:pt x="203" y="20396"/>
                  <a:pt x="221" y="20396"/>
                </a:cubicBezTo>
                <a:cubicBezTo>
                  <a:pt x="239" y="20396"/>
                  <a:pt x="252" y="20418"/>
                  <a:pt x="252" y="20445"/>
                </a:cubicBezTo>
                <a:cubicBezTo>
                  <a:pt x="252" y="20473"/>
                  <a:pt x="270" y="20495"/>
                  <a:pt x="293" y="20495"/>
                </a:cubicBezTo>
                <a:cubicBezTo>
                  <a:pt x="316" y="20495"/>
                  <a:pt x="326" y="20505"/>
                  <a:pt x="313" y="20518"/>
                </a:cubicBezTo>
                <a:cubicBezTo>
                  <a:pt x="301" y="20530"/>
                  <a:pt x="315" y="20558"/>
                  <a:pt x="349" y="20580"/>
                </a:cubicBezTo>
                <a:cubicBezTo>
                  <a:pt x="383" y="20602"/>
                  <a:pt x="404" y="20623"/>
                  <a:pt x="390" y="20623"/>
                </a:cubicBezTo>
                <a:cubicBezTo>
                  <a:pt x="351" y="20623"/>
                  <a:pt x="417" y="20685"/>
                  <a:pt x="570" y="20791"/>
                </a:cubicBezTo>
                <a:cubicBezTo>
                  <a:pt x="650" y="20846"/>
                  <a:pt x="709" y="20896"/>
                  <a:pt x="699" y="20903"/>
                </a:cubicBezTo>
                <a:cubicBezTo>
                  <a:pt x="681" y="20914"/>
                  <a:pt x="953" y="21076"/>
                  <a:pt x="1197" y="21199"/>
                </a:cubicBezTo>
                <a:cubicBezTo>
                  <a:pt x="1351" y="21276"/>
                  <a:pt x="1842" y="21441"/>
                  <a:pt x="1952" y="21452"/>
                </a:cubicBezTo>
                <a:cubicBezTo>
                  <a:pt x="1995" y="21456"/>
                  <a:pt x="2043" y="21468"/>
                  <a:pt x="2055" y="21478"/>
                </a:cubicBezTo>
                <a:cubicBezTo>
                  <a:pt x="2067" y="21489"/>
                  <a:pt x="2120" y="21502"/>
                  <a:pt x="2178" y="21505"/>
                </a:cubicBezTo>
                <a:cubicBezTo>
                  <a:pt x="2236" y="21508"/>
                  <a:pt x="2286" y="21517"/>
                  <a:pt x="2286" y="21528"/>
                </a:cubicBezTo>
                <a:cubicBezTo>
                  <a:pt x="2286" y="21538"/>
                  <a:pt x="2437" y="21547"/>
                  <a:pt x="2620" y="21547"/>
                </a:cubicBezTo>
                <a:cubicBezTo>
                  <a:pt x="2816" y="21547"/>
                  <a:pt x="2949" y="21559"/>
                  <a:pt x="2949" y="21574"/>
                </a:cubicBezTo>
                <a:cubicBezTo>
                  <a:pt x="2949" y="21590"/>
                  <a:pt x="3892" y="21600"/>
                  <a:pt x="5692" y="21600"/>
                </a:cubicBezTo>
                <a:cubicBezTo>
                  <a:pt x="7492" y="21600"/>
                  <a:pt x="8431" y="21590"/>
                  <a:pt x="8431" y="21574"/>
                </a:cubicBezTo>
                <a:cubicBezTo>
                  <a:pt x="8431" y="21557"/>
                  <a:pt x="8965" y="21547"/>
                  <a:pt x="9956" y="21547"/>
                </a:cubicBezTo>
                <a:cubicBezTo>
                  <a:pt x="10948" y="21547"/>
                  <a:pt x="11482" y="21557"/>
                  <a:pt x="11482" y="21574"/>
                </a:cubicBezTo>
                <a:cubicBezTo>
                  <a:pt x="11482" y="21590"/>
                  <a:pt x="12727" y="21600"/>
                  <a:pt x="15140" y="21600"/>
                </a:cubicBezTo>
                <a:cubicBezTo>
                  <a:pt x="17553" y="21600"/>
                  <a:pt x="18798" y="21590"/>
                  <a:pt x="18798" y="21574"/>
                </a:cubicBezTo>
                <a:cubicBezTo>
                  <a:pt x="18798" y="21559"/>
                  <a:pt x="18929" y="21547"/>
                  <a:pt x="19111" y="21547"/>
                </a:cubicBezTo>
                <a:cubicBezTo>
                  <a:pt x="19294" y="21547"/>
                  <a:pt x="19425" y="21539"/>
                  <a:pt x="19425" y="21524"/>
                </a:cubicBezTo>
                <a:cubicBezTo>
                  <a:pt x="19425" y="21511"/>
                  <a:pt x="19459" y="21498"/>
                  <a:pt x="19502" y="21498"/>
                </a:cubicBezTo>
                <a:cubicBezTo>
                  <a:pt x="19545" y="21498"/>
                  <a:pt x="19584" y="21489"/>
                  <a:pt x="19584" y="21478"/>
                </a:cubicBezTo>
                <a:cubicBezTo>
                  <a:pt x="19584" y="21467"/>
                  <a:pt x="19620" y="21457"/>
                  <a:pt x="19666" y="21455"/>
                </a:cubicBezTo>
                <a:cubicBezTo>
                  <a:pt x="19713" y="21453"/>
                  <a:pt x="19767" y="21437"/>
                  <a:pt x="19784" y="21419"/>
                </a:cubicBezTo>
                <a:cubicBezTo>
                  <a:pt x="19802" y="21401"/>
                  <a:pt x="19815" y="21395"/>
                  <a:pt x="19815" y="21406"/>
                </a:cubicBezTo>
                <a:cubicBezTo>
                  <a:pt x="19816" y="21430"/>
                  <a:pt x="20072" y="21348"/>
                  <a:pt x="20293" y="21251"/>
                </a:cubicBezTo>
                <a:cubicBezTo>
                  <a:pt x="20477" y="21171"/>
                  <a:pt x="21146" y="20748"/>
                  <a:pt x="21089" y="20748"/>
                </a:cubicBezTo>
                <a:cubicBezTo>
                  <a:pt x="21070" y="20748"/>
                  <a:pt x="21099" y="20724"/>
                  <a:pt x="21151" y="20695"/>
                </a:cubicBezTo>
                <a:cubicBezTo>
                  <a:pt x="21203" y="20666"/>
                  <a:pt x="21238" y="20632"/>
                  <a:pt x="21233" y="20620"/>
                </a:cubicBezTo>
                <a:cubicBezTo>
                  <a:pt x="21228" y="20607"/>
                  <a:pt x="21242" y="20597"/>
                  <a:pt x="21264" y="20597"/>
                </a:cubicBezTo>
                <a:cubicBezTo>
                  <a:pt x="21285" y="20597"/>
                  <a:pt x="21305" y="20575"/>
                  <a:pt x="21305" y="20547"/>
                </a:cubicBezTo>
                <a:cubicBezTo>
                  <a:pt x="21305" y="20520"/>
                  <a:pt x="21314" y="20495"/>
                  <a:pt x="21331" y="20495"/>
                </a:cubicBezTo>
                <a:cubicBezTo>
                  <a:pt x="21347" y="20495"/>
                  <a:pt x="21395" y="20420"/>
                  <a:pt x="21433" y="20327"/>
                </a:cubicBezTo>
                <a:cubicBezTo>
                  <a:pt x="21472" y="20234"/>
                  <a:pt x="21520" y="20119"/>
                  <a:pt x="21541" y="20070"/>
                </a:cubicBezTo>
                <a:cubicBezTo>
                  <a:pt x="21600" y="19936"/>
                  <a:pt x="21570" y="1572"/>
                  <a:pt x="21511" y="1441"/>
                </a:cubicBezTo>
                <a:cubicBezTo>
                  <a:pt x="21486" y="1386"/>
                  <a:pt x="21444" y="1286"/>
                  <a:pt x="21418" y="1220"/>
                </a:cubicBezTo>
                <a:cubicBezTo>
                  <a:pt x="21392" y="1155"/>
                  <a:pt x="21354" y="1102"/>
                  <a:pt x="21336" y="1102"/>
                </a:cubicBezTo>
                <a:cubicBezTo>
                  <a:pt x="21318" y="1102"/>
                  <a:pt x="21305" y="1080"/>
                  <a:pt x="21305" y="1053"/>
                </a:cubicBezTo>
                <a:cubicBezTo>
                  <a:pt x="21305" y="1025"/>
                  <a:pt x="21285" y="1003"/>
                  <a:pt x="21264" y="1003"/>
                </a:cubicBezTo>
                <a:cubicBezTo>
                  <a:pt x="21242" y="1003"/>
                  <a:pt x="21228" y="993"/>
                  <a:pt x="21233" y="980"/>
                </a:cubicBezTo>
                <a:cubicBezTo>
                  <a:pt x="21238" y="968"/>
                  <a:pt x="21203" y="934"/>
                  <a:pt x="21151" y="905"/>
                </a:cubicBezTo>
                <a:cubicBezTo>
                  <a:pt x="21099" y="876"/>
                  <a:pt x="21070" y="852"/>
                  <a:pt x="21089" y="852"/>
                </a:cubicBezTo>
                <a:cubicBezTo>
                  <a:pt x="21108" y="852"/>
                  <a:pt x="20974" y="757"/>
                  <a:pt x="20791" y="638"/>
                </a:cubicBezTo>
                <a:cubicBezTo>
                  <a:pt x="20457" y="421"/>
                  <a:pt x="20073" y="236"/>
                  <a:pt x="19892" y="207"/>
                </a:cubicBezTo>
                <a:cubicBezTo>
                  <a:pt x="19838" y="199"/>
                  <a:pt x="19790" y="185"/>
                  <a:pt x="19779" y="174"/>
                </a:cubicBezTo>
                <a:cubicBezTo>
                  <a:pt x="19768" y="164"/>
                  <a:pt x="19725" y="153"/>
                  <a:pt x="19682" y="148"/>
                </a:cubicBezTo>
                <a:cubicBezTo>
                  <a:pt x="19639" y="143"/>
                  <a:pt x="19590" y="131"/>
                  <a:pt x="19579" y="122"/>
                </a:cubicBezTo>
                <a:cubicBezTo>
                  <a:pt x="19567" y="112"/>
                  <a:pt x="19495" y="99"/>
                  <a:pt x="19414" y="95"/>
                </a:cubicBezTo>
                <a:cubicBezTo>
                  <a:pt x="19334" y="92"/>
                  <a:pt x="19271" y="80"/>
                  <a:pt x="19271" y="69"/>
                </a:cubicBezTo>
                <a:cubicBezTo>
                  <a:pt x="19271" y="58"/>
                  <a:pt x="18803" y="49"/>
                  <a:pt x="18233" y="49"/>
                </a:cubicBezTo>
                <a:cubicBezTo>
                  <a:pt x="17568" y="49"/>
                  <a:pt x="17195" y="42"/>
                  <a:pt x="17195" y="26"/>
                </a:cubicBezTo>
                <a:cubicBezTo>
                  <a:pt x="17195" y="10"/>
                  <a:pt x="15143" y="0"/>
                  <a:pt x="11112" y="0"/>
                </a:cubicBezTo>
                <a:close/>
              </a:path>
            </a:pathLst>
          </a:custGeom>
          <a:ln w="12700">
            <a:miter lim="400000"/>
          </a:ln>
        </p:spPr>
      </p:pic>
      <p:pic>
        <p:nvPicPr>
          <p:cNvPr id="228" name="pasted-movie.png" descr="pasted-movie.png"/>
          <p:cNvPicPr>
            <a:picLocks noChangeAspect="1"/>
          </p:cNvPicPr>
          <p:nvPr/>
        </p:nvPicPr>
        <p:blipFill>
          <a:blip r:embed="rId4"/>
          <a:stretch>
            <a:fillRect/>
          </a:stretch>
        </p:blipFill>
        <p:spPr>
          <a:xfrm>
            <a:off x="8035613" y="4451813"/>
            <a:ext cx="1488848" cy="1829051"/>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TextBox 28"/>
          <p:cNvSpPr txBox="1">
            <a:spLocks noGrp="1"/>
          </p:cNvSpPr>
          <p:nvPr>
            <p:ph type="body" idx="21"/>
          </p:nvPr>
        </p:nvSpPr>
        <p:spPr>
          <a:xfrm>
            <a:off x="535695" y="1396903"/>
            <a:ext cx="7763686" cy="459741"/>
          </a:xfrm>
          <a:prstGeom prst="rect">
            <a:avLst/>
          </a:prstGeom>
        </p:spPr>
        <p:txBody>
          <a:bodyPr/>
          <a:lstStyle>
            <a:lvl1pPr marL="0" indent="0" defTabSz="12700">
              <a:lnSpc>
                <a:spcPct val="100000"/>
              </a:lnSpc>
              <a:spcBef>
                <a:spcPts val="0"/>
              </a:spcBef>
              <a:buSzTx/>
              <a:buFontTx/>
              <a:buNone/>
              <a:defRPr sz="2400">
                <a:solidFill>
                  <a:srgbClr val="102D69"/>
                </a:solidFill>
                <a:latin typeface="+mn-lt"/>
                <a:ea typeface="+mn-ea"/>
                <a:cs typeface="+mn-cs"/>
                <a:sym typeface="Helvetica"/>
              </a:defRPr>
            </a:lvl1pPr>
          </a:lstStyle>
          <a:p>
            <a:r>
              <a:t>Анализ аналогов. Стриминговые сервисы</a:t>
            </a:r>
          </a:p>
        </p:txBody>
      </p:sp>
      <p:sp>
        <p:nvSpPr>
          <p:cNvPr id="231" name="TextBox 32"/>
          <p:cNvSpPr txBox="1">
            <a:spLocks noGrp="1"/>
          </p:cNvSpPr>
          <p:nvPr>
            <p:ph type="body" idx="23"/>
          </p:nvPr>
        </p:nvSpPr>
        <p:spPr>
          <a:xfrm>
            <a:off x="10337842" y="497314"/>
            <a:ext cx="245404" cy="396241"/>
          </a:xfrm>
          <a:prstGeom prst="rect">
            <a:avLst/>
          </a:prstGeom>
        </p:spPr>
        <p:txBody>
          <a:bodyPr/>
          <a:lstStyle/>
          <a:p>
            <a:fld id="{86CB4B4D-7CA3-9044-876B-883B54F8677D}" type="slidenum">
              <a:t>4</a:t>
            </a:fld>
            <a:endParaRPr/>
          </a:p>
        </p:txBody>
      </p:sp>
      <p:sp>
        <p:nvSpPr>
          <p:cNvPr id="232" name="TextBox 27"/>
          <p:cNvSpPr txBox="1">
            <a:spLocks noGrp="1"/>
          </p:cNvSpPr>
          <p:nvPr>
            <p:ph type="body" idx="24"/>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33" name="TextBox 30"/>
          <p:cNvSpPr txBox="1">
            <a:spLocks noGrp="1"/>
          </p:cNvSpPr>
          <p:nvPr>
            <p:ph type="body" idx="25"/>
          </p:nvPr>
        </p:nvSpPr>
        <p:spPr>
          <a:xfrm>
            <a:off x="3411347" y="497314"/>
            <a:ext cx="2481219" cy="3962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Сервис для стриминга и селфхостинга музыки. iOS-приложение</a:t>
            </a:r>
          </a:p>
        </p:txBody>
      </p:sp>
      <p:sp>
        <p:nvSpPr>
          <p:cNvPr id="234" name="TextBox 31"/>
          <p:cNvSpPr txBox="1">
            <a:spLocks noGrp="1"/>
          </p:cNvSpPr>
          <p:nvPr>
            <p:ph type="body" idx="26"/>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Анализ аналогов</a:t>
            </a:r>
          </a:p>
        </p:txBody>
      </p:sp>
      <p:graphicFrame>
        <p:nvGraphicFramePr>
          <p:cNvPr id="235" name="Table 2"/>
          <p:cNvGraphicFramePr/>
          <p:nvPr/>
        </p:nvGraphicFramePr>
        <p:xfrm>
          <a:off x="842877" y="2266423"/>
          <a:ext cx="11126670" cy="2993351"/>
        </p:xfrm>
        <a:graphic>
          <a:graphicData uri="http://schemas.openxmlformats.org/drawingml/2006/table">
            <a:tbl>
              <a:tblPr firstRow="1">
                <a:tableStyleId>{8F44A2F1-9E1F-4B54-A3A2-5F16C0AD49E2}</a:tableStyleId>
              </a:tblPr>
              <a:tblGrid>
                <a:gridCol w="2453542">
                  <a:extLst>
                    <a:ext uri="{9D8B030D-6E8A-4147-A177-3AD203B41FA5}">
                      <a16:colId xmlns:a16="http://schemas.microsoft.com/office/drawing/2014/main" val="20000"/>
                    </a:ext>
                  </a:extLst>
                </a:gridCol>
                <a:gridCol w="1341803">
                  <a:extLst>
                    <a:ext uri="{9D8B030D-6E8A-4147-A177-3AD203B41FA5}">
                      <a16:colId xmlns:a16="http://schemas.microsoft.com/office/drawing/2014/main" val="20001"/>
                    </a:ext>
                  </a:extLst>
                </a:gridCol>
                <a:gridCol w="1346087">
                  <a:extLst>
                    <a:ext uri="{9D8B030D-6E8A-4147-A177-3AD203B41FA5}">
                      <a16:colId xmlns:a16="http://schemas.microsoft.com/office/drawing/2014/main" val="20002"/>
                    </a:ext>
                  </a:extLst>
                </a:gridCol>
                <a:gridCol w="1335801">
                  <a:extLst>
                    <a:ext uri="{9D8B030D-6E8A-4147-A177-3AD203B41FA5}">
                      <a16:colId xmlns:a16="http://schemas.microsoft.com/office/drawing/2014/main" val="20003"/>
                    </a:ext>
                  </a:extLst>
                </a:gridCol>
                <a:gridCol w="1345101">
                  <a:extLst>
                    <a:ext uri="{9D8B030D-6E8A-4147-A177-3AD203B41FA5}">
                      <a16:colId xmlns:a16="http://schemas.microsoft.com/office/drawing/2014/main" val="20004"/>
                    </a:ext>
                  </a:extLst>
                </a:gridCol>
                <a:gridCol w="1339089">
                  <a:extLst>
                    <a:ext uri="{9D8B030D-6E8A-4147-A177-3AD203B41FA5}">
                      <a16:colId xmlns:a16="http://schemas.microsoft.com/office/drawing/2014/main" val="20005"/>
                    </a:ext>
                  </a:extLst>
                </a:gridCol>
                <a:gridCol w="1344819">
                  <a:extLst>
                    <a:ext uri="{9D8B030D-6E8A-4147-A177-3AD203B41FA5}">
                      <a16:colId xmlns:a16="http://schemas.microsoft.com/office/drawing/2014/main" val="20006"/>
                    </a:ext>
                  </a:extLst>
                </a:gridCol>
              </a:tblGrid>
              <a:tr h="598670">
                <a:tc>
                  <a:txBody>
                    <a:bodyPr/>
                    <a:lstStyle/>
                    <a:p>
                      <a:pPr algn="ctr">
                        <a:defRPr sz="1800">
                          <a:solidFill>
                            <a:srgbClr val="000000"/>
                          </a:solidFill>
                        </a:defRPr>
                      </a:pPr>
                      <a:r>
                        <a:rPr sz="1300" b="1">
                          <a:solidFill>
                            <a:srgbClr val="102D69"/>
                          </a:solidFill>
                          <a:sym typeface="Helvetica"/>
                        </a:rPr>
                        <a:t>Функция</a:t>
                      </a:r>
                    </a:p>
                  </a:txBody>
                  <a:tcPr marL="45720" marR="45720" anchor="ctr" horzOverflow="overflow">
                    <a:lnL w="12700">
                      <a:miter lim="400000"/>
                    </a:lnL>
                  </a:tcPr>
                </a:tc>
                <a:tc>
                  <a:txBody>
                    <a:bodyPr/>
                    <a:lstStyle/>
                    <a:p>
                      <a:pPr algn="ctr">
                        <a:defRPr sz="1800">
                          <a:solidFill>
                            <a:srgbClr val="000000"/>
                          </a:solidFill>
                        </a:defRPr>
                      </a:pPr>
                      <a:r>
                        <a:rPr sz="1300" b="1">
                          <a:solidFill>
                            <a:srgbClr val="102D69"/>
                          </a:solidFill>
                          <a:sym typeface="Helvetica"/>
                        </a:rPr>
                        <a:t>Яндекс Музыка</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Spotify</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VK Музыка</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YouTube Music</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Apple Music</a:t>
                      </a:r>
                    </a:p>
                  </a:txBody>
                  <a:tcPr marL="45720" marR="45720" anchor="ctr" horzOverflow="overflow">
                    <a:lnR w="3175">
                      <a:solidFill>
                        <a:schemeClr val="accent4">
                          <a:lumOff val="12500"/>
                        </a:schemeClr>
                      </a:solidFill>
                    </a:lnR>
                  </a:tcPr>
                </a:tc>
                <a:tc>
                  <a:txBody>
                    <a:bodyPr/>
                    <a:lstStyle/>
                    <a:p>
                      <a:pPr algn="ctr">
                        <a:defRPr sz="1800">
                          <a:solidFill>
                            <a:srgbClr val="000000"/>
                          </a:solidFill>
                        </a:defRPr>
                      </a:pPr>
                      <a:r>
                        <a:rPr sz="1300" b="1">
                          <a:solidFill>
                            <a:srgbClr val="102D69"/>
                          </a:solidFill>
                          <a:sym typeface="Helvetica"/>
                        </a:rPr>
                        <a:t>Our Project</a:t>
                      </a:r>
                    </a:p>
                  </a:txBody>
                  <a:tcPr marL="45720" marR="45720" anchor="ctr" horzOverflow="overflow">
                    <a:lnL w="3175">
                      <a:solidFill>
                        <a:schemeClr val="accent4">
                          <a:lumOff val="12500"/>
                        </a:schemeClr>
                      </a:solidFill>
                    </a:lnL>
                    <a:lnR>
                      <a:solidFill>
                        <a:schemeClr val="accent4">
                          <a:lumOff val="12500"/>
                        </a:schemeClr>
                      </a:solidFill>
                    </a:lnR>
                    <a:lnT>
                      <a:solidFill>
                        <a:schemeClr val="accent4">
                          <a:lumOff val="12500"/>
                        </a:schemeClr>
                      </a:solidFill>
                    </a:lnT>
                    <a:solidFill>
                      <a:schemeClr val="accent4">
                        <a:lumOff val="25000"/>
                      </a:schemeClr>
                    </a:solidFill>
                  </a:tcPr>
                </a:tc>
                <a:extLst>
                  <a:ext uri="{0D108BD9-81ED-4DB2-BD59-A6C34878D82A}">
                    <a16:rowId xmlns:a16="http://schemas.microsoft.com/office/drawing/2014/main" val="10000"/>
                  </a:ext>
                </a:extLst>
              </a:tr>
              <a:tr h="598670">
                <a:tc>
                  <a:txBody>
                    <a:bodyPr/>
                    <a:lstStyle/>
                    <a:p>
                      <a:pPr algn="l">
                        <a:defRPr sz="1800">
                          <a:solidFill>
                            <a:srgbClr val="000000"/>
                          </a:solidFill>
                        </a:defRPr>
                      </a:pPr>
                      <a:r>
                        <a:rPr sz="1300">
                          <a:solidFill>
                            <a:srgbClr val="102D69"/>
                          </a:solidFill>
                          <a:sym typeface="Helvetica"/>
                        </a:rPr>
                        <a:t>Сохранение треков
на устройство</a:t>
                      </a:r>
                    </a:p>
                  </a:txBody>
                  <a:tcPr marL="45720" marR="45720" anchor="ctr" horzOverflow="overflow">
                    <a:lnL w="12700">
                      <a:miter lim="400000"/>
                    </a:lnL>
                    <a:lnR w="3175">
                      <a:solidFill>
                        <a:srgbClr val="A7A7A7"/>
                      </a:solidFill>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w="3175">
                      <a:solidFill>
                        <a:srgbClr val="A7A7A7"/>
                      </a:solidFill>
                    </a:lnL>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R>
                      <a:solidFill>
                        <a:schemeClr val="accent4">
                          <a:lumOff val="12500"/>
                        </a:schemeClr>
                      </a:solidFill>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a:solidFill>
                        <a:schemeClr val="accent4">
                          <a:lumOff val="12500"/>
                        </a:schemeClr>
                      </a:solidFill>
                    </a:lnL>
                    <a:lnR>
                      <a:solidFill>
                        <a:schemeClr val="accent4">
                          <a:lumOff val="12500"/>
                        </a:schemeClr>
                      </a:solidFill>
                    </a:lnR>
                    <a:solidFill>
                      <a:schemeClr val="accent4">
                        <a:lumOff val="25000"/>
                      </a:schemeClr>
                    </a:solidFill>
                  </a:tcPr>
                </a:tc>
                <a:extLst>
                  <a:ext uri="{0D108BD9-81ED-4DB2-BD59-A6C34878D82A}">
                    <a16:rowId xmlns:a16="http://schemas.microsoft.com/office/drawing/2014/main" val="10001"/>
                  </a:ext>
                </a:extLst>
              </a:tr>
              <a:tr h="598670">
                <a:tc>
                  <a:txBody>
                    <a:bodyPr/>
                    <a:lstStyle/>
                    <a:p>
                      <a:pPr algn="l">
                        <a:defRPr sz="1800">
                          <a:solidFill>
                            <a:srgbClr val="000000"/>
                          </a:solidFill>
                        </a:defRPr>
                      </a:pPr>
                      <a:r>
                        <a:rPr sz="1300">
                          <a:solidFill>
                            <a:srgbClr val="102D69"/>
                          </a:solidFill>
                          <a:sym typeface="Helvetica"/>
                        </a:rPr>
                        <a:t>Отсутствие рекламы</a:t>
                      </a:r>
                    </a:p>
                  </a:txBody>
                  <a:tcPr marL="45720" marR="45720" anchor="ctr" horzOverflow="overflow">
                    <a:lnL w="12700">
                      <a:miter lim="400000"/>
                    </a:lnL>
                    <a:lnR w="3175">
                      <a:solidFill>
                        <a:srgbClr val="A7A7A7"/>
                      </a:solidFill>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w="3175">
                      <a:solidFill>
                        <a:srgbClr val="A7A7A7"/>
                      </a:solidFill>
                    </a:lnL>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R>
                      <a:solidFill>
                        <a:schemeClr val="accent4">
                          <a:lumOff val="12500"/>
                        </a:schemeClr>
                      </a:solidFill>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a:solidFill>
                        <a:schemeClr val="accent4">
                          <a:lumOff val="12500"/>
                        </a:schemeClr>
                      </a:solidFill>
                    </a:lnL>
                    <a:lnR>
                      <a:solidFill>
                        <a:schemeClr val="accent4">
                          <a:lumOff val="12500"/>
                        </a:schemeClr>
                      </a:solidFill>
                    </a:lnR>
                    <a:solidFill>
                      <a:schemeClr val="accent4">
                        <a:lumOff val="25000"/>
                      </a:schemeClr>
                    </a:solidFill>
                  </a:tcPr>
                </a:tc>
                <a:extLst>
                  <a:ext uri="{0D108BD9-81ED-4DB2-BD59-A6C34878D82A}">
                    <a16:rowId xmlns:a16="http://schemas.microsoft.com/office/drawing/2014/main" val="10002"/>
                  </a:ext>
                </a:extLst>
              </a:tr>
              <a:tr h="598670">
                <a:tc>
                  <a:txBody>
                    <a:bodyPr/>
                    <a:lstStyle/>
                    <a:p>
                      <a:pPr algn="l">
                        <a:defRPr sz="1800">
                          <a:solidFill>
                            <a:srgbClr val="000000"/>
                          </a:solidFill>
                        </a:defRPr>
                      </a:pPr>
                      <a:r>
                        <a:rPr sz="1300">
                          <a:solidFill>
                            <a:srgbClr val="102D69"/>
                          </a:solidFill>
                          <a:sym typeface="Helvetica"/>
                        </a:rPr>
                        <a:t>Бесплатное прослушивание
без ограничений</a:t>
                      </a:r>
                    </a:p>
                  </a:txBody>
                  <a:tcPr marL="45720" marR="45720" anchor="ctr" horzOverflow="overflow">
                    <a:lnL w="12700">
                      <a:miter lim="400000"/>
                    </a:lnL>
                    <a:lnR w="3175">
                      <a:solidFill>
                        <a:srgbClr val="A7A7A7"/>
                      </a:solidFill>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w="3175">
                      <a:solidFill>
                        <a:srgbClr val="A7A7A7"/>
                      </a:solidFill>
                    </a:lnL>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R>
                      <a:solidFill>
                        <a:schemeClr val="accent4">
                          <a:lumOff val="12500"/>
                        </a:schemeClr>
                      </a:solidFill>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a:solidFill>
                        <a:schemeClr val="accent4">
                          <a:lumOff val="12500"/>
                        </a:schemeClr>
                      </a:solidFill>
                    </a:lnL>
                    <a:lnR>
                      <a:solidFill>
                        <a:schemeClr val="accent4">
                          <a:lumOff val="12500"/>
                        </a:schemeClr>
                      </a:solidFill>
                    </a:lnR>
                    <a:solidFill>
                      <a:schemeClr val="accent4">
                        <a:lumOff val="25000"/>
                      </a:schemeClr>
                    </a:solidFill>
                  </a:tcPr>
                </a:tc>
                <a:extLst>
                  <a:ext uri="{0D108BD9-81ED-4DB2-BD59-A6C34878D82A}">
                    <a16:rowId xmlns:a16="http://schemas.microsoft.com/office/drawing/2014/main" val="10003"/>
                  </a:ext>
                </a:extLst>
              </a:tr>
              <a:tr h="598670">
                <a:tc>
                  <a:txBody>
                    <a:bodyPr/>
                    <a:lstStyle/>
                    <a:p>
                      <a:pPr algn="l">
                        <a:defRPr sz="1800">
                          <a:solidFill>
                            <a:srgbClr val="000000"/>
                          </a:solidFill>
                        </a:defRPr>
                      </a:pPr>
                      <a:r>
                        <a:rPr sz="1300">
                          <a:solidFill>
                            <a:srgbClr val="102D69"/>
                          </a:solidFill>
                          <a:sym typeface="Helvetica"/>
                        </a:rPr>
                        <a:t>Возможность использования в России</a:t>
                      </a:r>
                    </a:p>
                  </a:txBody>
                  <a:tcPr marL="45720" marR="45720" anchor="ctr" horzOverflow="overflow">
                    <a:lnL w="12700">
                      <a:miter lim="400000"/>
                    </a:lnL>
                    <a:lnR w="3175">
                      <a:solidFill>
                        <a:srgbClr val="A7A7A7"/>
                      </a:solidFill>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3175">
                      <a:solidFill>
                        <a:srgbClr val="A7A7A7"/>
                      </a:solidFill>
                    </a:lnL>
                    <a:lnR w="12700">
                      <a:miter lim="400000"/>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12700">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w="12700">
                      <a:miter lim="400000"/>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12700">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a:solidFill>
                        <a:schemeClr val="accent4">
                          <a:lumOff val="12500"/>
                        </a:schemeClr>
                      </a:solidFill>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a:solidFill>
                        <a:schemeClr val="accent4">
                          <a:lumOff val="12500"/>
                        </a:schemeClr>
                      </a:solidFill>
                    </a:lnL>
                    <a:lnR>
                      <a:solidFill>
                        <a:schemeClr val="accent4">
                          <a:lumOff val="12500"/>
                        </a:schemeClr>
                      </a:solidFill>
                    </a:lnR>
                    <a:solidFill>
                      <a:schemeClr val="accent4">
                        <a:lumOff val="25000"/>
                      </a:schemeClr>
                    </a:solidFill>
                  </a:tcPr>
                </a:tc>
                <a:extLst>
                  <a:ext uri="{0D108BD9-81ED-4DB2-BD59-A6C34878D82A}">
                    <a16:rowId xmlns:a16="http://schemas.microsoft.com/office/drawing/2014/main" val="10004"/>
                  </a:ext>
                </a:extLst>
              </a:tr>
              <a:tr h="598670">
                <a:tc>
                  <a:txBody>
                    <a:bodyPr/>
                    <a:lstStyle/>
                    <a:p>
                      <a:pPr algn="l">
                        <a:defRPr sz="1800">
                          <a:solidFill>
                            <a:srgbClr val="000000"/>
                          </a:solidFill>
                        </a:defRPr>
                      </a:pPr>
                      <a:r>
                        <a:rPr sz="1300">
                          <a:solidFill>
                            <a:srgbClr val="102D69"/>
                          </a:solidFill>
                          <a:sym typeface="Helvetica"/>
                        </a:rPr>
                        <a:t>Добавление своих треков</a:t>
                      </a:r>
                    </a:p>
                  </a:txBody>
                  <a:tcPr marL="45720" marR="45720" anchor="ctr" horzOverflow="overflow">
                    <a:lnL w="12700">
                      <a:miter lim="400000"/>
                    </a:lnL>
                    <a:lnR w="3175">
                      <a:solidFill>
                        <a:srgbClr val="A7A7A7"/>
                      </a:solidFill>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3175">
                      <a:solidFill>
                        <a:srgbClr val="A7A7A7"/>
                      </a:solidFill>
                    </a:lnL>
                    <a:lnR w="12700">
                      <a:miter lim="400000"/>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12700">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w="12700">
                      <a:miter lim="400000"/>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12700">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a:solidFill>
                        <a:schemeClr val="accent4">
                          <a:lumOff val="12500"/>
                        </a:schemeClr>
                      </a:solidFill>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a:solidFill>
                        <a:schemeClr val="accent4">
                          <a:lumOff val="12500"/>
                        </a:schemeClr>
                      </a:solidFill>
                    </a:lnL>
                    <a:lnR>
                      <a:solidFill>
                        <a:schemeClr val="accent4">
                          <a:lumOff val="12500"/>
                        </a:schemeClr>
                      </a:solidFill>
                    </a:lnR>
                    <a:lnB>
                      <a:solidFill>
                        <a:schemeClr val="accent4">
                          <a:lumOff val="12500"/>
                        </a:schemeClr>
                      </a:solidFill>
                    </a:lnB>
                    <a:solidFill>
                      <a:schemeClr val="accent4">
                        <a:lumOff val="25000"/>
                      </a:schemeClr>
                    </a:solidFill>
                  </a:tcPr>
                </a:tc>
                <a:extLst>
                  <a:ext uri="{0D108BD9-81ED-4DB2-BD59-A6C34878D82A}">
                    <a16:rowId xmlns:a16="http://schemas.microsoft.com/office/drawing/2014/main" val="10005"/>
                  </a:ext>
                </a:extLst>
              </a:tr>
            </a:tbl>
          </a:graphicData>
        </a:graphic>
      </p:graphicFrame>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TextBox 28"/>
          <p:cNvSpPr txBox="1">
            <a:spLocks noGrp="1"/>
          </p:cNvSpPr>
          <p:nvPr>
            <p:ph type="body" idx="21"/>
          </p:nvPr>
        </p:nvSpPr>
        <p:spPr>
          <a:xfrm>
            <a:off x="535695" y="1396903"/>
            <a:ext cx="7763686" cy="459741"/>
          </a:xfrm>
          <a:prstGeom prst="rect">
            <a:avLst/>
          </a:prstGeom>
        </p:spPr>
        <p:txBody>
          <a:bodyPr/>
          <a:lstStyle>
            <a:lvl1pPr marL="0" indent="0" defTabSz="12700">
              <a:lnSpc>
                <a:spcPct val="100000"/>
              </a:lnSpc>
              <a:spcBef>
                <a:spcPts val="0"/>
              </a:spcBef>
              <a:buSzTx/>
              <a:buFontTx/>
              <a:buNone/>
              <a:defRPr sz="2400">
                <a:solidFill>
                  <a:srgbClr val="102D69"/>
                </a:solidFill>
                <a:latin typeface="+mn-lt"/>
                <a:ea typeface="+mn-ea"/>
                <a:cs typeface="+mn-cs"/>
                <a:sym typeface="Helvetica"/>
              </a:defRPr>
            </a:lvl1pPr>
          </a:lstStyle>
          <a:p>
            <a:r>
              <a:t>Анализ аналогов. Сервисы для селфхостинга</a:t>
            </a:r>
          </a:p>
        </p:txBody>
      </p:sp>
      <p:sp>
        <p:nvSpPr>
          <p:cNvPr id="238" name="TextBox 32"/>
          <p:cNvSpPr txBox="1">
            <a:spLocks noGrp="1"/>
          </p:cNvSpPr>
          <p:nvPr>
            <p:ph type="body" idx="23"/>
          </p:nvPr>
        </p:nvSpPr>
        <p:spPr>
          <a:xfrm>
            <a:off x="10337842" y="497314"/>
            <a:ext cx="245404" cy="396241"/>
          </a:xfrm>
          <a:prstGeom prst="rect">
            <a:avLst/>
          </a:prstGeom>
        </p:spPr>
        <p:txBody>
          <a:bodyPr/>
          <a:lstStyle/>
          <a:p>
            <a:fld id="{86CB4B4D-7CA3-9044-876B-883B54F8677D}" type="slidenum">
              <a:t>5</a:t>
            </a:fld>
            <a:endParaRPr/>
          </a:p>
        </p:txBody>
      </p:sp>
      <p:sp>
        <p:nvSpPr>
          <p:cNvPr id="239" name="TextBox 27"/>
          <p:cNvSpPr txBox="1">
            <a:spLocks noGrp="1"/>
          </p:cNvSpPr>
          <p:nvPr>
            <p:ph type="body" idx="24"/>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40" name="TextBox 30"/>
          <p:cNvSpPr txBox="1">
            <a:spLocks noGrp="1"/>
          </p:cNvSpPr>
          <p:nvPr>
            <p:ph type="body" idx="25"/>
          </p:nvPr>
        </p:nvSpPr>
        <p:spPr>
          <a:xfrm>
            <a:off x="3411347" y="497314"/>
            <a:ext cx="2481219" cy="3962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Сервис для стриминга и селфхостинга музыки. iOS-приложение</a:t>
            </a:r>
          </a:p>
        </p:txBody>
      </p:sp>
      <p:sp>
        <p:nvSpPr>
          <p:cNvPr id="241" name="TextBox 31"/>
          <p:cNvSpPr txBox="1">
            <a:spLocks noGrp="1"/>
          </p:cNvSpPr>
          <p:nvPr>
            <p:ph type="body" idx="26"/>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Анализ аналогов</a:t>
            </a:r>
          </a:p>
        </p:txBody>
      </p:sp>
      <p:graphicFrame>
        <p:nvGraphicFramePr>
          <p:cNvPr id="242" name="Table 2"/>
          <p:cNvGraphicFramePr/>
          <p:nvPr/>
        </p:nvGraphicFramePr>
        <p:xfrm>
          <a:off x="1512422" y="2266423"/>
          <a:ext cx="11126669" cy="2993351"/>
        </p:xfrm>
        <a:graphic>
          <a:graphicData uri="http://schemas.openxmlformats.org/drawingml/2006/table">
            <a:tbl>
              <a:tblPr firstRow="1">
                <a:tableStyleId>{8F44A2F1-9E1F-4B54-A3A2-5F16C0AD49E2}</a:tableStyleId>
              </a:tblPr>
              <a:tblGrid>
                <a:gridCol w="2453542">
                  <a:extLst>
                    <a:ext uri="{9D8B030D-6E8A-4147-A177-3AD203B41FA5}">
                      <a16:colId xmlns:a16="http://schemas.microsoft.com/office/drawing/2014/main" val="20000"/>
                    </a:ext>
                  </a:extLst>
                </a:gridCol>
                <a:gridCol w="1341803">
                  <a:extLst>
                    <a:ext uri="{9D8B030D-6E8A-4147-A177-3AD203B41FA5}">
                      <a16:colId xmlns:a16="http://schemas.microsoft.com/office/drawing/2014/main" val="20001"/>
                    </a:ext>
                  </a:extLst>
                </a:gridCol>
                <a:gridCol w="1346087">
                  <a:extLst>
                    <a:ext uri="{9D8B030D-6E8A-4147-A177-3AD203B41FA5}">
                      <a16:colId xmlns:a16="http://schemas.microsoft.com/office/drawing/2014/main" val="20002"/>
                    </a:ext>
                  </a:extLst>
                </a:gridCol>
                <a:gridCol w="1335801">
                  <a:extLst>
                    <a:ext uri="{9D8B030D-6E8A-4147-A177-3AD203B41FA5}">
                      <a16:colId xmlns:a16="http://schemas.microsoft.com/office/drawing/2014/main" val="20003"/>
                    </a:ext>
                  </a:extLst>
                </a:gridCol>
                <a:gridCol w="1345101">
                  <a:extLst>
                    <a:ext uri="{9D8B030D-6E8A-4147-A177-3AD203B41FA5}">
                      <a16:colId xmlns:a16="http://schemas.microsoft.com/office/drawing/2014/main" val="20004"/>
                    </a:ext>
                  </a:extLst>
                </a:gridCol>
                <a:gridCol w="1344819">
                  <a:extLst>
                    <a:ext uri="{9D8B030D-6E8A-4147-A177-3AD203B41FA5}">
                      <a16:colId xmlns:a16="http://schemas.microsoft.com/office/drawing/2014/main" val="20005"/>
                    </a:ext>
                  </a:extLst>
                </a:gridCol>
              </a:tblGrid>
              <a:tr h="598670">
                <a:tc>
                  <a:txBody>
                    <a:bodyPr/>
                    <a:lstStyle/>
                    <a:p>
                      <a:pPr algn="ctr">
                        <a:defRPr sz="1800">
                          <a:solidFill>
                            <a:srgbClr val="000000"/>
                          </a:solidFill>
                        </a:defRPr>
                      </a:pPr>
                      <a:r>
                        <a:rPr sz="1300" b="1">
                          <a:solidFill>
                            <a:srgbClr val="102D69"/>
                          </a:solidFill>
                          <a:sym typeface="Helvetica"/>
                        </a:rPr>
                        <a:t>Функция</a:t>
                      </a:r>
                    </a:p>
                  </a:txBody>
                  <a:tcPr marL="45720" marR="45720" anchor="ctr" horzOverflow="overflow">
                    <a:lnL w="12700">
                      <a:miter lim="400000"/>
                    </a:lnL>
                    <a:lnB>
                      <a:solidFill>
                        <a:srgbClr val="BFBFBF"/>
                      </a:solidFill>
                      <a:miter lim="400000"/>
                    </a:lnB>
                  </a:tcPr>
                </a:tc>
                <a:tc>
                  <a:txBody>
                    <a:bodyPr/>
                    <a:lstStyle/>
                    <a:p>
                      <a:pPr algn="ctr">
                        <a:defRPr sz="1800">
                          <a:solidFill>
                            <a:srgbClr val="000000"/>
                          </a:solidFill>
                        </a:defRPr>
                      </a:pPr>
                      <a:r>
                        <a:rPr sz="1300" b="1">
                          <a:solidFill>
                            <a:srgbClr val="102D69"/>
                          </a:solidFill>
                          <a:sym typeface="Helvetica"/>
                        </a:rPr>
                        <a:t>Black
Candy</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Navidrome</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Ampache</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mStream</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Our Project</a:t>
                      </a:r>
                    </a:p>
                  </a:txBody>
                  <a:tcPr marL="45720" marR="45720" anchor="ctr" horzOverflow="overflow">
                    <a:lnR w="12700">
                      <a:miter lim="400000"/>
                    </a:lnR>
                    <a:solidFill>
                      <a:schemeClr val="accent4">
                        <a:lumOff val="25000"/>
                      </a:schemeClr>
                    </a:solidFill>
                  </a:tcPr>
                </a:tc>
                <a:extLst>
                  <a:ext uri="{0D108BD9-81ED-4DB2-BD59-A6C34878D82A}">
                    <a16:rowId xmlns:a16="http://schemas.microsoft.com/office/drawing/2014/main" val="10000"/>
                  </a:ext>
                </a:extLst>
              </a:tr>
              <a:tr h="598670">
                <a:tc>
                  <a:txBody>
                    <a:bodyPr/>
                    <a:lstStyle/>
                    <a:p>
                      <a:pPr algn="l">
                        <a:defRPr sz="1800">
                          <a:solidFill>
                            <a:srgbClr val="000000"/>
                          </a:solidFill>
                        </a:defRPr>
                      </a:pPr>
                      <a:r>
                        <a:rPr sz="1300">
                          <a:solidFill>
                            <a:srgbClr val="102D69"/>
                          </a:solidFill>
                          <a:sym typeface="Helvetica"/>
                        </a:rPr>
                        <a:t>Эргономичность интерфейса</a:t>
                      </a:r>
                    </a:p>
                  </a:txBody>
                  <a:tcPr marL="45720" marR="45720" anchor="ctr" horzOverflow="overflow">
                    <a:lnL w="0">
                      <a:miter lim="400000"/>
                    </a:lnL>
                    <a:lnR>
                      <a:solidFill>
                        <a:srgbClr val="BFBFBF"/>
                      </a:solidFill>
                      <a:miter lim="400000"/>
                    </a:lnR>
                    <a:lnT>
                      <a:solidFill>
                        <a:srgbClr val="BFBFBF"/>
                      </a:solidFill>
                      <a:miter lim="400000"/>
                    </a:lnT>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a:solidFill>
                        <a:srgbClr val="BFBFBF"/>
                      </a:solidFill>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w="12700">
                      <a:miter lim="400000"/>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w="12700">
                      <a:miter lim="400000"/>
                    </a:lnL>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R w="12700">
                      <a:miter lim="400000"/>
                    </a:lnR>
                    <a:solidFill>
                      <a:schemeClr val="accent4">
                        <a:lumOff val="25000"/>
                      </a:schemeClr>
                    </a:solidFill>
                  </a:tcPr>
                </a:tc>
                <a:extLst>
                  <a:ext uri="{0D108BD9-81ED-4DB2-BD59-A6C34878D82A}">
                    <a16:rowId xmlns:a16="http://schemas.microsoft.com/office/drawing/2014/main" val="10001"/>
                  </a:ext>
                </a:extLst>
              </a:tr>
              <a:tr h="598670">
                <a:tc>
                  <a:txBody>
                    <a:bodyPr/>
                    <a:lstStyle/>
                    <a:p>
                      <a:pPr algn="l">
                        <a:defRPr sz="1800">
                          <a:solidFill>
                            <a:srgbClr val="000000"/>
                          </a:solidFill>
                        </a:defRPr>
                      </a:pPr>
                      <a:r>
                        <a:rPr sz="1300">
                          <a:solidFill>
                            <a:srgbClr val="102D69"/>
                          </a:solidFill>
                          <a:sym typeface="Helvetica"/>
                        </a:rPr>
                        <a:t>Кеширование</a:t>
                      </a:r>
                    </a:p>
                  </a:txBody>
                  <a:tcPr marL="45720" marR="45720" anchor="ctr" horzOverflow="overflow">
                    <a:lnL w="0">
                      <a:miter lim="400000"/>
                    </a:lnL>
                    <a:lnR>
                      <a:solidFill>
                        <a:srgbClr val="BFBFBF"/>
                      </a:solidFill>
                      <a:miter lim="400000"/>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a:solidFill>
                        <a:srgbClr val="BFBFBF"/>
                      </a:solidFill>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w="12700">
                      <a:miter lim="400000"/>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12700">
                      <a:miter lim="400000"/>
                    </a:lnL>
                    <a:lnR w="12700">
                      <a:miter lim="400000"/>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w="12700">
                      <a:miter lim="400000"/>
                    </a:lnL>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R w="12700">
                      <a:miter lim="400000"/>
                    </a:lnR>
                    <a:solidFill>
                      <a:schemeClr val="accent4">
                        <a:lumOff val="25000"/>
                      </a:schemeClr>
                    </a:solidFill>
                  </a:tcPr>
                </a:tc>
                <a:extLst>
                  <a:ext uri="{0D108BD9-81ED-4DB2-BD59-A6C34878D82A}">
                    <a16:rowId xmlns:a16="http://schemas.microsoft.com/office/drawing/2014/main" val="10002"/>
                  </a:ext>
                </a:extLst>
              </a:tr>
              <a:tr h="598670">
                <a:tc>
                  <a:txBody>
                    <a:bodyPr/>
                    <a:lstStyle/>
                    <a:p>
                      <a:pPr algn="l">
                        <a:defRPr sz="1800">
                          <a:solidFill>
                            <a:srgbClr val="000000"/>
                          </a:solidFill>
                        </a:defRPr>
                      </a:pPr>
                      <a:r>
                        <a:rPr sz="1300">
                          <a:solidFill>
                            <a:srgbClr val="102D69"/>
                          </a:solidFill>
                          <a:sym typeface="Helvetica"/>
                        </a:rPr>
                        <a:t>Поиск треков</a:t>
                      </a:r>
                    </a:p>
                  </a:txBody>
                  <a:tcPr marL="45720" marR="45720" anchor="ctr" horzOverflow="overflow">
                    <a:lnL w="0">
                      <a:miter lim="400000"/>
                    </a:lnL>
                    <a:lnR>
                      <a:solidFill>
                        <a:srgbClr val="BFBFBF"/>
                      </a:solidFill>
                      <a:miter lim="400000"/>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a:solidFill>
                        <a:srgbClr val="BFBFBF"/>
                      </a:solidFill>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w="12700">
                      <a:miter lim="400000"/>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w="12700">
                      <a:miter lim="400000"/>
                    </a:lnL>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R w="12700">
                      <a:miter lim="400000"/>
                    </a:lnR>
                    <a:solidFill>
                      <a:schemeClr val="accent4">
                        <a:lumOff val="25000"/>
                      </a:schemeClr>
                    </a:solidFill>
                  </a:tcPr>
                </a:tc>
                <a:extLst>
                  <a:ext uri="{0D108BD9-81ED-4DB2-BD59-A6C34878D82A}">
                    <a16:rowId xmlns:a16="http://schemas.microsoft.com/office/drawing/2014/main" val="10003"/>
                  </a:ext>
                </a:extLst>
              </a:tr>
              <a:tr h="598670">
                <a:tc>
                  <a:txBody>
                    <a:bodyPr/>
                    <a:lstStyle/>
                    <a:p>
                      <a:pPr algn="l">
                        <a:defRPr sz="1800">
                          <a:solidFill>
                            <a:srgbClr val="000000"/>
                          </a:solidFill>
                        </a:defRPr>
                      </a:pPr>
                      <a:r>
                        <a:rPr sz="1300">
                          <a:solidFill>
                            <a:srgbClr val="102D69"/>
                          </a:solidFill>
                          <a:sym typeface="Helvetica"/>
                        </a:rPr>
                        <a:t>Страницы артистов</a:t>
                      </a:r>
                    </a:p>
                  </a:txBody>
                  <a:tcPr marL="45720" marR="45720" anchor="ctr" horzOverflow="overflow">
                    <a:lnL w="0">
                      <a:miter lim="400000"/>
                    </a:lnL>
                    <a:lnR>
                      <a:solidFill>
                        <a:srgbClr val="BFBFBF"/>
                      </a:solidFill>
                      <a:miter lim="400000"/>
                    </a:lnR>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a:solidFill>
                        <a:srgbClr val="BFBFBF"/>
                      </a:solidFill>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w="12700">
                      <a:miter lim="400000"/>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12700">
                      <a:miter lim="400000"/>
                    </a:lnL>
                    <a:lnR w="12700">
                      <a:miter lim="400000"/>
                    </a:lnR>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L w="12700">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w="12700">
                      <a:miter lim="400000"/>
                    </a:lnR>
                    <a:solidFill>
                      <a:schemeClr val="accent4">
                        <a:lumOff val="25000"/>
                      </a:schemeClr>
                    </a:solidFill>
                  </a:tcPr>
                </a:tc>
                <a:extLst>
                  <a:ext uri="{0D108BD9-81ED-4DB2-BD59-A6C34878D82A}">
                    <a16:rowId xmlns:a16="http://schemas.microsoft.com/office/drawing/2014/main" val="10004"/>
                  </a:ext>
                </a:extLst>
              </a:tr>
              <a:tr h="598670">
                <a:tc>
                  <a:txBody>
                    <a:bodyPr/>
                    <a:lstStyle/>
                    <a:p>
                      <a:pPr algn="l">
                        <a:defRPr sz="1800">
                          <a:solidFill>
                            <a:srgbClr val="000000"/>
                          </a:solidFill>
                        </a:defRPr>
                      </a:pPr>
                      <a:r>
                        <a:rPr sz="1300">
                          <a:solidFill>
                            <a:srgbClr val="102D69"/>
                          </a:solidFill>
                          <a:sym typeface="Helvetica"/>
                        </a:rPr>
                        <a:t>Наличие приложения под iOS</a:t>
                      </a:r>
                    </a:p>
                  </a:txBody>
                  <a:tcPr marL="45720" marR="45720" anchor="ctr" horzOverflow="overflow">
                    <a:lnL w="0">
                      <a:miter lim="400000"/>
                    </a:lnL>
                    <a:lnR>
                      <a:solidFill>
                        <a:srgbClr val="BFBFBF"/>
                      </a:solidFill>
                      <a:miter lim="400000"/>
                    </a:lnR>
                    <a:lnB>
                      <a:solidFill>
                        <a:srgbClr val="BFBFBF"/>
                      </a:solidFill>
                      <a:miter lim="400000"/>
                    </a:lnB>
                  </a:tcPr>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lnL>
                      <a:solidFill>
                        <a:srgbClr val="BFBFBF"/>
                      </a:solidFill>
                      <a:miter lim="400000"/>
                    </a:lnL>
                  </a:tcPr>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tc>
                <a:tc>
                  <a:txBody>
                    <a:bodyPr/>
                    <a:lstStyle/>
                    <a:p>
                      <a:pPr algn="ctr">
                        <a:defRPr sz="1800">
                          <a:solidFill>
                            <a:srgbClr val="000000"/>
                          </a:solidFill>
                        </a:defRPr>
                      </a:pPr>
                      <a:r>
                        <a:rPr sz="1300" b="1">
                          <a:solidFill>
                            <a:srgbClr val="102D69"/>
                          </a:solidFill>
                          <a:sym typeface="Helvetica"/>
                        </a:rPr>
                        <a:t>✅</a:t>
                      </a:r>
                    </a:p>
                  </a:txBody>
                  <a:tcPr marL="45720" marR="45720" anchor="ctr" horzOverflow="overflow">
                    <a:lnR w="12700">
                      <a:miter lim="400000"/>
                    </a:lnR>
                    <a:solidFill>
                      <a:schemeClr val="accent4">
                        <a:lumOff val="25000"/>
                      </a:schemeClr>
                    </a:solidFill>
                  </a:tcPr>
                </a:tc>
                <a:extLst>
                  <a:ext uri="{0D108BD9-81ED-4DB2-BD59-A6C34878D82A}">
                    <a16:rowId xmlns:a16="http://schemas.microsoft.com/office/drawing/2014/main" val="10005"/>
                  </a:ext>
                </a:extLst>
              </a:tr>
            </a:tbl>
          </a:graphicData>
        </a:graphic>
      </p:graphicFrame>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TextBox 15"/>
          <p:cNvSpPr txBox="1">
            <a:spLocks noGrp="1"/>
          </p:cNvSpPr>
          <p:nvPr>
            <p:ph type="body" idx="21"/>
          </p:nvPr>
        </p:nvSpPr>
        <p:spPr>
          <a:xfrm>
            <a:off x="535694" y="2469009"/>
            <a:ext cx="4780382" cy="3177541"/>
          </a:xfrm>
          <a:prstGeom prst="rect">
            <a:avLst/>
          </a:prstGeom>
        </p:spPr>
        <p:txBody>
          <a:bodyPr/>
          <a:lstStyle/>
          <a:p>
            <a:pPr marL="173789" indent="-173789" defTabSz="12700">
              <a:lnSpc>
                <a:spcPct val="100000"/>
              </a:lnSpc>
              <a:spcBef>
                <a:spcPts val="1300"/>
              </a:spcBef>
              <a:buFontTx/>
              <a:buAutoNum type="arabicPeriod"/>
              <a:defRPr sz="1600">
                <a:latin typeface="+mn-lt"/>
                <a:ea typeface="+mn-ea"/>
                <a:cs typeface="+mn-cs"/>
                <a:sym typeface="Helvetica"/>
              </a:defRPr>
            </a:pPr>
            <a:r>
              <a:t>Управление музыкальными композициями</a:t>
            </a:r>
          </a:p>
          <a:p>
            <a:pPr marL="173789" indent="-173789" defTabSz="12700">
              <a:lnSpc>
                <a:spcPct val="100000"/>
              </a:lnSpc>
              <a:spcBef>
                <a:spcPts val="1300"/>
              </a:spcBef>
              <a:buFontTx/>
              <a:buAutoNum type="arabicPeriod"/>
              <a:defRPr sz="1600">
                <a:latin typeface="+mn-lt"/>
                <a:ea typeface="+mn-ea"/>
                <a:cs typeface="+mn-cs"/>
                <a:sym typeface="Helvetica"/>
              </a:defRPr>
            </a:pPr>
            <a:r>
              <a:t> Прослушивание музыки</a:t>
            </a:r>
          </a:p>
          <a:p>
            <a:pPr marL="173789" indent="-173789" defTabSz="12700">
              <a:lnSpc>
                <a:spcPct val="100000"/>
              </a:lnSpc>
              <a:spcBef>
                <a:spcPts val="1300"/>
              </a:spcBef>
              <a:buFontTx/>
              <a:buAutoNum type="arabicPeriod"/>
              <a:defRPr sz="1600">
                <a:latin typeface="+mn-lt"/>
                <a:ea typeface="+mn-ea"/>
                <a:cs typeface="+mn-cs"/>
                <a:sym typeface="Helvetica"/>
              </a:defRPr>
            </a:pPr>
            <a:r>
              <a:t> Управление воспроизведением</a:t>
            </a:r>
          </a:p>
          <a:p>
            <a:pPr marL="173789" indent="-173789" defTabSz="12700">
              <a:lnSpc>
                <a:spcPct val="100000"/>
              </a:lnSpc>
              <a:spcBef>
                <a:spcPts val="1300"/>
              </a:spcBef>
              <a:buFontTx/>
              <a:buAutoNum type="arabicPeriod"/>
              <a:defRPr sz="1600">
                <a:latin typeface="+mn-lt"/>
                <a:ea typeface="+mn-ea"/>
                <a:cs typeface="+mn-cs"/>
                <a:sym typeface="Helvetica"/>
              </a:defRPr>
            </a:pPr>
            <a:r>
              <a:t> Поиск музыки</a:t>
            </a:r>
          </a:p>
          <a:p>
            <a:pPr marL="173789" indent="-173789" defTabSz="12700">
              <a:lnSpc>
                <a:spcPct val="100000"/>
              </a:lnSpc>
              <a:spcBef>
                <a:spcPts val="1300"/>
              </a:spcBef>
              <a:buFontTx/>
              <a:buAutoNum type="arabicPeriod"/>
              <a:defRPr sz="1600">
                <a:latin typeface="+mn-lt"/>
                <a:ea typeface="+mn-ea"/>
                <a:cs typeface="+mn-cs"/>
                <a:sym typeface="Helvetica"/>
              </a:defRPr>
            </a:pPr>
            <a:r>
              <a:t> Удобная навигация </a:t>
            </a:r>
          </a:p>
          <a:p>
            <a:pPr marL="173789" indent="-173789" defTabSz="12700">
              <a:lnSpc>
                <a:spcPct val="100000"/>
              </a:lnSpc>
              <a:spcBef>
                <a:spcPts val="1300"/>
              </a:spcBef>
              <a:buFontTx/>
              <a:buAutoNum type="arabicPeriod"/>
              <a:defRPr sz="1600">
                <a:latin typeface="+mn-lt"/>
                <a:ea typeface="+mn-ea"/>
                <a:cs typeface="+mn-cs"/>
                <a:sym typeface="Helvetica"/>
              </a:defRPr>
            </a:pPr>
            <a:r>
              <a:t> Управление плейлистами</a:t>
            </a:r>
          </a:p>
          <a:p>
            <a:pPr marL="173789" indent="-173789" defTabSz="12700">
              <a:lnSpc>
                <a:spcPct val="100000"/>
              </a:lnSpc>
              <a:spcBef>
                <a:spcPts val="1300"/>
              </a:spcBef>
              <a:buFontTx/>
              <a:buAutoNum type="arabicPeriod"/>
              <a:defRPr sz="1600">
                <a:latin typeface="+mn-lt"/>
                <a:ea typeface="+mn-ea"/>
                <a:cs typeface="+mn-cs"/>
                <a:sym typeface="Helvetica"/>
              </a:defRPr>
            </a:pPr>
            <a:r>
              <a:t> Страницы артистов</a:t>
            </a:r>
          </a:p>
          <a:p>
            <a:pPr marL="173789" indent="-173789" defTabSz="12700">
              <a:lnSpc>
                <a:spcPct val="100000"/>
              </a:lnSpc>
              <a:spcBef>
                <a:spcPts val="1300"/>
              </a:spcBef>
              <a:buFontTx/>
              <a:buAutoNum type="arabicPeriod"/>
              <a:defRPr sz="1600">
                <a:latin typeface="+mn-lt"/>
                <a:ea typeface="+mn-ea"/>
                <a:cs typeface="+mn-cs"/>
                <a:sym typeface="Helvetica"/>
              </a:defRPr>
            </a:pPr>
            <a:r>
              <a:t> Online/offline режим</a:t>
            </a:r>
          </a:p>
        </p:txBody>
      </p:sp>
      <p:sp>
        <p:nvSpPr>
          <p:cNvPr id="245" name="TextBox 63"/>
          <p:cNvSpPr txBox="1">
            <a:spLocks noGrp="1"/>
          </p:cNvSpPr>
          <p:nvPr>
            <p:ph type="body" idx="23"/>
          </p:nvPr>
        </p:nvSpPr>
        <p:spPr>
          <a:xfrm>
            <a:off x="535695" y="1396903"/>
            <a:ext cx="10041551" cy="459741"/>
          </a:xfrm>
          <a:prstGeom prst="rect">
            <a:avLst/>
          </a:prstGeom>
        </p:spPr>
        <p:txBody>
          <a:bodyPr/>
          <a:lstStyle>
            <a:lvl1pPr marL="0" indent="0" defTabSz="12700">
              <a:spcBef>
                <a:spcPts val="1200"/>
              </a:spcBef>
              <a:buSzTx/>
              <a:buFontTx/>
              <a:buNone/>
              <a:defRPr sz="2400">
                <a:solidFill>
                  <a:srgbClr val="102D69"/>
                </a:solidFill>
                <a:latin typeface="+mn-lt"/>
                <a:ea typeface="+mn-ea"/>
                <a:cs typeface="+mn-cs"/>
                <a:sym typeface="Helvetica"/>
              </a:defRPr>
            </a:lvl1pPr>
          </a:lstStyle>
          <a:p>
            <a:r>
              <a:t>Функциональные требования</a:t>
            </a:r>
          </a:p>
        </p:txBody>
      </p:sp>
      <p:sp>
        <p:nvSpPr>
          <p:cNvPr id="246" name="TextBox 32"/>
          <p:cNvSpPr txBox="1">
            <a:spLocks noGrp="1"/>
          </p:cNvSpPr>
          <p:nvPr>
            <p:ph type="body" idx="25"/>
          </p:nvPr>
        </p:nvSpPr>
        <p:spPr>
          <a:xfrm>
            <a:off x="10337842" y="497314"/>
            <a:ext cx="245404" cy="396241"/>
          </a:xfrm>
          <a:prstGeom prst="rect">
            <a:avLst/>
          </a:prstGeom>
        </p:spPr>
        <p:txBody>
          <a:bodyPr/>
          <a:lstStyle/>
          <a:p>
            <a:fld id="{86CB4B4D-7CA3-9044-876B-883B54F8677D}" type="slidenum">
              <a:t>6</a:t>
            </a:fld>
            <a:endParaRPr/>
          </a:p>
        </p:txBody>
      </p:sp>
      <p:sp>
        <p:nvSpPr>
          <p:cNvPr id="247" name="TextBox 27"/>
          <p:cNvSpPr txBox="1">
            <a:spLocks noGrp="1"/>
          </p:cNvSpPr>
          <p:nvPr>
            <p:ph type="body" idx="26"/>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48" name="TextBox 30"/>
          <p:cNvSpPr txBox="1">
            <a:spLocks noGrp="1"/>
          </p:cNvSpPr>
          <p:nvPr>
            <p:ph type="body" idx="27"/>
          </p:nvPr>
        </p:nvSpPr>
        <p:spPr>
          <a:xfrm>
            <a:off x="3411347" y="497314"/>
            <a:ext cx="2575408" cy="3962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Сервис для стриминга и селфхостинга музыки. iOS-приложение</a:t>
            </a:r>
          </a:p>
        </p:txBody>
      </p:sp>
      <p:sp>
        <p:nvSpPr>
          <p:cNvPr id="249" name="TextBox 31"/>
          <p:cNvSpPr txBox="1">
            <a:spLocks noGrp="1"/>
          </p:cNvSpPr>
          <p:nvPr>
            <p:ph type="body" idx="28"/>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Функциональные требования</a:t>
            </a:r>
          </a:p>
        </p:txBody>
      </p:sp>
      <p:pic>
        <p:nvPicPr>
          <p:cNvPr id="250" name="search.png" descr="search.png"/>
          <p:cNvPicPr>
            <a:picLocks noChangeAspect="1"/>
          </p:cNvPicPr>
          <p:nvPr/>
        </p:nvPicPr>
        <p:blipFill>
          <a:blip r:embed="rId2"/>
          <a:srcRect t="5177" b="2392"/>
          <a:stretch>
            <a:fillRect/>
          </a:stretch>
        </p:blipFill>
        <p:spPr>
          <a:xfrm>
            <a:off x="9289445" y="1627493"/>
            <a:ext cx="2350984" cy="4721349"/>
          </a:xfrm>
          <a:prstGeom prst="rect">
            <a:avLst/>
          </a:prstGeom>
          <a:ln w="12700">
            <a:miter lim="400000"/>
          </a:ln>
        </p:spPr>
      </p:pic>
      <p:pic>
        <p:nvPicPr>
          <p:cNvPr id="251" name="history.png" descr="history.png"/>
          <p:cNvPicPr>
            <a:picLocks noChangeAspect="1"/>
          </p:cNvPicPr>
          <p:nvPr/>
        </p:nvPicPr>
        <p:blipFill>
          <a:blip r:embed="rId3"/>
          <a:srcRect t="4667" b="2694"/>
          <a:stretch>
            <a:fillRect/>
          </a:stretch>
        </p:blipFill>
        <p:spPr>
          <a:xfrm>
            <a:off x="6645716" y="1622135"/>
            <a:ext cx="2350897" cy="4731819"/>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TextBox 63"/>
          <p:cNvSpPr txBox="1">
            <a:spLocks noGrp="1"/>
          </p:cNvSpPr>
          <p:nvPr>
            <p:ph type="body" idx="21"/>
          </p:nvPr>
        </p:nvSpPr>
        <p:spPr>
          <a:xfrm>
            <a:off x="535695" y="1396903"/>
            <a:ext cx="10041551" cy="459741"/>
          </a:xfrm>
          <a:prstGeom prst="rect">
            <a:avLst/>
          </a:prstGeom>
        </p:spPr>
        <p:txBody>
          <a:bodyPr/>
          <a:lstStyle>
            <a:lvl1pPr marL="0" indent="0" defTabSz="12700">
              <a:spcBef>
                <a:spcPts val="1200"/>
              </a:spcBef>
              <a:buSzTx/>
              <a:buFontTx/>
              <a:buNone/>
              <a:defRPr sz="2400">
                <a:solidFill>
                  <a:srgbClr val="102D69"/>
                </a:solidFill>
                <a:latin typeface="+mn-lt"/>
                <a:ea typeface="+mn-ea"/>
                <a:cs typeface="+mn-cs"/>
                <a:sym typeface="Helvetica"/>
              </a:defRPr>
            </a:lvl1pPr>
          </a:lstStyle>
          <a:p>
            <a:r>
              <a:t>Архитектура приложения</a:t>
            </a:r>
          </a:p>
        </p:txBody>
      </p:sp>
      <p:sp>
        <p:nvSpPr>
          <p:cNvPr id="254" name="TextBox 32"/>
          <p:cNvSpPr txBox="1">
            <a:spLocks noGrp="1"/>
          </p:cNvSpPr>
          <p:nvPr>
            <p:ph type="body" idx="22"/>
          </p:nvPr>
        </p:nvSpPr>
        <p:spPr>
          <a:xfrm>
            <a:off x="10337842" y="497314"/>
            <a:ext cx="245404" cy="396241"/>
          </a:xfrm>
          <a:prstGeom prst="rect">
            <a:avLst/>
          </a:prstGeom>
        </p:spPr>
        <p:txBody>
          <a:bodyPr/>
          <a:lstStyle/>
          <a:p>
            <a:fld id="{86CB4B4D-7CA3-9044-876B-883B54F8677D}" type="slidenum">
              <a:t>7</a:t>
            </a:fld>
            <a:endParaRPr/>
          </a:p>
        </p:txBody>
      </p:sp>
      <p:sp>
        <p:nvSpPr>
          <p:cNvPr id="255" name="TextBox 27"/>
          <p:cNvSpPr txBox="1">
            <a:spLocks noGrp="1"/>
          </p:cNvSpPr>
          <p:nvPr>
            <p:ph type="body" idx="23"/>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56" name="TextBox 30"/>
          <p:cNvSpPr txBox="1">
            <a:spLocks noGrp="1"/>
          </p:cNvSpPr>
          <p:nvPr>
            <p:ph type="body" idx="24"/>
          </p:nvPr>
        </p:nvSpPr>
        <p:spPr>
          <a:xfrm>
            <a:off x="3411347" y="497314"/>
            <a:ext cx="2575408" cy="3962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Сервис для стриминга и селфхостинга музыки. iOS-приложение</a:t>
            </a:r>
          </a:p>
        </p:txBody>
      </p:sp>
      <p:sp>
        <p:nvSpPr>
          <p:cNvPr id="257" name="TextBox 31"/>
          <p:cNvSpPr txBox="1">
            <a:spLocks noGrp="1"/>
          </p:cNvSpPr>
          <p:nvPr>
            <p:ph type="body" idx="25"/>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Архитектура приложения</a:t>
            </a:r>
          </a:p>
        </p:txBody>
      </p:sp>
      <p:grpSp>
        <p:nvGrpSpPr>
          <p:cNvPr id="260" name="Group"/>
          <p:cNvGrpSpPr/>
          <p:nvPr/>
        </p:nvGrpSpPr>
        <p:grpSpPr>
          <a:xfrm>
            <a:off x="3045890" y="2050217"/>
            <a:ext cx="6100220" cy="4501405"/>
            <a:chOff x="0" y="0"/>
            <a:chExt cx="6100219" cy="4501404"/>
          </a:xfrm>
        </p:grpSpPr>
        <p:pic>
          <p:nvPicPr>
            <p:cNvPr id="258" name="architecture.png" descr="architecture.png"/>
            <p:cNvPicPr>
              <a:picLocks noChangeAspect="1"/>
            </p:cNvPicPr>
            <p:nvPr/>
          </p:nvPicPr>
          <p:blipFill>
            <a:blip r:embed="rId2"/>
            <a:stretch>
              <a:fillRect/>
            </a:stretch>
          </p:blipFill>
          <p:spPr>
            <a:xfrm>
              <a:off x="0" y="0"/>
              <a:ext cx="6100220" cy="4158505"/>
            </a:xfrm>
            <a:prstGeom prst="rect">
              <a:avLst/>
            </a:prstGeom>
            <a:ln w="12700" cap="flat">
              <a:noFill/>
              <a:miter lim="400000"/>
            </a:ln>
            <a:effectLst/>
          </p:spPr>
        </p:pic>
        <p:sp>
          <p:nvSpPr>
            <p:cNvPr id="259" name="Caption"/>
            <p:cNvSpPr/>
            <p:nvPr/>
          </p:nvSpPr>
          <p:spPr>
            <a:xfrm>
              <a:off x="0" y="4260104"/>
              <a:ext cx="6100220" cy="241301"/>
            </a:xfrm>
            <a:prstGeom prst="roundRect">
              <a:avLst>
                <a:gd name="adj" fmla="val 0"/>
              </a:avLst>
            </a:prstGeom>
            <a:solidFill>
              <a:srgbClr val="000000">
                <a:alpha val="0"/>
              </a:srgbClr>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noAutofit/>
            </a:bodyPr>
            <a:lstStyle>
              <a:lvl1pPr algn="ctr" defTabSz="914400">
                <a:spcBef>
                  <a:spcPts val="0"/>
                </a:spcBef>
                <a:defRPr sz="1600">
                  <a:solidFill>
                    <a:srgbClr val="000000"/>
                  </a:solidFill>
                </a:defRPr>
              </a:lvl1pPr>
            </a:lstStyle>
            <a:p>
              <a:r>
                <a:t>Схематичное представление архитектуры проекта</a:t>
              </a:r>
            </a:p>
          </p:txBody>
        </p:sp>
      </p:gr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TextBox 63"/>
          <p:cNvSpPr txBox="1">
            <a:spLocks noGrp="1"/>
          </p:cNvSpPr>
          <p:nvPr>
            <p:ph type="body" idx="24"/>
          </p:nvPr>
        </p:nvSpPr>
        <p:spPr>
          <a:xfrm>
            <a:off x="535695" y="1396903"/>
            <a:ext cx="10041551" cy="459741"/>
          </a:xfrm>
          <a:prstGeom prst="rect">
            <a:avLst/>
          </a:prstGeom>
        </p:spPr>
        <p:txBody>
          <a:bodyPr/>
          <a:lstStyle>
            <a:lvl1pPr marL="0" indent="0" defTabSz="12700">
              <a:spcBef>
                <a:spcPts val="1200"/>
              </a:spcBef>
              <a:buSzTx/>
              <a:buFontTx/>
              <a:buNone/>
              <a:defRPr sz="2400">
                <a:solidFill>
                  <a:srgbClr val="102D69"/>
                </a:solidFill>
                <a:latin typeface="+mn-lt"/>
                <a:ea typeface="+mn-ea"/>
                <a:cs typeface="+mn-cs"/>
                <a:sym typeface="Helvetica"/>
              </a:defRPr>
            </a:lvl1pPr>
          </a:lstStyle>
          <a:p>
            <a:r>
              <a:t>Особенности реализации</a:t>
            </a:r>
          </a:p>
        </p:txBody>
      </p:sp>
      <p:sp>
        <p:nvSpPr>
          <p:cNvPr id="263" name="TextBox 32"/>
          <p:cNvSpPr txBox="1">
            <a:spLocks noGrp="1"/>
          </p:cNvSpPr>
          <p:nvPr>
            <p:ph type="body" idx="25"/>
          </p:nvPr>
        </p:nvSpPr>
        <p:spPr>
          <a:xfrm>
            <a:off x="10337842" y="497314"/>
            <a:ext cx="245404" cy="396241"/>
          </a:xfrm>
          <a:prstGeom prst="rect">
            <a:avLst/>
          </a:prstGeom>
        </p:spPr>
        <p:txBody>
          <a:bodyPr/>
          <a:lstStyle/>
          <a:p>
            <a:fld id="{86CB4B4D-7CA3-9044-876B-883B54F8677D}" type="slidenum">
              <a:t>8</a:t>
            </a:fld>
            <a:endParaRPr/>
          </a:p>
        </p:txBody>
      </p:sp>
      <p:sp>
        <p:nvSpPr>
          <p:cNvPr id="264" name="TextBox 27"/>
          <p:cNvSpPr txBox="1">
            <a:spLocks noGrp="1"/>
          </p:cNvSpPr>
          <p:nvPr>
            <p:ph type="body" idx="26"/>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65" name="TextBox 30"/>
          <p:cNvSpPr txBox="1">
            <a:spLocks noGrp="1"/>
          </p:cNvSpPr>
          <p:nvPr>
            <p:ph type="body" idx="27"/>
          </p:nvPr>
        </p:nvSpPr>
        <p:spPr>
          <a:xfrm>
            <a:off x="3411347" y="497314"/>
            <a:ext cx="2575408" cy="3962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Сервис для стриминга и селфхостинга музыки. iOS-приложение</a:t>
            </a:r>
          </a:p>
        </p:txBody>
      </p:sp>
      <p:sp>
        <p:nvSpPr>
          <p:cNvPr id="266" name="TextBox 31"/>
          <p:cNvSpPr txBox="1">
            <a:spLocks noGrp="1"/>
          </p:cNvSpPr>
          <p:nvPr>
            <p:ph type="body" idx="28"/>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Особенности реализации</a:t>
            </a:r>
          </a:p>
        </p:txBody>
      </p:sp>
      <p:grpSp>
        <p:nvGrpSpPr>
          <p:cNvPr id="269" name="Group"/>
          <p:cNvGrpSpPr/>
          <p:nvPr/>
        </p:nvGrpSpPr>
        <p:grpSpPr>
          <a:xfrm>
            <a:off x="2279649" y="2081033"/>
            <a:ext cx="7632870" cy="4447806"/>
            <a:chOff x="0" y="0"/>
            <a:chExt cx="7632869" cy="4447805"/>
          </a:xfrm>
        </p:grpSpPr>
        <p:pic>
          <p:nvPicPr>
            <p:cNvPr id="267" name="telegram-cloud-document-2-5204445780777134844.jpg" descr="telegram-cloud-document-2-5204445780777134844.jpg"/>
            <p:cNvPicPr>
              <a:picLocks noChangeAspect="1"/>
            </p:cNvPicPr>
            <p:nvPr/>
          </p:nvPicPr>
          <p:blipFill>
            <a:blip r:embed="rId2"/>
            <a:srcRect/>
            <a:stretch>
              <a:fillRect/>
            </a:stretch>
          </p:blipFill>
          <p:spPr>
            <a:xfrm>
              <a:off x="0" y="0"/>
              <a:ext cx="7632869" cy="4104906"/>
            </a:xfrm>
            <a:prstGeom prst="rect">
              <a:avLst/>
            </a:prstGeom>
            <a:ln w="12700" cap="flat">
              <a:noFill/>
              <a:miter lim="400000"/>
            </a:ln>
            <a:effectLst/>
          </p:spPr>
        </p:pic>
        <p:sp>
          <p:nvSpPr>
            <p:cNvPr id="268" name="Caption"/>
            <p:cNvSpPr/>
            <p:nvPr/>
          </p:nvSpPr>
          <p:spPr>
            <a:xfrm>
              <a:off x="0" y="4206505"/>
              <a:ext cx="7632869" cy="241301"/>
            </a:xfrm>
            <a:prstGeom prst="roundRect">
              <a:avLst>
                <a:gd name="adj" fmla="val 0"/>
              </a:avLst>
            </a:prstGeom>
            <a:solidFill>
              <a:srgbClr val="000000">
                <a:alpha val="0"/>
              </a:srgbClr>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noAutofit/>
            </a:bodyPr>
            <a:lstStyle>
              <a:lvl1pPr algn="ctr" defTabSz="914400">
                <a:spcBef>
                  <a:spcPts val="0"/>
                </a:spcBef>
                <a:defRPr sz="1600">
                  <a:solidFill>
                    <a:srgbClr val="000000"/>
                  </a:solidFill>
                </a:defRPr>
              </a:lvl1pPr>
            </a:lstStyle>
            <a:p>
              <a:r>
                <a:t>Загрузка трека в offline-режиме с последующим сохранением на сервер</a:t>
              </a:r>
            </a:p>
          </p:txBody>
        </p:sp>
      </p:gr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TextBox 28"/>
          <p:cNvSpPr txBox="1">
            <a:spLocks noGrp="1"/>
          </p:cNvSpPr>
          <p:nvPr>
            <p:ph type="body" idx="21"/>
          </p:nvPr>
        </p:nvSpPr>
        <p:spPr>
          <a:xfrm>
            <a:off x="535695" y="1396903"/>
            <a:ext cx="7763686" cy="459741"/>
          </a:xfrm>
          <a:prstGeom prst="rect">
            <a:avLst/>
          </a:prstGeom>
        </p:spPr>
        <p:txBody>
          <a:bodyPr/>
          <a:lstStyle>
            <a:lvl1pPr marL="0" indent="0" defTabSz="12700">
              <a:lnSpc>
                <a:spcPct val="100000"/>
              </a:lnSpc>
              <a:spcBef>
                <a:spcPts val="0"/>
              </a:spcBef>
              <a:buSzTx/>
              <a:buFontTx/>
              <a:buNone/>
              <a:defRPr sz="2400">
                <a:solidFill>
                  <a:srgbClr val="102D69"/>
                </a:solidFill>
                <a:latin typeface="+mn-lt"/>
                <a:ea typeface="+mn-ea"/>
                <a:cs typeface="+mn-cs"/>
                <a:sym typeface="Helvetica"/>
              </a:defRPr>
            </a:lvl1pPr>
          </a:lstStyle>
          <a:p>
            <a:r>
              <a:t>Основные инструменты и технологии</a:t>
            </a:r>
          </a:p>
        </p:txBody>
      </p:sp>
      <p:sp>
        <p:nvSpPr>
          <p:cNvPr id="272" name="TextBox 32"/>
          <p:cNvSpPr txBox="1">
            <a:spLocks noGrp="1"/>
          </p:cNvSpPr>
          <p:nvPr>
            <p:ph type="body" idx="23"/>
          </p:nvPr>
        </p:nvSpPr>
        <p:spPr>
          <a:xfrm>
            <a:off x="10337842" y="497314"/>
            <a:ext cx="245404" cy="396241"/>
          </a:xfrm>
          <a:prstGeom prst="rect">
            <a:avLst/>
          </a:prstGeom>
        </p:spPr>
        <p:txBody>
          <a:bodyPr/>
          <a:lstStyle/>
          <a:p>
            <a:fld id="{86CB4B4D-7CA3-9044-876B-883B54F8677D}" type="slidenum">
              <a:t>9</a:t>
            </a:fld>
            <a:endParaRPr/>
          </a:p>
        </p:txBody>
      </p:sp>
      <p:sp>
        <p:nvSpPr>
          <p:cNvPr id="273" name="TextBox 27"/>
          <p:cNvSpPr txBox="1">
            <a:spLocks noGrp="1"/>
          </p:cNvSpPr>
          <p:nvPr>
            <p:ph type="body" idx="24"/>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74" name="TextBox 30"/>
          <p:cNvSpPr txBox="1">
            <a:spLocks noGrp="1"/>
          </p:cNvSpPr>
          <p:nvPr>
            <p:ph type="body" idx="25"/>
          </p:nvPr>
        </p:nvSpPr>
        <p:spPr>
          <a:xfrm>
            <a:off x="3411347" y="497314"/>
            <a:ext cx="2575408" cy="3962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Сервис для стриминга и селфхостинга музыки. iOS-приложение</a:t>
            </a:r>
          </a:p>
        </p:txBody>
      </p:sp>
      <p:sp>
        <p:nvSpPr>
          <p:cNvPr id="275" name="TextBox 31"/>
          <p:cNvSpPr txBox="1">
            <a:spLocks noGrp="1"/>
          </p:cNvSpPr>
          <p:nvPr>
            <p:ph type="body" idx="26"/>
          </p:nvPr>
        </p:nvSpPr>
        <p:spPr>
          <a:xfrm>
            <a:off x="6203837" y="497314"/>
            <a:ext cx="2255307" cy="3962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Основные инструменты и технологии</a:t>
            </a:r>
          </a:p>
        </p:txBody>
      </p:sp>
      <p:grpSp>
        <p:nvGrpSpPr>
          <p:cNvPr id="278" name="Image Gallery"/>
          <p:cNvGrpSpPr/>
          <p:nvPr/>
        </p:nvGrpSpPr>
        <p:grpSpPr>
          <a:xfrm>
            <a:off x="962246" y="2539816"/>
            <a:ext cx="2794001" cy="3263901"/>
            <a:chOff x="0" y="0"/>
            <a:chExt cx="2794000" cy="3263900"/>
          </a:xfrm>
        </p:grpSpPr>
        <p:pic>
          <p:nvPicPr>
            <p:cNvPr id="276" name="Xcode Big Sur Icon.png" descr="Xcode Big Sur Icon.png"/>
            <p:cNvPicPr>
              <a:picLocks noChangeAspect="1"/>
            </p:cNvPicPr>
            <p:nvPr/>
          </p:nvPicPr>
          <p:blipFill>
            <a:blip r:embed="rId2"/>
            <a:srcRect/>
            <a:stretch>
              <a:fillRect/>
            </a:stretch>
          </p:blipFill>
          <p:spPr>
            <a:xfrm>
              <a:off x="0" y="0"/>
              <a:ext cx="2794000" cy="2794000"/>
            </a:xfrm>
            <a:prstGeom prst="rect">
              <a:avLst/>
            </a:prstGeom>
            <a:ln w="12700" cap="flat">
              <a:noFill/>
              <a:miter lim="400000"/>
            </a:ln>
            <a:effectLst/>
          </p:spPr>
        </p:pic>
        <p:sp>
          <p:nvSpPr>
            <p:cNvPr id="277" name="Xcode"/>
            <p:cNvSpPr/>
            <p:nvPr/>
          </p:nvSpPr>
          <p:spPr>
            <a:xfrm>
              <a:off x="0" y="2870200"/>
              <a:ext cx="2794000" cy="3937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6200" tIns="76200" rIns="76200" bIns="76200" numCol="1" anchor="t">
              <a:noAutofit/>
            </a:bodyPr>
            <a:lstStyle>
              <a:lvl1pPr algn="ctr" defTabSz="914400">
                <a:spcBef>
                  <a:spcPts val="0"/>
                </a:spcBef>
                <a:defRPr sz="1600">
                  <a:solidFill>
                    <a:srgbClr val="000000"/>
                  </a:solidFill>
                </a:defRPr>
              </a:lvl1pPr>
            </a:lstStyle>
            <a:p>
              <a:pPr>
                <a:defRPr sz="1800">
                  <a:latin typeface="+mj-lt"/>
                  <a:ea typeface="+mj-ea"/>
                  <a:cs typeface="+mj-cs"/>
                  <a:sym typeface="Calibri"/>
                </a:defRPr>
              </a:pPr>
              <a:r>
                <a:rPr sz="1600">
                  <a:latin typeface="+mn-lt"/>
                  <a:ea typeface="+mn-ea"/>
                  <a:cs typeface="+mn-cs"/>
                  <a:sym typeface="Helvetica"/>
                </a:rPr>
                <a:t>Xcode</a:t>
              </a:r>
            </a:p>
          </p:txBody>
        </p:sp>
      </p:grpSp>
      <p:grpSp>
        <p:nvGrpSpPr>
          <p:cNvPr id="281" name="Image Gallery"/>
          <p:cNvGrpSpPr/>
          <p:nvPr/>
        </p:nvGrpSpPr>
        <p:grpSpPr>
          <a:xfrm>
            <a:off x="4699000" y="2539816"/>
            <a:ext cx="2794000" cy="3264268"/>
            <a:chOff x="0" y="0"/>
            <a:chExt cx="2794000" cy="3264266"/>
          </a:xfrm>
        </p:grpSpPr>
        <p:pic>
          <p:nvPicPr>
            <p:cNvPr id="279" name="Apple Swift Xcode Logo.png" descr="Apple Swift Xcode Logo.png"/>
            <p:cNvPicPr>
              <a:picLocks noChangeAspect="1"/>
            </p:cNvPicPr>
            <p:nvPr/>
          </p:nvPicPr>
          <p:blipFill>
            <a:blip r:embed="rId3"/>
            <a:srcRect l="6" r="6"/>
            <a:stretch>
              <a:fillRect/>
            </a:stretch>
          </p:blipFill>
          <p:spPr>
            <a:xfrm>
              <a:off x="0" y="0"/>
              <a:ext cx="2794000" cy="2794367"/>
            </a:xfrm>
            <a:prstGeom prst="rect">
              <a:avLst/>
            </a:prstGeom>
            <a:ln w="12700" cap="flat">
              <a:noFill/>
              <a:miter lim="400000"/>
            </a:ln>
            <a:effectLst/>
          </p:spPr>
        </p:pic>
        <p:sp>
          <p:nvSpPr>
            <p:cNvPr id="280" name="Swift"/>
            <p:cNvSpPr/>
            <p:nvPr/>
          </p:nvSpPr>
          <p:spPr>
            <a:xfrm>
              <a:off x="0" y="2870566"/>
              <a:ext cx="2794000" cy="3937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6200" tIns="76200" rIns="76200" bIns="76200" numCol="1" anchor="t">
              <a:noAutofit/>
            </a:bodyPr>
            <a:lstStyle>
              <a:lvl1pPr algn="ctr" defTabSz="914400">
                <a:spcBef>
                  <a:spcPts val="0"/>
                </a:spcBef>
                <a:defRPr sz="1600">
                  <a:solidFill>
                    <a:srgbClr val="000000"/>
                  </a:solidFill>
                </a:defRPr>
              </a:lvl1pPr>
            </a:lstStyle>
            <a:p>
              <a:r>
                <a:t>Swift</a:t>
              </a:r>
            </a:p>
          </p:txBody>
        </p:sp>
      </p:grpSp>
      <p:grpSp>
        <p:nvGrpSpPr>
          <p:cNvPr id="284" name="Image Gallery"/>
          <p:cNvGrpSpPr/>
          <p:nvPr/>
        </p:nvGrpSpPr>
        <p:grpSpPr>
          <a:xfrm>
            <a:off x="8435753" y="2540000"/>
            <a:ext cx="2794001" cy="3263900"/>
            <a:chOff x="0" y="0"/>
            <a:chExt cx="2794000" cy="3263900"/>
          </a:xfrm>
        </p:grpSpPr>
        <p:pic>
          <p:nvPicPr>
            <p:cNvPr id="282" name="Git Icon PNG.png" descr="Git Icon PNG.png"/>
            <p:cNvPicPr>
              <a:picLocks noChangeAspect="1"/>
            </p:cNvPicPr>
            <p:nvPr/>
          </p:nvPicPr>
          <p:blipFill>
            <a:blip r:embed="rId4"/>
            <a:srcRect/>
            <a:stretch>
              <a:fillRect/>
            </a:stretch>
          </p:blipFill>
          <p:spPr>
            <a:xfrm>
              <a:off x="0" y="0"/>
              <a:ext cx="2794000" cy="2794000"/>
            </a:xfrm>
            <a:prstGeom prst="rect">
              <a:avLst/>
            </a:prstGeom>
            <a:ln w="12700" cap="flat">
              <a:noFill/>
              <a:miter lim="400000"/>
            </a:ln>
            <a:effectLst/>
          </p:spPr>
        </p:pic>
        <p:sp>
          <p:nvSpPr>
            <p:cNvPr id="283" name="Git"/>
            <p:cNvSpPr/>
            <p:nvPr/>
          </p:nvSpPr>
          <p:spPr>
            <a:xfrm>
              <a:off x="0" y="2870200"/>
              <a:ext cx="2794000" cy="3937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6200" tIns="76200" rIns="76200" bIns="76200" numCol="1" anchor="t">
              <a:noAutofit/>
            </a:bodyPr>
            <a:lstStyle>
              <a:lvl1pPr algn="ctr" defTabSz="914400">
                <a:spcBef>
                  <a:spcPts val="0"/>
                </a:spcBef>
                <a:defRPr sz="1600">
                  <a:solidFill>
                    <a:srgbClr val="000000"/>
                  </a:solidFill>
                </a:defRPr>
              </a:lvl1pPr>
            </a:lstStyle>
            <a:p>
              <a:r>
                <a:t>Git</a:t>
              </a:r>
            </a:p>
          </p:txBody>
        </p:sp>
      </p:gr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2E6C"/>
        </a:solidFill>
        <a:effectLst/>
      </p:bgPr>
    </p:bg>
    <p:spTree>
      <p:nvGrpSpPr>
        <p:cNvPr id="1" name=""/>
        <p:cNvGrpSpPr/>
        <p:nvPr/>
      </p:nvGrpSpPr>
      <p:grpSpPr>
        <a:xfrm>
          <a:off x="0" y="0"/>
          <a:ext cx="0" cy="0"/>
          <a:chOff x="0" y="0"/>
          <a:chExt cx="0" cy="0"/>
        </a:xfrm>
      </p:grpSpPr>
      <p:sp>
        <p:nvSpPr>
          <p:cNvPr id="286" name="TextBox 17"/>
          <p:cNvSpPr txBox="1">
            <a:spLocks noGrp="1"/>
          </p:cNvSpPr>
          <p:nvPr>
            <p:ph type="body" idx="21"/>
          </p:nvPr>
        </p:nvSpPr>
        <p:spPr>
          <a:xfrm>
            <a:off x="4315860" y="1765958"/>
            <a:ext cx="3560280" cy="459741"/>
          </a:xfrm>
          <a:prstGeom prst="rect">
            <a:avLst/>
          </a:prstGeom>
        </p:spPr>
        <p:txBody>
          <a:bodyPr anchor="ctr"/>
          <a:lstStyle>
            <a:lvl1pPr marL="0" indent="0" algn="ctr" defTabSz="12700">
              <a:lnSpc>
                <a:spcPct val="100000"/>
              </a:lnSpc>
              <a:spcBef>
                <a:spcPts val="0"/>
              </a:spcBef>
              <a:buSzTx/>
              <a:buFontTx/>
              <a:buNone/>
              <a:defRPr sz="2400">
                <a:solidFill>
                  <a:srgbClr val="102D69"/>
                </a:solidFill>
                <a:latin typeface="+mn-lt"/>
                <a:ea typeface="+mn-ea"/>
                <a:cs typeface="+mn-cs"/>
                <a:sym typeface="Helvetica"/>
              </a:defRPr>
            </a:lvl1pPr>
          </a:lstStyle>
          <a:p>
            <a:r>
              <a:t>Демонстрация</a:t>
            </a:r>
          </a:p>
        </p:txBody>
      </p:sp>
      <p:sp>
        <p:nvSpPr>
          <p:cNvPr id="287" name="TextBox 32"/>
          <p:cNvSpPr txBox="1">
            <a:spLocks noGrp="1"/>
          </p:cNvSpPr>
          <p:nvPr>
            <p:ph type="body" idx="23"/>
          </p:nvPr>
        </p:nvSpPr>
        <p:spPr>
          <a:xfrm>
            <a:off x="10337842" y="497314"/>
            <a:ext cx="386667" cy="396241"/>
          </a:xfrm>
          <a:prstGeom prst="rect">
            <a:avLst/>
          </a:prstGeom>
        </p:spPr>
        <p:txBody>
          <a:bodyPr/>
          <a:lstStyle/>
          <a:p>
            <a:fld id="{86CB4B4D-7CA3-9044-876B-883B54F8677D}" type="slidenum">
              <a:t>10</a:t>
            </a:fld>
            <a:endParaRPr/>
          </a:p>
        </p:txBody>
      </p:sp>
      <p:sp>
        <p:nvSpPr>
          <p:cNvPr id="288" name="TextBox 27"/>
          <p:cNvSpPr txBox="1">
            <a:spLocks noGrp="1"/>
          </p:cNvSpPr>
          <p:nvPr>
            <p:ph type="body" idx="24"/>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89" name="TextBox 30"/>
          <p:cNvSpPr txBox="1">
            <a:spLocks noGrp="1"/>
          </p:cNvSpPr>
          <p:nvPr>
            <p:ph type="body" idx="25"/>
          </p:nvPr>
        </p:nvSpPr>
        <p:spPr>
          <a:xfrm>
            <a:off x="3411347" y="497314"/>
            <a:ext cx="2575408" cy="3962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Сервис для стриминга и селфхостинга музыки. iOS-приложение</a:t>
            </a:r>
          </a:p>
        </p:txBody>
      </p:sp>
      <p:sp>
        <p:nvSpPr>
          <p:cNvPr id="290" name="TextBox 31"/>
          <p:cNvSpPr txBox="1">
            <a:spLocks noGrp="1"/>
          </p:cNvSpPr>
          <p:nvPr>
            <p:ph type="body" idx="26"/>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Демонстрация</a:t>
            </a:r>
          </a:p>
        </p:txBody>
      </p:sp>
      <p:pic>
        <p:nvPicPr>
          <p:cNvPr id="291" name="01_Logo_HSE_full_rus_CMYK.png" descr="01_Logo_HSE_full_rus_CMYK.png"/>
          <p:cNvPicPr>
            <a:picLocks noChangeAspect="1"/>
          </p:cNvPicPr>
          <p:nvPr/>
        </p:nvPicPr>
        <p:blipFill>
          <a:blip r:embed="rId2"/>
          <a:stretch>
            <a:fillRect/>
          </a:stretch>
        </p:blipFill>
        <p:spPr>
          <a:xfrm>
            <a:off x="4743450" y="2436040"/>
            <a:ext cx="2705100" cy="2717801"/>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TextBox 63"/>
          <p:cNvSpPr txBox="1">
            <a:spLocks noGrp="1"/>
          </p:cNvSpPr>
          <p:nvPr>
            <p:ph type="body" idx="21"/>
          </p:nvPr>
        </p:nvSpPr>
        <p:spPr>
          <a:xfrm>
            <a:off x="535695" y="1396903"/>
            <a:ext cx="5337879" cy="459741"/>
          </a:xfrm>
          <a:prstGeom prst="rect">
            <a:avLst/>
          </a:prstGeom>
        </p:spPr>
        <p:txBody>
          <a:bodyPr/>
          <a:lstStyle>
            <a:lvl1pPr marL="0" indent="0" defTabSz="12700">
              <a:spcBef>
                <a:spcPts val="1200"/>
              </a:spcBef>
              <a:buSzTx/>
              <a:buFontTx/>
              <a:buNone/>
              <a:defRPr sz="2400">
                <a:solidFill>
                  <a:srgbClr val="102D69"/>
                </a:solidFill>
                <a:latin typeface="+mn-lt"/>
                <a:ea typeface="+mn-ea"/>
                <a:cs typeface="+mn-cs"/>
                <a:sym typeface="Helvetica"/>
              </a:defRPr>
            </a:lvl1pPr>
          </a:lstStyle>
          <a:p>
            <a:r>
              <a:t>Основные результаты и выводы</a:t>
            </a:r>
          </a:p>
        </p:txBody>
      </p:sp>
      <p:sp>
        <p:nvSpPr>
          <p:cNvPr id="294" name="TextBox 16"/>
          <p:cNvSpPr txBox="1">
            <a:spLocks noGrp="1"/>
          </p:cNvSpPr>
          <p:nvPr>
            <p:ph type="body" idx="22"/>
          </p:nvPr>
        </p:nvSpPr>
        <p:spPr>
          <a:xfrm>
            <a:off x="562919" y="2367263"/>
            <a:ext cx="11066162" cy="3747771"/>
          </a:xfrm>
          <a:prstGeom prst="rect">
            <a:avLst/>
          </a:prstGeom>
        </p:spPr>
        <p:txBody>
          <a:bodyPr/>
          <a:lstStyle/>
          <a:p>
            <a:pPr>
              <a:lnSpc>
                <a:spcPct val="70000"/>
              </a:lnSpc>
              <a:defRPr sz="1600"/>
            </a:pPr>
            <a:r>
              <a:t>Результаты:</a:t>
            </a:r>
          </a:p>
          <a:p>
            <a:pPr marL="173789" indent="-173789">
              <a:lnSpc>
                <a:spcPct val="70000"/>
              </a:lnSpc>
              <a:buSzPct val="100000"/>
              <a:buAutoNum type="arabicPeriod"/>
              <a:defRPr sz="1600"/>
            </a:pPr>
            <a:r>
              <a:t>Проведен анализ аналогов</a:t>
            </a:r>
          </a:p>
          <a:p>
            <a:pPr marL="173789" indent="-173789">
              <a:buSzPct val="100000"/>
              <a:buAutoNum type="arabicPeriod"/>
              <a:defRPr sz="1600"/>
            </a:pPr>
            <a:r>
              <a:t>Определены функциональные требования</a:t>
            </a:r>
          </a:p>
          <a:p>
            <a:pPr marL="173789" indent="-173789">
              <a:buSzPct val="100000"/>
              <a:buAutoNum type="arabicPeriod"/>
              <a:defRPr sz="1600"/>
            </a:pPr>
            <a:r>
              <a:t>Разработана архитектура приложения</a:t>
            </a:r>
          </a:p>
          <a:p>
            <a:pPr marL="173789" indent="-173789">
              <a:buSzPct val="100000"/>
              <a:buAutoNum type="arabicPeriod"/>
              <a:defRPr sz="1600"/>
            </a:pPr>
            <a:r>
              <a:t>Реализован функционал: режим online/offline, прослушивание музыки, защита данных через авторизацию и локальное хранение, управление очередью, страницы артистов</a:t>
            </a:r>
          </a:p>
          <a:p>
            <a:pPr marL="173789" indent="-173789">
              <a:buSzPct val="100000"/>
              <a:buAutoNum type="arabicPeriod"/>
              <a:defRPr sz="1600"/>
            </a:pPr>
            <a:r>
              <a:t>Реализован интерфейс</a:t>
            </a:r>
          </a:p>
          <a:p>
            <a:pPr>
              <a:defRPr sz="1600"/>
            </a:pPr>
            <a:endParaRPr/>
          </a:p>
          <a:p>
            <a:pPr>
              <a:lnSpc>
                <a:spcPct val="70000"/>
              </a:lnSpc>
              <a:defRPr sz="1600"/>
            </a:pPr>
            <a:r>
              <a:t>Вывод: </a:t>
            </a:r>
          </a:p>
          <a:p>
            <a:pPr>
              <a:defRPr sz="1600"/>
            </a:pPr>
            <a:r>
              <a:t>Проект решает проблему зависимости от стриминговых платформ, предлагая полный контроль над контентом, а также дает удобное iOS-приложение для управления музыкой.</a:t>
            </a:r>
          </a:p>
        </p:txBody>
      </p:sp>
      <p:sp>
        <p:nvSpPr>
          <p:cNvPr id="295" name="TextBox 32"/>
          <p:cNvSpPr txBox="1">
            <a:spLocks noGrp="1"/>
          </p:cNvSpPr>
          <p:nvPr>
            <p:ph type="body" idx="23"/>
          </p:nvPr>
        </p:nvSpPr>
        <p:spPr>
          <a:xfrm>
            <a:off x="10337842" y="497314"/>
            <a:ext cx="367939" cy="396241"/>
          </a:xfrm>
          <a:prstGeom prst="rect">
            <a:avLst/>
          </a:prstGeom>
        </p:spPr>
        <p:txBody>
          <a:bodyPr/>
          <a:lstStyle/>
          <a:p>
            <a:fld id="{86CB4B4D-7CA3-9044-876B-883B54F8677D}" type="slidenum">
              <a:t>11</a:t>
            </a:fld>
            <a:endParaRPr/>
          </a:p>
        </p:txBody>
      </p:sp>
      <p:sp>
        <p:nvSpPr>
          <p:cNvPr id="296" name="TextBox 27"/>
          <p:cNvSpPr txBox="1">
            <a:spLocks noGrp="1"/>
          </p:cNvSpPr>
          <p:nvPr>
            <p:ph type="body" idx="24"/>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297" name="TextBox 30"/>
          <p:cNvSpPr txBox="1">
            <a:spLocks noGrp="1"/>
          </p:cNvSpPr>
          <p:nvPr>
            <p:ph type="body" idx="25"/>
          </p:nvPr>
        </p:nvSpPr>
        <p:spPr>
          <a:xfrm>
            <a:off x="3411347" y="497314"/>
            <a:ext cx="2575408" cy="3962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Сервис для стриминга и селфхостинга музыки. iOS-приложение</a:t>
            </a:r>
          </a:p>
        </p:txBody>
      </p:sp>
      <p:sp>
        <p:nvSpPr>
          <p:cNvPr id="298" name="TextBox 31"/>
          <p:cNvSpPr txBox="1">
            <a:spLocks noGrp="1"/>
          </p:cNvSpPr>
          <p:nvPr>
            <p:ph type="body" idx="26"/>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Основные результаты и выводы</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TextBox 31"/>
          <p:cNvSpPr txBox="1">
            <a:spLocks noGrp="1"/>
          </p:cNvSpPr>
          <p:nvPr>
            <p:ph type="body" idx="21"/>
          </p:nvPr>
        </p:nvSpPr>
        <p:spPr>
          <a:xfrm>
            <a:off x="535695" y="1396903"/>
            <a:ext cx="5267804" cy="459741"/>
          </a:xfrm>
          <a:prstGeom prst="rect">
            <a:avLst/>
          </a:prstGeom>
        </p:spPr>
        <p:txBody>
          <a:bodyPr/>
          <a:lstStyle>
            <a:lvl1pPr marL="0" indent="0" defTabSz="12700">
              <a:spcBef>
                <a:spcPts val="1200"/>
              </a:spcBef>
              <a:buSzTx/>
              <a:buFontTx/>
              <a:buNone/>
              <a:defRPr sz="2400">
                <a:solidFill>
                  <a:srgbClr val="102D69"/>
                </a:solidFill>
                <a:latin typeface="+mn-lt"/>
                <a:ea typeface="+mn-ea"/>
                <a:cs typeface="+mn-cs"/>
                <a:sym typeface="Helvetica"/>
              </a:defRPr>
            </a:lvl1pPr>
          </a:lstStyle>
          <a:p>
            <a:r>
              <a:t>Направления дальнейшей работы</a:t>
            </a:r>
          </a:p>
        </p:txBody>
      </p:sp>
      <p:sp>
        <p:nvSpPr>
          <p:cNvPr id="301" name="TextBox 30"/>
          <p:cNvSpPr txBox="1">
            <a:spLocks noGrp="1"/>
          </p:cNvSpPr>
          <p:nvPr>
            <p:ph type="body" idx="22"/>
          </p:nvPr>
        </p:nvSpPr>
        <p:spPr>
          <a:xfrm>
            <a:off x="562919" y="2367263"/>
            <a:ext cx="5733098" cy="2631441"/>
          </a:xfrm>
          <a:prstGeom prst="rect">
            <a:avLst/>
          </a:prstGeom>
        </p:spPr>
        <p:txBody>
          <a:bodyPr/>
          <a:lstStyle/>
          <a:p>
            <a:pPr marL="213894" indent="-213894">
              <a:buSzPct val="100000"/>
              <a:buAutoNum type="arabicPeriod"/>
              <a:defRPr sz="1600"/>
            </a:pPr>
            <a:r>
              <a:t>Углубленная аналитика и визуализация статистики: топ треков, артистов, жанров.</a:t>
            </a:r>
          </a:p>
          <a:p>
            <a:pPr marL="213894" indent="-213894">
              <a:buSzPct val="100000"/>
              <a:buAutoNum type="arabicPeriod"/>
              <a:defRPr sz="1600"/>
            </a:pPr>
            <a:r>
              <a:t>Поддержка большего количества аудиоформатов.</a:t>
            </a:r>
          </a:p>
          <a:p>
            <a:pPr marL="173789" indent="-173789">
              <a:buSzPct val="100000"/>
              <a:buAutoNum type="arabicPeriod"/>
              <a:defRPr sz="1600"/>
            </a:pPr>
            <a:r>
              <a:t> Рекомендательная система на основе машинного обучения.</a:t>
            </a:r>
          </a:p>
          <a:p>
            <a:pPr marL="173789" indent="-173789">
              <a:buSzPct val="100000"/>
              <a:buAutoNum type="arabicPeriod"/>
              <a:defRPr sz="1600"/>
            </a:pPr>
            <a:r>
              <a:t> Интеграция с музыкальными сервисами.</a:t>
            </a:r>
          </a:p>
          <a:p>
            <a:pPr marL="173789" indent="-173789">
              <a:buSzPct val="100000"/>
              <a:buAutoNum type="arabicPeriod"/>
              <a:defRPr sz="1600"/>
            </a:pPr>
            <a:r>
              <a:t> Дополнительные возможности: радио, подкасты, голосовое управление.</a:t>
            </a:r>
          </a:p>
        </p:txBody>
      </p:sp>
      <p:sp>
        <p:nvSpPr>
          <p:cNvPr id="302" name="TextBox 23"/>
          <p:cNvSpPr txBox="1">
            <a:spLocks noGrp="1"/>
          </p:cNvSpPr>
          <p:nvPr>
            <p:ph type="body" idx="23"/>
          </p:nvPr>
        </p:nvSpPr>
        <p:spPr>
          <a:xfrm>
            <a:off x="10337842" y="497314"/>
            <a:ext cx="386667" cy="396241"/>
          </a:xfrm>
          <a:prstGeom prst="rect">
            <a:avLst/>
          </a:prstGeom>
        </p:spPr>
        <p:txBody>
          <a:bodyPr/>
          <a:lstStyle/>
          <a:p>
            <a:fld id="{86CB4B4D-7CA3-9044-876B-883B54F8677D}" type="slidenum">
              <a:t>12</a:t>
            </a:fld>
            <a:endParaRPr/>
          </a:p>
        </p:txBody>
      </p:sp>
      <p:sp>
        <p:nvSpPr>
          <p:cNvPr id="303" name="TextBox 17"/>
          <p:cNvSpPr txBox="1">
            <a:spLocks noGrp="1"/>
          </p:cNvSpPr>
          <p:nvPr>
            <p:ph type="body" idx="24"/>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304" name="TextBox 32"/>
          <p:cNvSpPr txBox="1">
            <a:spLocks noGrp="1"/>
          </p:cNvSpPr>
          <p:nvPr>
            <p:ph type="body" idx="25"/>
          </p:nvPr>
        </p:nvSpPr>
        <p:spPr>
          <a:xfrm>
            <a:off x="3411347" y="497314"/>
            <a:ext cx="2575408" cy="3962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Сервис для стриминга и селфхостинга музыки. iOS-приложение</a:t>
            </a:r>
          </a:p>
        </p:txBody>
      </p:sp>
      <p:sp>
        <p:nvSpPr>
          <p:cNvPr id="305" name="TextBox 27"/>
          <p:cNvSpPr txBox="1">
            <a:spLocks noGrp="1"/>
          </p:cNvSpPr>
          <p:nvPr>
            <p:ph type="body" idx="26"/>
          </p:nvPr>
        </p:nvSpPr>
        <p:spPr>
          <a:xfrm>
            <a:off x="6203837" y="497314"/>
            <a:ext cx="2255307"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Направления дальнейшей работы</a:t>
            </a:r>
          </a:p>
        </p:txBody>
      </p:sp>
      <p:pic>
        <p:nvPicPr>
          <p:cNvPr id="306" name="YouTube Music Logo.png" descr="YouTube Music Logo.png"/>
          <p:cNvPicPr>
            <a:picLocks noChangeAspect="1"/>
          </p:cNvPicPr>
          <p:nvPr/>
        </p:nvPicPr>
        <p:blipFill>
          <a:blip r:embed="rId2"/>
          <a:stretch>
            <a:fillRect/>
          </a:stretch>
        </p:blipFill>
        <p:spPr>
          <a:xfrm>
            <a:off x="8548828" y="1566071"/>
            <a:ext cx="2353534" cy="1322687"/>
          </a:xfrm>
          <a:prstGeom prst="rect">
            <a:avLst/>
          </a:prstGeom>
          <a:ln w="12700">
            <a:miter lim="400000"/>
          </a:ln>
        </p:spPr>
      </p:pic>
      <p:pic>
        <p:nvPicPr>
          <p:cNvPr id="307" name="Business Growth Chart.png" descr="Business Growth Chart.png"/>
          <p:cNvPicPr>
            <a:picLocks noChangeAspect="1"/>
          </p:cNvPicPr>
          <p:nvPr/>
        </p:nvPicPr>
        <p:blipFill>
          <a:blip r:embed="rId3"/>
          <a:stretch>
            <a:fillRect/>
          </a:stretch>
        </p:blipFill>
        <p:spPr>
          <a:xfrm>
            <a:off x="6708809" y="2565407"/>
            <a:ext cx="1524936" cy="1524937"/>
          </a:xfrm>
          <a:prstGeom prst="rect">
            <a:avLst/>
          </a:prstGeom>
          <a:ln w="12700">
            <a:miter lim="400000"/>
          </a:ln>
        </p:spPr>
      </p:pic>
      <p:pic>
        <p:nvPicPr>
          <p:cNvPr id="308" name="pasted-movie.png" descr="pasted-movie.png"/>
          <p:cNvPicPr>
            <a:picLocks noChangeAspect="1"/>
          </p:cNvPicPr>
          <p:nvPr/>
        </p:nvPicPr>
        <p:blipFill>
          <a:blip r:embed="rId4"/>
          <a:stretch>
            <a:fillRect/>
          </a:stretch>
        </p:blipFill>
        <p:spPr>
          <a:xfrm>
            <a:off x="8646537" y="3404304"/>
            <a:ext cx="1142453" cy="1142453"/>
          </a:xfrm>
          <a:prstGeom prst="rect">
            <a:avLst/>
          </a:prstGeom>
          <a:ln w="12700">
            <a:miter lim="400000"/>
          </a:ln>
        </p:spPr>
      </p:pic>
      <p:pic>
        <p:nvPicPr>
          <p:cNvPr id="309" name="Spotify Green Logo.png" descr="Spotify Green Logo.png"/>
          <p:cNvPicPr>
            <a:picLocks noChangeAspect="1"/>
          </p:cNvPicPr>
          <p:nvPr/>
        </p:nvPicPr>
        <p:blipFill>
          <a:blip r:embed="rId5"/>
          <a:stretch>
            <a:fillRect/>
          </a:stretch>
        </p:blipFill>
        <p:spPr>
          <a:xfrm>
            <a:off x="10183345" y="2659491"/>
            <a:ext cx="1124768" cy="1124769"/>
          </a:xfrm>
          <a:prstGeom prst="rect">
            <a:avLst/>
          </a:prstGeom>
          <a:ln w="12700">
            <a:miter lim="400000"/>
          </a:ln>
        </p:spPr>
      </p:pic>
      <p:pic>
        <p:nvPicPr>
          <p:cNvPr id="310" name="Neural Networks Communication Diagram.png" descr="Neural Networks Communication Diagram.png"/>
          <p:cNvPicPr>
            <a:picLocks noChangeAspect="1"/>
          </p:cNvPicPr>
          <p:nvPr/>
        </p:nvPicPr>
        <p:blipFill>
          <a:blip r:embed="rId6"/>
          <a:stretch>
            <a:fillRect/>
          </a:stretch>
        </p:blipFill>
        <p:spPr>
          <a:xfrm>
            <a:off x="7258984" y="4525875"/>
            <a:ext cx="1619507" cy="1524936"/>
          </a:xfrm>
          <a:prstGeom prst="rect">
            <a:avLst/>
          </a:prstGeom>
          <a:ln w="12700">
            <a:miter lim="400000"/>
          </a:ln>
        </p:spPr>
      </p:pic>
      <p:pic>
        <p:nvPicPr>
          <p:cNvPr id="311" name="International Podcast Day Microphone Illustration.png" descr="International Podcast Day Microphone Illustration.png"/>
          <p:cNvPicPr>
            <a:picLocks noChangeAspect="1"/>
          </p:cNvPicPr>
          <p:nvPr/>
        </p:nvPicPr>
        <p:blipFill>
          <a:blip r:embed="rId7"/>
          <a:stretch>
            <a:fillRect/>
          </a:stretch>
        </p:blipFill>
        <p:spPr>
          <a:xfrm>
            <a:off x="9949671" y="4345945"/>
            <a:ext cx="1337701" cy="1668369"/>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TextBox 32"/>
          <p:cNvSpPr txBox="1">
            <a:spLocks noGrp="1"/>
          </p:cNvSpPr>
          <p:nvPr>
            <p:ph type="body" idx="21"/>
          </p:nvPr>
        </p:nvSpPr>
        <p:spPr>
          <a:xfrm>
            <a:off x="10337842" y="497314"/>
            <a:ext cx="386667" cy="396241"/>
          </a:xfrm>
          <a:prstGeom prst="rect">
            <a:avLst/>
          </a:prstGeom>
        </p:spPr>
        <p:txBody>
          <a:bodyPr/>
          <a:lstStyle/>
          <a:p>
            <a:fld id="{86CB4B4D-7CA3-9044-876B-883B54F8677D}" type="slidenum">
              <a:t>13</a:t>
            </a:fld>
            <a:endParaRPr/>
          </a:p>
        </p:txBody>
      </p:sp>
      <p:sp>
        <p:nvSpPr>
          <p:cNvPr id="314" name="TextBox 27"/>
          <p:cNvSpPr txBox="1">
            <a:spLocks noGrp="1"/>
          </p:cNvSpPr>
          <p:nvPr>
            <p:ph type="body" idx="22"/>
          </p:nvPr>
        </p:nvSpPr>
        <p:spPr>
          <a:xfrm>
            <a:off x="1103535" y="497314"/>
            <a:ext cx="2255307" cy="381001"/>
          </a:xfrm>
          <a:prstGeom prst="rect">
            <a:avLst/>
          </a:prstGeom>
        </p:spPr>
        <p:txBody>
          <a:bodyPr/>
          <a:lstStyle/>
          <a:p>
            <a:pPr marL="0" indent="0">
              <a:spcBef>
                <a:spcPts val="0"/>
              </a:spcBef>
              <a:buSzTx/>
              <a:buFontTx/>
              <a:buNone/>
              <a:defRPr sz="1000">
                <a:latin typeface="+mn-lt"/>
                <a:ea typeface="+mn-ea"/>
                <a:cs typeface="+mn-cs"/>
                <a:sym typeface="Helvetica"/>
              </a:defRPr>
            </a:pPr>
            <a:r>
              <a:t>Департамент </a:t>
            </a:r>
          </a:p>
          <a:p>
            <a:pPr marL="0" indent="0">
              <a:spcBef>
                <a:spcPts val="0"/>
              </a:spcBef>
              <a:buSzTx/>
              <a:buFontTx/>
              <a:buNone/>
              <a:defRPr sz="1000">
                <a:latin typeface="+mn-lt"/>
                <a:ea typeface="+mn-ea"/>
                <a:cs typeface="+mn-cs"/>
                <a:sym typeface="Helvetica"/>
              </a:defRPr>
            </a:pPr>
            <a:r>
              <a:t>программной инженерии</a:t>
            </a:r>
          </a:p>
        </p:txBody>
      </p:sp>
      <p:sp>
        <p:nvSpPr>
          <p:cNvPr id="315" name="TextBox 30"/>
          <p:cNvSpPr txBox="1">
            <a:spLocks noGrp="1"/>
          </p:cNvSpPr>
          <p:nvPr>
            <p:ph type="body" idx="23"/>
          </p:nvPr>
        </p:nvSpPr>
        <p:spPr>
          <a:xfrm>
            <a:off x="3411347" y="497314"/>
            <a:ext cx="2575408" cy="3962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Сервис для стриминга и селфхостинга музыки. iOS-приложение</a:t>
            </a:r>
          </a:p>
        </p:txBody>
      </p:sp>
      <p:sp>
        <p:nvSpPr>
          <p:cNvPr id="316" name="TextBox 31"/>
          <p:cNvSpPr txBox="1">
            <a:spLocks noGrp="1"/>
          </p:cNvSpPr>
          <p:nvPr>
            <p:ph type="body" idx="24"/>
          </p:nvPr>
        </p:nvSpPr>
        <p:spPr>
          <a:xfrm>
            <a:off x="6203837" y="497314"/>
            <a:ext cx="2534880" cy="243841"/>
          </a:xfrm>
          <a:prstGeom prst="rect">
            <a:avLst/>
          </a:prstGeom>
        </p:spPr>
        <p:txBody>
          <a:bodyPr/>
          <a:lstStyle>
            <a:lvl1pPr marL="0" indent="0" defTabSz="12700">
              <a:lnSpc>
                <a:spcPct val="100000"/>
              </a:lnSpc>
              <a:spcBef>
                <a:spcPts val="1200"/>
              </a:spcBef>
              <a:buSzTx/>
              <a:buFontTx/>
              <a:buNone/>
              <a:defRPr sz="1000">
                <a:latin typeface="+mn-lt"/>
                <a:ea typeface="+mn-ea"/>
                <a:cs typeface="+mn-cs"/>
                <a:sym typeface="Helvetica"/>
              </a:defRPr>
            </a:lvl1pPr>
          </a:lstStyle>
          <a:p>
            <a:r>
              <a:t>Список использованных источников</a:t>
            </a:r>
          </a:p>
        </p:txBody>
      </p:sp>
      <p:sp>
        <p:nvSpPr>
          <p:cNvPr id="317" name="TextBox 15"/>
          <p:cNvSpPr txBox="1"/>
          <p:nvPr/>
        </p:nvSpPr>
        <p:spPr>
          <a:xfrm>
            <a:off x="535695" y="1396903"/>
            <a:ext cx="10041551" cy="4597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spcBef>
                <a:spcPts val="0"/>
              </a:spcBef>
              <a:defRPr sz="2400"/>
            </a:lvl1pPr>
          </a:lstStyle>
          <a:p>
            <a:r>
              <a:t>Список использованных источников</a:t>
            </a:r>
          </a:p>
        </p:txBody>
      </p:sp>
      <p:sp>
        <p:nvSpPr>
          <p:cNvPr id="318" name="TextBox 16"/>
          <p:cNvSpPr txBox="1"/>
          <p:nvPr/>
        </p:nvSpPr>
        <p:spPr>
          <a:xfrm>
            <a:off x="562919" y="2367263"/>
            <a:ext cx="11066162" cy="31140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173789" indent="-173789" defTabSz="914400">
              <a:spcBef>
                <a:spcPts val="0"/>
              </a:spcBef>
              <a:buSzPct val="100000"/>
              <a:buAutoNum type="arabicPeriod"/>
              <a:defRPr sz="1400">
                <a:solidFill>
                  <a:srgbClr val="000000"/>
                </a:solidFill>
              </a:defRPr>
            </a:pPr>
            <a:r>
              <a:t>Официальная документация Swift. Электронный ресурс. URL: https://www.swift.org/documentation/ (дата обращения 21.04.25)</a:t>
            </a:r>
          </a:p>
          <a:p>
            <a:pPr marL="173789" indent="-173789" defTabSz="914400">
              <a:spcBef>
                <a:spcPts val="0"/>
              </a:spcBef>
              <a:buSzPct val="100000"/>
              <a:buAutoNum type="arabicPeriod"/>
              <a:defRPr sz="1400">
                <a:solidFill>
                  <a:srgbClr val="000000"/>
                </a:solidFill>
              </a:defRPr>
            </a:pPr>
            <a:r>
              <a:t>Официальная документация UIKit. Электронный ресурс. URL: https://developer.apple.com/documentation/uikit/ (дата обращения 21.04.25)</a:t>
            </a:r>
          </a:p>
          <a:p>
            <a:pPr marL="173789" indent="-173789" defTabSz="914400">
              <a:spcBef>
                <a:spcPts val="0"/>
              </a:spcBef>
              <a:buSzPct val="100000"/>
              <a:buAutoNum type="arabicPeriod"/>
              <a:defRPr sz="1400">
                <a:solidFill>
                  <a:srgbClr val="000000"/>
                </a:solidFill>
              </a:defRPr>
            </a:pPr>
            <a:r>
              <a:t>Среда разработки Xcode. Электронный ресурс. URL: </a:t>
            </a:r>
            <a:r>
              <a:rPr>
                <a:hlinkClick r:id="rId2"/>
              </a:rPr>
              <a:t>https://developer.apple.com/xcode/</a:t>
            </a:r>
            <a:r>
              <a:t> (дата обращения 21.04.25)</a:t>
            </a:r>
          </a:p>
          <a:p>
            <a:pPr marL="173789" indent="-173789" defTabSz="914400">
              <a:spcBef>
                <a:spcPts val="0"/>
              </a:spcBef>
              <a:buSzPct val="100000"/>
              <a:buAutoNum type="arabicPeriod"/>
              <a:defRPr sz="1400">
                <a:solidFill>
                  <a:srgbClr val="000000"/>
                </a:solidFill>
              </a:defRPr>
            </a:pPr>
            <a:r>
              <a:t>Система управления версиями Git. Электронный ресурс. URL: </a:t>
            </a:r>
            <a:r>
              <a:rPr>
                <a:hlinkClick r:id="rId3"/>
              </a:rPr>
              <a:t>https://git-scm.com/</a:t>
            </a:r>
            <a:r>
              <a:t> (дата обращения 21.04.25)</a:t>
            </a:r>
          </a:p>
          <a:p>
            <a:pPr marL="173789" indent="-173789" defTabSz="914400">
              <a:spcBef>
                <a:spcPts val="0"/>
              </a:spcBef>
              <a:buSzPct val="100000"/>
              <a:buAutoNum type="arabicPeriod"/>
              <a:defRPr sz="1400">
                <a:solidFill>
                  <a:srgbClr val="000000"/>
                </a:solidFill>
              </a:defRPr>
            </a:pPr>
            <a:r>
              <a:t>Яндекс Музыка. Электронный ресурс. URL: </a:t>
            </a:r>
            <a:r>
              <a:rPr>
                <a:hlinkClick r:id="rId4"/>
              </a:rPr>
              <a:t>https://music.yandex.ru/</a:t>
            </a:r>
            <a:r>
              <a:t> (дата обращения 21.04.25)</a:t>
            </a:r>
          </a:p>
          <a:p>
            <a:pPr marL="173789" indent="-173789" defTabSz="914400">
              <a:spcBef>
                <a:spcPts val="0"/>
              </a:spcBef>
              <a:buSzPct val="100000"/>
              <a:buAutoNum type="arabicPeriod"/>
              <a:defRPr sz="1400">
                <a:solidFill>
                  <a:srgbClr val="000000"/>
                </a:solidFill>
              </a:defRPr>
            </a:pPr>
            <a:r>
              <a:t>Spotify. Электронный ресурс. URL: </a:t>
            </a:r>
            <a:r>
              <a:rPr>
                <a:hlinkClick r:id="rId5"/>
              </a:rPr>
              <a:t>https://www.spotify.com/</a:t>
            </a:r>
            <a:r>
              <a:t> (дата обращения 21.04.25)</a:t>
            </a:r>
          </a:p>
          <a:p>
            <a:pPr marL="173789" indent="-173789" defTabSz="914400">
              <a:spcBef>
                <a:spcPts val="0"/>
              </a:spcBef>
              <a:buSzPct val="100000"/>
              <a:buAutoNum type="arabicPeriod"/>
              <a:defRPr sz="1400">
                <a:solidFill>
                  <a:srgbClr val="000000"/>
                </a:solidFill>
              </a:defRPr>
            </a:pPr>
            <a:r>
              <a:t>VK Музыка. Электронный ресурс. URL: </a:t>
            </a:r>
            <a:r>
              <a:rPr>
                <a:hlinkClick r:id="rId6"/>
              </a:rPr>
              <a:t>https://music.vk.com/</a:t>
            </a:r>
            <a:r>
              <a:t> (дата обращения 21.04.25)</a:t>
            </a:r>
          </a:p>
          <a:p>
            <a:pPr marL="173789" indent="-173789" defTabSz="914400">
              <a:spcBef>
                <a:spcPts val="0"/>
              </a:spcBef>
              <a:buSzPct val="100000"/>
              <a:buAutoNum type="arabicPeriod"/>
              <a:defRPr sz="1400">
                <a:solidFill>
                  <a:srgbClr val="000000"/>
                </a:solidFill>
              </a:defRPr>
            </a:pPr>
            <a:r>
              <a:t>YouTube Music. Электронный ресурс. URL: </a:t>
            </a:r>
            <a:r>
              <a:rPr>
                <a:hlinkClick r:id="rId7"/>
              </a:rPr>
              <a:t>https://music.youtube.com/</a:t>
            </a:r>
            <a:r>
              <a:t> (дата обращения 21.04.25)</a:t>
            </a:r>
          </a:p>
          <a:p>
            <a:pPr marL="173789" indent="-173789" defTabSz="914400">
              <a:spcBef>
                <a:spcPts val="0"/>
              </a:spcBef>
              <a:buSzPct val="100000"/>
              <a:buAutoNum type="arabicPeriod"/>
              <a:defRPr sz="1400">
                <a:solidFill>
                  <a:srgbClr val="000000"/>
                </a:solidFill>
              </a:defRPr>
            </a:pPr>
            <a:r>
              <a:t>Apple Music. Электронный ресурс. URL: </a:t>
            </a:r>
            <a:r>
              <a:rPr>
                <a:hlinkClick r:id="rId8"/>
              </a:rPr>
              <a:t>https://music.apple.com/</a:t>
            </a:r>
            <a:r>
              <a:t> (дата обращения 21.04.25)</a:t>
            </a:r>
          </a:p>
          <a:p>
            <a:pPr marL="173789" indent="-173789" defTabSz="914400">
              <a:spcBef>
                <a:spcPts val="0"/>
              </a:spcBef>
              <a:buSzPct val="100000"/>
              <a:buAutoNum type="arabicPeriod"/>
              <a:defRPr sz="1400">
                <a:solidFill>
                  <a:srgbClr val="000000"/>
                </a:solidFill>
              </a:defRPr>
            </a:pPr>
            <a:r>
              <a:t> Black Candy. Электронный ресурс. URL: </a:t>
            </a:r>
            <a:r>
              <a:rPr>
                <a:hlinkClick r:id="rId9"/>
              </a:rPr>
              <a:t>https://github.com/blackcandy-org/</a:t>
            </a:r>
            <a:r>
              <a:t> (дата обращения 21.04.25)</a:t>
            </a:r>
          </a:p>
          <a:p>
            <a:pPr marL="173789" indent="-173789" defTabSz="914400">
              <a:spcBef>
                <a:spcPts val="0"/>
              </a:spcBef>
              <a:buSzPct val="100000"/>
              <a:buAutoNum type="arabicPeriod"/>
              <a:defRPr sz="1400">
                <a:solidFill>
                  <a:srgbClr val="000000"/>
                </a:solidFill>
              </a:defRPr>
            </a:pPr>
            <a:r>
              <a:t> Blackcandy. Электронный ресурс. URL:Navidrome </a:t>
            </a:r>
            <a:r>
              <a:rPr>
                <a:hlinkClick r:id="rId10"/>
              </a:rPr>
              <a:t>https://www.navidrome.org/</a:t>
            </a:r>
            <a:r>
              <a:t> (дата обращения 21.04.25)</a:t>
            </a:r>
          </a:p>
          <a:p>
            <a:pPr marL="173789" indent="-173789" defTabSz="914400">
              <a:spcBef>
                <a:spcPts val="0"/>
              </a:spcBef>
              <a:buSzPct val="100000"/>
              <a:buAutoNum type="arabicPeriod"/>
              <a:defRPr sz="1400">
                <a:solidFill>
                  <a:srgbClr val="000000"/>
                </a:solidFill>
              </a:defRPr>
            </a:pPr>
            <a:r>
              <a:t> Ampache. Электронный ресурс. URL: </a:t>
            </a:r>
            <a:r>
              <a:rPr>
                <a:hlinkClick r:id="rId11"/>
              </a:rPr>
              <a:t>https://ampache.org/</a:t>
            </a:r>
            <a:r>
              <a:t> (дата обращения 21.04.25)</a:t>
            </a:r>
          </a:p>
          <a:p>
            <a:pPr marL="173789" indent="-173789" defTabSz="914400">
              <a:spcBef>
                <a:spcPts val="0"/>
              </a:spcBef>
              <a:buSzPct val="100000"/>
              <a:buAutoNum type="arabicPeriod"/>
              <a:defRPr sz="1400">
                <a:solidFill>
                  <a:srgbClr val="000000"/>
                </a:solidFill>
              </a:defRPr>
            </a:pPr>
            <a:r>
              <a:t> mStream. Электронный ресурс. URL: </a:t>
            </a:r>
            <a:r>
              <a:rPr>
                <a:hlinkClick r:id="rId12"/>
              </a:rPr>
              <a:t>https://mstream.io/</a:t>
            </a:r>
            <a:r>
              <a:t> (дата обращения 21.04.25)</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2D65"/>
        </a:solidFill>
        <a:effectLst/>
      </p:bgPr>
    </p:bg>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Office Theme">
  <a:themeElements>
    <a:clrScheme name="Office Theme">
      <a:dk1>
        <a:srgbClr val="102D69"/>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12700" rtl="0" fontAlgn="auto" latinLnBrk="0" hangingPunct="0">
          <a:lnSpc>
            <a:spcPct val="100000"/>
          </a:lnSpc>
          <a:spcBef>
            <a:spcPts val="1200"/>
          </a:spcBef>
          <a:spcAft>
            <a:spcPts val="0"/>
          </a:spcAft>
          <a:buClrTx/>
          <a:buSzTx/>
          <a:buFontTx/>
          <a:buNone/>
          <a:tabLst/>
          <a:defRPr kumimoji="0" sz="1300" b="0" i="0" u="none" strike="noStrike" cap="none" spc="0" normalizeH="0" baseline="0">
            <a:ln>
              <a:noFill/>
            </a:ln>
            <a:solidFill>
              <a:srgbClr val="102D69"/>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893</Words>
  <Application>Microsoft Macintosh PowerPoint</Application>
  <PresentationFormat>Widescreen</PresentationFormat>
  <Paragraphs>218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Артём Шарков</cp:lastModifiedBy>
  <cp:revision>1</cp:revision>
  <dcterms:modified xsi:type="dcterms:W3CDTF">2026-05-04T17:41:48Z</dcterms:modified>
</cp:coreProperties>
</file>