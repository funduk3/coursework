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1pPr>
    <a:lvl2pPr marL="0" marR="0" indent="4572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2pPr>
    <a:lvl3pPr marL="0" marR="0" indent="9144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3pPr>
    <a:lvl4pPr marL="0" marR="0" indent="13716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4pPr>
    <a:lvl5pPr marL="0" marR="0" indent="18288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5pPr>
    <a:lvl6pPr marL="0" marR="0" indent="22860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6pPr>
    <a:lvl7pPr marL="0" marR="0" indent="27432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7pPr>
    <a:lvl8pPr marL="0" marR="0" indent="32004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8pPr>
    <a:lvl9pPr marL="0" marR="0" indent="36576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D51ADE6A-740E-44AE-83CC-AE7238B6C88D}" styleName="">
    <a:tblBg/>
    <a:wholeTbl>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9525" cap="flat">
              <a:solidFill>
                <a:srgbClr val="BFBFBF"/>
              </a:solidFill>
              <a:prstDash val="solid"/>
              <a:round/>
            </a:ln>
          </a:insideH>
          <a:insideV>
            <a:ln w="3175" cap="flat">
              <a:solidFill>
                <a:srgbClr val="FFFFFF"/>
              </a:solidFill>
              <a:prstDash val="solid"/>
              <a:round/>
            </a:ln>
          </a:insideV>
        </a:tcBdr>
        <a:fill>
          <a:no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12700" cap="flat">
              <a:solidFill>
                <a:srgbClr val="FFFFFF"/>
              </a:solidFill>
              <a:prstDash val="solid"/>
              <a:round/>
            </a:ln>
          </a:insideH>
          <a:insideV>
            <a:ln w="3175" cap="flat">
              <a:solidFill>
                <a:srgbClr val="FFFFFF"/>
              </a:solidFill>
              <a:prstDash val="solid"/>
              <a:round/>
            </a:ln>
          </a:insideV>
        </a:tcBdr>
        <a:fill>
          <a:solidFill>
            <a:srgbClr val="F2F2F2"/>
          </a:solidFill>
        </a:fill>
      </a:tcStyle>
    </a:firstRow>
  </a:tblStyle>
  <a:tblStyle styleId="{8F44A2F1-9E1F-4B54-A3A2-5F16C0AD49E2}" styleName="">
    <a:tblBg/>
    <a:wholeTbl>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9525" cap="flat">
              <a:solidFill>
                <a:srgbClr val="BFBFBF"/>
              </a:solidFill>
              <a:prstDash val="solid"/>
              <a:round/>
            </a:ln>
          </a:insideH>
          <a:insideV>
            <a:ln w="3175" cap="flat">
              <a:solidFill>
                <a:srgbClr val="FFFFFF"/>
              </a:solidFill>
              <a:prstDash val="solid"/>
              <a:round/>
            </a:ln>
          </a:insideV>
        </a:tcBdr>
        <a:fill>
          <a:no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12700" cap="flat">
              <a:solidFill>
                <a:srgbClr val="FFFFFF"/>
              </a:solidFill>
              <a:prstDash val="solid"/>
              <a:round/>
            </a:ln>
          </a:insideH>
          <a:insideV>
            <a:ln w="3175" cap="flat">
              <a:solidFill>
                <a:srgbClr val="FFFFFF"/>
              </a:solidFill>
              <a:prstDash val="solid"/>
              <a:round/>
            </a:ln>
          </a:insideV>
        </a:tcBdr>
        <a:fill>
          <a:solidFill>
            <a:srgbClr val="F2F2F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70"/>
  </p:normalViewPr>
  <p:slideViewPr>
    <p:cSldViewPr snapToGrid="0">
      <p:cViewPr>
        <p:scale>
          <a:sx n="107" d="100"/>
          <a:sy n="107" d="100"/>
        </p:scale>
        <p:origin x="7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0" name="Shape 200"/>
          <p:cNvSpPr>
            <a:spLocks noGrp="1" noRot="1" noChangeAspect="1"/>
          </p:cNvSpPr>
          <p:nvPr>
            <p:ph type="sldImg"/>
          </p:nvPr>
        </p:nvSpPr>
        <p:spPr>
          <a:xfrm>
            <a:off x="1143000" y="685800"/>
            <a:ext cx="4572000" cy="3429000"/>
          </a:xfrm>
          <a:prstGeom prst="rect">
            <a:avLst/>
          </a:prstGeom>
        </p:spPr>
        <p:txBody>
          <a:bodyPr/>
          <a:lstStyle/>
          <a:p>
            <a:endParaRPr/>
          </a:p>
        </p:txBody>
      </p:sp>
      <p:sp>
        <p:nvSpPr>
          <p:cNvPr id="201" name="Shape 20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Пустой">
    <p:spTree>
      <p:nvGrpSpPr>
        <p:cNvPr id="1" name=""/>
        <p:cNvGrpSpPr/>
        <p:nvPr/>
      </p:nvGrpSpPr>
      <p:grpSpPr>
        <a:xfrm>
          <a:off x="0" y="0"/>
          <a:ext cx="0" cy="0"/>
          <a:chOff x="0" y="0"/>
          <a:chExt cx="0" cy="0"/>
        </a:xfrm>
      </p:grpSpPr>
      <p:sp>
        <p:nvSpPr>
          <p:cNvPr id="18" name="TextBox 32"/>
          <p:cNvSpPr txBox="1">
            <a:spLocks noGrp="1"/>
          </p:cNvSpPr>
          <p:nvPr>
            <p:ph type="body" sz="quarter" idx="21"/>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9" name="TextBox 27"/>
          <p:cNvSpPr txBox="1">
            <a:spLocks noGrp="1"/>
          </p:cNvSpPr>
          <p:nvPr>
            <p:ph type="body" sz="quarter" idx="22"/>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20" name="TextBox 30"/>
          <p:cNvSpPr txBox="1">
            <a:spLocks noGrp="1"/>
          </p:cNvSpPr>
          <p:nvPr>
            <p:ph type="body" sz="quarter" idx="23"/>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21" name="TextBox 31"/>
          <p:cNvSpPr txBox="1">
            <a:spLocks noGrp="1"/>
          </p:cNvSpPr>
          <p:nvPr>
            <p:ph type="body" sz="quarter" idx="24"/>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Обложка">
    <p:spTree>
      <p:nvGrpSpPr>
        <p:cNvPr id="1" name=""/>
        <p:cNvGrpSpPr/>
        <p:nvPr/>
      </p:nvGrpSpPr>
      <p:grpSpPr>
        <a:xfrm>
          <a:off x="0" y="0"/>
          <a:ext cx="0" cy="0"/>
          <a:chOff x="0" y="0"/>
          <a:chExt cx="0" cy="0"/>
        </a:xfrm>
      </p:grpSpPr>
      <p:grpSp>
        <p:nvGrpSpPr>
          <p:cNvPr id="31" name="Group"/>
          <p:cNvGrpSpPr/>
          <p:nvPr/>
        </p:nvGrpSpPr>
        <p:grpSpPr>
          <a:xfrm>
            <a:off x="0" y="0"/>
            <a:ext cx="12192000" cy="6858000"/>
            <a:chOff x="0" y="0"/>
            <a:chExt cx="12192000" cy="6858000"/>
          </a:xfrm>
        </p:grpSpPr>
        <p:pic>
          <p:nvPicPr>
            <p:cNvPr id="29" name="Picture 9" descr="Picture 9"/>
            <p:cNvPicPr>
              <a:picLocks noChangeAspect="1"/>
            </p:cNvPicPr>
            <p:nvPr/>
          </p:nvPicPr>
          <p:blipFill>
            <a:blip r:embed="rId2"/>
            <a:stretch>
              <a:fillRect/>
            </a:stretch>
          </p:blipFill>
          <p:spPr>
            <a:xfrm>
              <a:off x="0" y="0"/>
              <a:ext cx="12192000" cy="6858000"/>
            </a:xfrm>
            <a:prstGeom prst="rect">
              <a:avLst/>
            </a:prstGeom>
            <a:ln w="12700" cap="flat">
              <a:noFill/>
              <a:miter lim="400000"/>
            </a:ln>
            <a:effectLst/>
          </p:spPr>
        </p:pic>
        <p:sp>
          <p:nvSpPr>
            <p:cNvPr id="30" name="Rectangle 24"/>
            <p:cNvSpPr/>
            <p:nvPr/>
          </p:nvSpPr>
          <p:spPr>
            <a:xfrm>
              <a:off x="766762" y="753175"/>
              <a:ext cx="10658476" cy="5339651"/>
            </a:xfrm>
            <a:prstGeom prst="rect">
              <a:avLst/>
            </a:prstGeom>
            <a:solidFill>
              <a:srgbClr val="FFFFFF"/>
            </a:solidFill>
            <a:ln w="3175" cap="flat">
              <a:solidFill>
                <a:srgbClr val="32538F"/>
              </a:solidFill>
              <a:prstDash val="solid"/>
              <a:miter lim="800000"/>
            </a:ln>
            <a:effectLst/>
          </p:spPr>
          <p:txBody>
            <a:bodyPr wrap="square" lIns="45719" tIns="45719" rIns="45719" bIns="45719" numCol="1" anchor="ctr">
              <a:noAutofit/>
            </a:bodyPr>
            <a:lstStyle/>
            <a:p>
              <a:pPr algn="ctr" defTabSz="914400">
                <a:spcBef>
                  <a:spcPts val="0"/>
                </a:spcBef>
                <a:defRPr sz="1800">
                  <a:solidFill>
                    <a:srgbClr val="FFFFFF"/>
                  </a:solidFill>
                  <a:latin typeface="+mj-lt"/>
                  <a:ea typeface="+mj-ea"/>
                  <a:cs typeface="+mj-cs"/>
                  <a:sym typeface="Calibri"/>
                </a:defRPr>
              </a:pPr>
              <a:endParaRPr/>
            </a:p>
          </p:txBody>
        </p:sp>
      </p:grpSp>
      <p:pic>
        <p:nvPicPr>
          <p:cNvPr id="32" name="Picture 28" descr="Picture 28"/>
          <p:cNvPicPr>
            <a:picLocks noChangeAspect="1"/>
          </p:cNvPicPr>
          <p:nvPr/>
        </p:nvPicPr>
        <p:blipFill>
          <a:blip r:embed="rId3"/>
          <a:stretch>
            <a:fillRect/>
          </a:stretch>
        </p:blipFill>
        <p:spPr>
          <a:xfrm>
            <a:off x="1013859" y="962172"/>
            <a:ext cx="886500" cy="886500"/>
          </a:xfrm>
          <a:prstGeom prst="rect">
            <a:avLst/>
          </a:prstGeom>
          <a:ln w="12700">
            <a:miter lim="400000"/>
          </a:ln>
        </p:spPr>
      </p:pic>
      <p:sp>
        <p:nvSpPr>
          <p:cNvPr id="33" name="Straight Connector 48"/>
          <p:cNvSpPr/>
          <p:nvPr/>
        </p:nvSpPr>
        <p:spPr>
          <a:xfrm>
            <a:off x="6090212"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4" name="Straight Connector 50"/>
          <p:cNvSpPr/>
          <p:nvPr/>
        </p:nvSpPr>
        <p:spPr>
          <a:xfrm>
            <a:off x="8642580"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5" name="Straight Connector 51"/>
          <p:cNvSpPr/>
          <p:nvPr/>
        </p:nvSpPr>
        <p:spPr>
          <a:xfrm>
            <a:off x="11179046"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6" name="Название факультета в две строки (16 pt)"/>
          <p:cNvSpPr txBox="1">
            <a:spLocks noGrp="1"/>
          </p:cNvSpPr>
          <p:nvPr>
            <p:ph type="body" sz="quarter" idx="21"/>
          </p:nvPr>
        </p:nvSpPr>
        <p:spPr>
          <a:xfrm>
            <a:off x="2130739" y="1112072"/>
            <a:ext cx="3581410" cy="704282"/>
          </a:xfrm>
          <a:prstGeom prst="rect">
            <a:avLst/>
          </a:prstGeom>
        </p:spPr>
        <p:txBody>
          <a:bodyPr>
            <a:noAutofit/>
          </a:bodyPr>
          <a:lstStyle/>
          <a:p>
            <a:pPr marL="0" indent="0">
              <a:spcBef>
                <a:spcPts val="0"/>
              </a:spcBef>
              <a:buSzTx/>
              <a:buFontTx/>
              <a:buNone/>
              <a:defRPr sz="1600">
                <a:latin typeface="+mn-lt"/>
                <a:ea typeface="+mn-ea"/>
                <a:cs typeface="+mn-cs"/>
                <a:sym typeface="Helvetica"/>
              </a:defRPr>
            </a:pPr>
            <a:r>
              <a:t>Название факультета</a:t>
            </a:r>
            <a:br/>
            <a:r>
              <a:t>в две строки (16 pt)</a:t>
            </a:r>
          </a:p>
        </p:txBody>
      </p:sp>
      <p:sp>
        <p:nvSpPr>
          <p:cNvPr id="37" name="Название подразделения в две или три строки (12pt)"/>
          <p:cNvSpPr txBox="1">
            <a:spLocks noGrp="1"/>
          </p:cNvSpPr>
          <p:nvPr>
            <p:ph type="body" sz="quarter" idx="22"/>
          </p:nvPr>
        </p:nvSpPr>
        <p:spPr>
          <a:xfrm>
            <a:off x="6239979" y="1112072"/>
            <a:ext cx="2252835" cy="540375"/>
          </a:xfrm>
          <a:prstGeom prst="rect">
            <a:avLst/>
          </a:prstGeom>
        </p:spPr>
        <p:txBody>
          <a:bodyPr>
            <a:noAutofit/>
          </a:bodyPr>
          <a:lstStyle/>
          <a:p>
            <a:pPr marL="0" indent="0">
              <a:spcBef>
                <a:spcPts val="0"/>
              </a:spcBef>
              <a:buSzTx/>
              <a:buFontTx/>
              <a:buNone/>
              <a:defRPr sz="1200">
                <a:latin typeface="+mn-lt"/>
                <a:ea typeface="+mn-ea"/>
                <a:cs typeface="+mn-cs"/>
                <a:sym typeface="Helvetica"/>
              </a:defRPr>
            </a:pPr>
            <a:r>
              <a:t>Название подразделения</a:t>
            </a:r>
            <a:br/>
            <a:r>
              <a:t>в две или три строки (12pt)</a:t>
            </a:r>
          </a:p>
        </p:txBody>
      </p:sp>
      <p:sp>
        <p:nvSpPr>
          <p:cNvPr id="38" name="Москва 2022 (12pt)"/>
          <p:cNvSpPr txBox="1">
            <a:spLocks noGrp="1"/>
          </p:cNvSpPr>
          <p:nvPr>
            <p:ph type="body" sz="quarter" idx="23"/>
          </p:nvPr>
        </p:nvSpPr>
        <p:spPr>
          <a:xfrm>
            <a:off x="8796001" y="1112072"/>
            <a:ext cx="2252835" cy="540375"/>
          </a:xfrm>
          <a:prstGeom prst="rect">
            <a:avLst/>
          </a:prstGeom>
        </p:spPr>
        <p:txBody>
          <a:bodyPr>
            <a:noAutofit/>
          </a:bodyPr>
          <a:lstStyle/>
          <a:p>
            <a:pPr marL="0" indent="0">
              <a:lnSpc>
                <a:spcPct val="80000"/>
              </a:lnSpc>
              <a:spcBef>
                <a:spcPts val="0"/>
              </a:spcBef>
              <a:buSzTx/>
              <a:buFontTx/>
              <a:buNone/>
              <a:defRPr sz="1200">
                <a:latin typeface="+mn-lt"/>
                <a:ea typeface="+mn-ea"/>
                <a:cs typeface="+mn-cs"/>
                <a:sym typeface="Helvetica"/>
              </a:defRPr>
            </a:pPr>
            <a:r>
              <a:t>Москва</a:t>
            </a:r>
            <a:br/>
            <a:r>
              <a:t>2022 (12pt)</a:t>
            </a:r>
          </a:p>
        </p:txBody>
      </p:sp>
      <p:sp>
        <p:nvSpPr>
          <p:cNvPr id="39" name="Название презентации может быть набрано в две  или три строки (43 pt)"/>
          <p:cNvSpPr txBox="1">
            <a:spLocks noGrp="1"/>
          </p:cNvSpPr>
          <p:nvPr>
            <p:ph type="body" sz="half" idx="24"/>
          </p:nvPr>
        </p:nvSpPr>
        <p:spPr>
          <a:xfrm>
            <a:off x="1014505" y="2284019"/>
            <a:ext cx="10162990" cy="1981496"/>
          </a:xfrm>
          <a:prstGeom prst="rect">
            <a:avLst/>
          </a:prstGeom>
        </p:spPr>
        <p:txBody>
          <a:bodyPr>
            <a:noAutofit/>
          </a:bodyPr>
          <a:lstStyle/>
          <a:p>
            <a:pPr marL="0" indent="0">
              <a:lnSpc>
                <a:spcPct val="80000"/>
              </a:lnSpc>
              <a:spcBef>
                <a:spcPts val="0"/>
              </a:spcBef>
              <a:buSzTx/>
              <a:buFontTx/>
              <a:buNone/>
              <a:defRPr sz="4300">
                <a:solidFill>
                  <a:srgbClr val="172C65"/>
                </a:solidFill>
                <a:latin typeface="+mn-lt"/>
                <a:ea typeface="+mn-ea"/>
                <a:cs typeface="+mn-cs"/>
                <a:sym typeface="Helvetica"/>
              </a:defRPr>
            </a:pPr>
            <a:r>
              <a:t>Название презентации</a:t>
            </a:r>
            <a:br/>
            <a:r>
              <a:t>может быть набрано в две </a:t>
            </a:r>
            <a:br/>
            <a:r>
              <a:t>или три строки (43 pt)</a:t>
            </a:r>
          </a:p>
        </p:txBody>
      </p:sp>
      <p:sp>
        <p:nvSpPr>
          <p:cNvPr id="40" name="Если нужно больше места,  то используйте подзаголовок (16 pt)"/>
          <p:cNvSpPr txBox="1">
            <a:spLocks noGrp="1"/>
          </p:cNvSpPr>
          <p:nvPr>
            <p:ph type="body" sz="quarter" idx="25"/>
          </p:nvPr>
        </p:nvSpPr>
        <p:spPr>
          <a:xfrm>
            <a:off x="1014505" y="4747187"/>
            <a:ext cx="4997854" cy="886500"/>
          </a:xfrm>
          <a:prstGeom prst="rect">
            <a:avLst/>
          </a:prstGeom>
        </p:spPr>
        <p:txBody>
          <a:bodyPr>
            <a:noAutofit/>
          </a:bodyPr>
          <a:lstStyle/>
          <a:p>
            <a:pPr marL="0" indent="0">
              <a:spcBef>
                <a:spcPts val="0"/>
              </a:spcBef>
              <a:buSzTx/>
              <a:buFontTx/>
              <a:buNone/>
              <a:defRPr sz="1600">
                <a:latin typeface="+mn-lt"/>
                <a:ea typeface="+mn-ea"/>
                <a:cs typeface="+mn-cs"/>
                <a:sym typeface="Helvetica"/>
              </a:defRPr>
            </a:pPr>
            <a:r>
              <a:t>Если нужно больше места, </a:t>
            </a:r>
            <a:br/>
            <a:r>
              <a:t>то используйте подзаголовок (16 pt)</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Текст_1">
    <p:spTree>
      <p:nvGrpSpPr>
        <p:cNvPr id="1" name=""/>
        <p:cNvGrpSpPr/>
        <p:nvPr/>
      </p:nvGrpSpPr>
      <p:grpSpPr>
        <a:xfrm>
          <a:off x="0" y="0"/>
          <a:ext cx="0" cy="0"/>
          <a:chOff x="0" y="0"/>
          <a:chExt cx="0" cy="0"/>
        </a:xfrm>
      </p:grpSpPr>
      <p:sp>
        <p:nvSpPr>
          <p:cNvPr id="48" name="TextBox 27"/>
          <p:cNvSpPr txBox="1">
            <a:spLocks noGrp="1"/>
          </p:cNvSpPr>
          <p:nvPr>
            <p:ph type="body" sz="quarter" idx="21"/>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49" name="TextBox 30"/>
          <p:cNvSpPr txBox="1">
            <a:spLocks noGrp="1"/>
          </p:cNvSpPr>
          <p:nvPr>
            <p:ph type="body" sz="quarter" idx="22"/>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50" name="TextBox 31"/>
          <p:cNvSpPr txBox="1">
            <a:spLocks noGrp="1"/>
          </p:cNvSpPr>
          <p:nvPr>
            <p:ph type="body" sz="quarter" idx="23"/>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51"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52"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53" name="TextBox 44"/>
          <p:cNvSpPr txBox="1">
            <a:spLocks noGrp="1"/>
          </p:cNvSpPr>
          <p:nvPr>
            <p:ph type="body" sz="quarter" idx="26"/>
          </p:nvPr>
        </p:nvSpPr>
        <p:spPr>
          <a:xfrm>
            <a:off x="562919" y="2362798"/>
            <a:ext cx="4536709" cy="2631441"/>
          </a:xfrm>
          <a:prstGeom prst="rect">
            <a:avLst/>
          </a:prstGeom>
        </p:spPr>
        <p:txBody>
          <a:bodyPr>
            <a:spAutoFit/>
          </a:bodyPr>
          <a:lstStyle/>
          <a:p>
            <a:pPr marL="0" indent="0">
              <a:lnSpc>
                <a:spcPct val="100000"/>
              </a:lnSpc>
              <a:spcBef>
                <a:spcPts val="1200"/>
              </a:spcBef>
              <a:buSzTx/>
              <a:buFontTx/>
              <a:buNone/>
              <a:defRPr sz="1300">
                <a:latin typeface="+mn-lt"/>
                <a:ea typeface="+mn-ea"/>
                <a:cs typeface="+mn-cs"/>
                <a:sym typeface="Helvetica"/>
              </a:defRPr>
            </a:pPr>
            <a:r>
              <a:t>Небольшие куски текста (13pt) можно набирать в одну колонку, но не делайте колонку на всю ширину экрана. </a:t>
            </a:r>
          </a:p>
          <a:p>
            <a:pPr marL="0" indent="0">
              <a:lnSpc>
                <a:spcPct val="100000"/>
              </a:lnSpc>
              <a:spcBef>
                <a:spcPts val="1200"/>
              </a:spcBef>
              <a:buSzTx/>
              <a:buFontTx/>
              <a:buNone/>
              <a:defRPr sz="1300">
                <a:latin typeface="+mn-lt"/>
                <a:ea typeface="+mn-ea"/>
                <a:cs typeface="+mn-cs"/>
                <a:sym typeface="Helvetica"/>
              </a:defRPr>
            </a:pPr>
            <a:r>
              <a:t>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a:t>
            </a:r>
          </a:p>
          <a:p>
            <a:pPr marL="0" indent="0">
              <a:lnSpc>
                <a:spcPct val="100000"/>
              </a:lnSpc>
              <a:spcBef>
                <a:spcPts val="1200"/>
              </a:spcBef>
              <a:buSzTx/>
              <a:buFontTx/>
              <a:buNone/>
              <a:defRPr sz="1300" i="1">
                <a:latin typeface="+mn-lt"/>
                <a:ea typeface="+mn-ea"/>
                <a:cs typeface="+mn-cs"/>
                <a:sym typeface="Helvetica"/>
              </a:defRPr>
            </a:pPr>
            <a:r>
              <a:t>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Текст_2">
    <p:spTree>
      <p:nvGrpSpPr>
        <p:cNvPr id="1" name=""/>
        <p:cNvGrpSpPr/>
        <p:nvPr/>
      </p:nvGrpSpPr>
      <p:grpSpPr>
        <a:xfrm>
          <a:off x="0" y="0"/>
          <a:ext cx="0" cy="0"/>
          <a:chOff x="0" y="0"/>
          <a:chExt cx="0" cy="0"/>
        </a:xfrm>
      </p:grpSpPr>
      <p:sp>
        <p:nvSpPr>
          <p:cNvPr id="61" name="TextBox 15"/>
          <p:cNvSpPr txBox="1">
            <a:spLocks noGrp="1"/>
          </p:cNvSpPr>
          <p:nvPr>
            <p:ph type="body" sz="quarter" idx="21"/>
          </p:nvPr>
        </p:nvSpPr>
        <p:spPr>
          <a:xfrm>
            <a:off x="535694" y="2469009"/>
            <a:ext cx="4780382" cy="2694941"/>
          </a:xfrm>
          <a:prstGeom prst="rect">
            <a:avLst/>
          </a:prstGeom>
        </p:spPr>
        <p:txBody>
          <a:bodyPr>
            <a:spAutoFit/>
          </a:bodyPr>
          <a:lstStyle/>
          <a:p>
            <a:pPr marL="0" indent="0" defTabSz="12700">
              <a:lnSpc>
                <a:spcPct val="100000"/>
              </a:lnSpc>
              <a:spcBef>
                <a:spcPts val="1300"/>
              </a:spcBef>
              <a:buSzTx/>
              <a:buFontTx/>
              <a:buNone/>
              <a:defRPr sz="1300">
                <a:latin typeface="+mn-lt"/>
                <a:ea typeface="+mn-ea"/>
                <a:cs typeface="+mn-cs"/>
                <a:sym typeface="Helvetica"/>
              </a:defRPr>
            </a:pPr>
            <a:r>
              <a:t>Я как раз тот самый обычный текст о котором говорится справа, набирайте меня везде одинаковым кеглем (13 pt), в таком размере я хорошо читаюсь на экране и на распечатанных слайдах. Не нужно меня увеличивать без надобности, ведь всегда под рукой есть кнопка полноэкранного режима.</a:t>
            </a:r>
          </a:p>
          <a:p>
            <a:pPr marL="0" indent="0" defTabSz="12700">
              <a:lnSpc>
                <a:spcPct val="100000"/>
              </a:lnSpc>
              <a:spcBef>
                <a:spcPts val="1300"/>
              </a:spcBef>
              <a:buSzTx/>
              <a:buFontTx/>
              <a:buNone/>
              <a:defRPr sz="1300">
                <a:latin typeface="+mn-lt"/>
                <a:ea typeface="+mn-ea"/>
                <a:cs typeface="+mn-cs"/>
                <a:sym typeface="Helvetica"/>
              </a:defRPr>
            </a:pPr>
            <a:r>
              <a:t>Я как раз тот самый обычный текст о котором говорится справа, набирайте меня везде одинаковым кеглем (13 pt), в таком размере я хорошо читаюсь на экране и на распечатанных слайдах. Не нужно меня увеличивать без надобности, ведь всегда под рукой есть кнопка полноэкранного режима.</a:t>
            </a:r>
          </a:p>
        </p:txBody>
      </p:sp>
      <p:sp>
        <p:nvSpPr>
          <p:cNvPr id="62" name="TextBox 23"/>
          <p:cNvSpPr txBox="1">
            <a:spLocks noGrp="1"/>
          </p:cNvSpPr>
          <p:nvPr>
            <p:ph type="body" sz="quarter" idx="22"/>
          </p:nvPr>
        </p:nvSpPr>
        <p:spPr>
          <a:xfrm>
            <a:off x="535695" y="5323542"/>
            <a:ext cx="4780381"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63" name="TextBox 63"/>
          <p:cNvSpPr txBox="1">
            <a:spLocks noGrp="1"/>
          </p:cNvSpPr>
          <p:nvPr>
            <p:ph type="body" sz="quarter" idx="23"/>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64" name="TextBox 22"/>
          <p:cNvSpPr txBox="1">
            <a:spLocks noGrp="1"/>
          </p:cNvSpPr>
          <p:nvPr>
            <p:ph type="body" sz="half" idx="24"/>
          </p:nvPr>
        </p:nvSpPr>
        <p:spPr>
          <a:xfrm>
            <a:off x="6095358" y="2462971"/>
            <a:ext cx="5487361" cy="3962401"/>
          </a:xfrm>
          <a:prstGeom prst="rect">
            <a:avLst/>
          </a:prstGeom>
        </p:spPr>
        <p:txBody>
          <a:bodyPr lIns="50800" tIns="50800" rIns="50800" bIns="50800">
            <a:spAutoFit/>
          </a:bodyPr>
          <a:lstStyle/>
          <a:p>
            <a:pPr marL="0" indent="0" defTabSz="12700">
              <a:lnSpc>
                <a:spcPct val="100000"/>
              </a:lnSpc>
              <a:spcBef>
                <a:spcPts val="1200"/>
              </a:spcBef>
              <a:buSzTx/>
              <a:buFontTx/>
              <a:buNone/>
              <a:defRPr sz="3200">
                <a:solidFill>
                  <a:srgbClr val="102D69"/>
                </a:solidFill>
                <a:latin typeface="+mn-lt"/>
                <a:ea typeface="+mn-ea"/>
                <a:cs typeface="+mn-cs"/>
                <a:sym typeface="Helvetica"/>
              </a:defRPr>
            </a:pPr>
            <a:r>
              <a:t>Небольшую фразу, с важной информацией, можно выделить, набрав ее более крупным кеглем, чем обычный  текст. Делать </a:t>
            </a:r>
            <a:br/>
            <a:r>
              <a:t>это часто не рекомендуется.</a:t>
            </a:r>
          </a:p>
        </p:txBody>
      </p:sp>
      <p:sp>
        <p:nvSpPr>
          <p:cNvPr id="65"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66" name="TextBox 27"/>
          <p:cNvSpPr txBox="1">
            <a:spLocks noGrp="1"/>
          </p:cNvSpPr>
          <p:nvPr>
            <p:ph type="body" sz="quarter" idx="26"/>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67" name="TextBox 30"/>
          <p:cNvSpPr txBox="1">
            <a:spLocks noGrp="1"/>
          </p:cNvSpPr>
          <p:nvPr>
            <p:ph type="body" sz="quarter" idx="27"/>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68" name="TextBox 31"/>
          <p:cNvSpPr txBox="1">
            <a:spLocks noGrp="1"/>
          </p:cNvSpPr>
          <p:nvPr>
            <p:ph type="body" sz="quarter" idx="28"/>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Текст_3">
    <p:spTree>
      <p:nvGrpSpPr>
        <p:cNvPr id="1" name=""/>
        <p:cNvGrpSpPr/>
        <p:nvPr/>
      </p:nvGrpSpPr>
      <p:grpSpPr>
        <a:xfrm>
          <a:off x="0" y="0"/>
          <a:ext cx="0" cy="0"/>
          <a:chOff x="0" y="0"/>
          <a:chExt cx="0" cy="0"/>
        </a:xfrm>
      </p:grpSpPr>
      <p:pic>
        <p:nvPicPr>
          <p:cNvPr id="76" name="Picture 9" descr="Picture 9"/>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77"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600">
                <a:solidFill>
                  <a:srgbClr val="FFFFFF"/>
                </a:solidFill>
                <a:latin typeface="+mj-lt"/>
                <a:ea typeface="+mj-ea"/>
                <a:cs typeface="+mj-cs"/>
                <a:sym typeface="Calibri"/>
              </a:defRPr>
            </a:pPr>
            <a:endParaRPr/>
          </a:p>
        </p:txBody>
      </p:sp>
      <p:pic>
        <p:nvPicPr>
          <p:cNvPr id="78" name="Picture 4" descr="Picture 4"/>
          <p:cNvPicPr>
            <a:picLocks noChangeAspect="1"/>
          </p:cNvPicPr>
          <p:nvPr/>
        </p:nvPicPr>
        <p:blipFill>
          <a:blip r:embed="rId3"/>
          <a:stretch>
            <a:fillRect/>
          </a:stretch>
        </p:blipFill>
        <p:spPr>
          <a:xfrm>
            <a:off x="517199" y="464362"/>
            <a:ext cx="448276" cy="448277"/>
          </a:xfrm>
          <a:prstGeom prst="rect">
            <a:avLst/>
          </a:prstGeom>
          <a:ln w="12700">
            <a:miter lim="400000"/>
          </a:ln>
        </p:spPr>
      </p:pic>
      <p:sp>
        <p:nvSpPr>
          <p:cNvPr id="79"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0"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1"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2" name="TextBox 27"/>
          <p:cNvSpPr txBox="1">
            <a:spLocks noGrp="1"/>
          </p:cNvSpPr>
          <p:nvPr>
            <p:ph type="body" sz="quarter" idx="21"/>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83" name="TextBox 30"/>
          <p:cNvSpPr txBox="1">
            <a:spLocks noGrp="1"/>
          </p:cNvSpPr>
          <p:nvPr>
            <p:ph type="body" sz="quarter" idx="22"/>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84" name="TextBox 31"/>
          <p:cNvSpPr txBox="1">
            <a:spLocks noGrp="1"/>
          </p:cNvSpPr>
          <p:nvPr>
            <p:ph type="body" sz="quarter" idx="23"/>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85"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86" name="TextBox 32"/>
          <p:cNvSpPr txBox="1"/>
          <p:nvPr/>
        </p:nvSpPr>
        <p:spPr>
          <a:xfrm>
            <a:off x="10337842" y="497314"/>
            <a:ext cx="245404" cy="3962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914400">
              <a:spcBef>
                <a:spcPts val="0"/>
              </a:spcBef>
              <a:defRPr sz="2000"/>
            </a:lvl1pPr>
          </a:lstStyle>
          <a:p>
            <a:r>
              <a:t>3</a:t>
            </a:r>
          </a:p>
        </p:txBody>
      </p:sp>
      <p:sp>
        <p:nvSpPr>
          <p:cNvPr id="87"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8" name="TextBox 14"/>
          <p:cNvSpPr txBox="1">
            <a:spLocks noGrp="1"/>
          </p:cNvSpPr>
          <p:nvPr>
            <p:ph type="body" idx="25"/>
          </p:nvPr>
        </p:nvSpPr>
        <p:spPr>
          <a:xfrm>
            <a:off x="562920" y="2362798"/>
            <a:ext cx="11066161" cy="3282660"/>
          </a:xfrm>
          <a:prstGeom prst="rect">
            <a:avLst/>
          </a:prstGeom>
        </p:spPr>
        <p:txBody>
          <a:bodyPr numCol="3" spcCol="126384">
            <a:noAutofit/>
          </a:bodyPr>
          <a:lstStyle/>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a:t>
            </a:r>
          </a:p>
          <a:p>
            <a:pPr marL="0" indent="0">
              <a:lnSpc>
                <a:spcPct val="100000"/>
              </a:lnSpc>
              <a:spcBef>
                <a:spcPts val="1200"/>
              </a:spcBef>
              <a:buSzTx/>
              <a:buFontTx/>
              <a:buNone/>
              <a:defRPr sz="1300">
                <a:latin typeface="+mn-lt"/>
                <a:ea typeface="+mn-ea"/>
                <a:cs typeface="+mn-cs"/>
                <a:sym typeface="Helvetica"/>
              </a:defRPr>
            </a:pPr>
            <a:r>
              <a:t>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a:t>
            </a:r>
          </a:p>
        </p:txBody>
      </p:sp>
      <p:sp>
        <p:nvSpPr>
          <p:cNvPr id="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График_1">
    <p:spTree>
      <p:nvGrpSpPr>
        <p:cNvPr id="1" name=""/>
        <p:cNvGrpSpPr/>
        <p:nvPr/>
      </p:nvGrpSpPr>
      <p:grpSpPr>
        <a:xfrm>
          <a:off x="0" y="0"/>
          <a:ext cx="0" cy="0"/>
          <a:chOff x="0" y="0"/>
          <a:chExt cx="0" cy="0"/>
        </a:xfrm>
      </p:grpSpPr>
      <p:sp>
        <p:nvSpPr>
          <p:cNvPr id="96" name="TextBox 17"/>
          <p:cNvSpPr txBox="1">
            <a:spLocks noGrp="1"/>
          </p:cNvSpPr>
          <p:nvPr>
            <p:ph type="body" sz="quarter" idx="21"/>
          </p:nvPr>
        </p:nvSpPr>
        <p:spPr>
          <a:xfrm>
            <a:off x="513173" y="1485004"/>
            <a:ext cx="3560279" cy="10566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графика. Обратите</a:t>
            </a:r>
            <a:br/>
            <a:r>
              <a:t>внимание, что название графика набирается меньшим кеглем, </a:t>
            </a:r>
            <a:br/>
            <a:r>
              <a:t>чем заголовок (16pt)</a:t>
            </a:r>
          </a:p>
        </p:txBody>
      </p:sp>
      <p:sp>
        <p:nvSpPr>
          <p:cNvPr id="97" name="TextBox 18"/>
          <p:cNvSpPr txBox="1">
            <a:spLocks noGrp="1"/>
          </p:cNvSpPr>
          <p:nvPr>
            <p:ph type="body" sz="quarter" idx="22"/>
          </p:nvPr>
        </p:nvSpPr>
        <p:spPr>
          <a:xfrm>
            <a:off x="513173" y="3040323"/>
            <a:ext cx="3560279" cy="21234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98"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99"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00"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01"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02"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График_2">
    <p:spTree>
      <p:nvGrpSpPr>
        <p:cNvPr id="1" name=""/>
        <p:cNvGrpSpPr/>
        <p:nvPr/>
      </p:nvGrpSpPr>
      <p:grpSpPr>
        <a:xfrm>
          <a:off x="0" y="0"/>
          <a:ext cx="0" cy="0"/>
          <a:chOff x="0" y="0"/>
          <a:chExt cx="0" cy="0"/>
        </a:xfrm>
      </p:grpSpPr>
      <p:sp>
        <p:nvSpPr>
          <p:cNvPr id="110" name="TextBox 63"/>
          <p:cNvSpPr txBox="1">
            <a:spLocks noGrp="1"/>
          </p:cNvSpPr>
          <p:nvPr>
            <p:ph type="body" sz="quarter" idx="21"/>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111" name="TextBox 32"/>
          <p:cNvSpPr txBox="1">
            <a:spLocks noGrp="1"/>
          </p:cNvSpPr>
          <p:nvPr>
            <p:ph type="body" sz="quarter" idx="22"/>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12" name="TextBox 27"/>
          <p:cNvSpPr txBox="1">
            <a:spLocks noGrp="1"/>
          </p:cNvSpPr>
          <p:nvPr>
            <p:ph type="body" sz="quarter" idx="23"/>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13" name="TextBox 30"/>
          <p:cNvSpPr txBox="1">
            <a:spLocks noGrp="1"/>
          </p:cNvSpPr>
          <p:nvPr>
            <p:ph type="body" sz="quarter" idx="24"/>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14" name="TextBox 31"/>
          <p:cNvSpPr txBox="1">
            <a:spLocks noGrp="1"/>
          </p:cNvSpPr>
          <p:nvPr>
            <p:ph type="body" sz="quarter" idx="25"/>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15" name="TextBox 18"/>
          <p:cNvSpPr txBox="1">
            <a:spLocks noGrp="1"/>
          </p:cNvSpPr>
          <p:nvPr>
            <p:ph type="body" sz="quarter" idx="26"/>
          </p:nvPr>
        </p:nvSpPr>
        <p:spPr>
          <a:xfrm>
            <a:off x="535694" y="2443463"/>
            <a:ext cx="3480446" cy="2123441"/>
          </a:xfrm>
          <a:prstGeom prst="rect">
            <a:avLst/>
          </a:prstGeom>
        </p:spPr>
        <p:txBody>
          <a:bodyPr>
            <a:spAutoFit/>
          </a:bodyPr>
          <a:lstStyle/>
          <a:p>
            <a:pPr marL="0" indent="0">
              <a:lnSpc>
                <a:spcPct val="100000"/>
              </a:lnSpc>
              <a:spcBef>
                <a:spcPts val="0"/>
              </a:spcBef>
              <a:buSzTx/>
              <a:buFontTx/>
              <a:buNone/>
              <a:defRPr sz="1300">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116"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График_3">
    <p:spTree>
      <p:nvGrpSpPr>
        <p:cNvPr id="1" name=""/>
        <p:cNvGrpSpPr/>
        <p:nvPr/>
      </p:nvGrpSpPr>
      <p:grpSpPr>
        <a:xfrm>
          <a:off x="0" y="0"/>
          <a:ext cx="0" cy="0"/>
          <a:chOff x="0" y="0"/>
          <a:chExt cx="0" cy="0"/>
        </a:xfrm>
      </p:grpSpPr>
      <p:sp>
        <p:nvSpPr>
          <p:cNvPr id="124" name="TextBox 63"/>
          <p:cNvSpPr txBox="1">
            <a:spLocks noGrp="1"/>
          </p:cNvSpPr>
          <p:nvPr>
            <p:ph type="body" sz="quarter" idx="21"/>
          </p:nvPr>
        </p:nvSpPr>
        <p:spPr>
          <a:xfrm>
            <a:off x="535695" y="1396903"/>
            <a:ext cx="2771719"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Очередной </a:t>
            </a:r>
            <a:br/>
            <a:r>
              <a:t>заголовок (24 pt)</a:t>
            </a:r>
          </a:p>
        </p:txBody>
      </p:sp>
      <p:sp>
        <p:nvSpPr>
          <p:cNvPr id="125" name="TextBox 16"/>
          <p:cNvSpPr txBox="1">
            <a:spLocks noGrp="1"/>
          </p:cNvSpPr>
          <p:nvPr>
            <p:ph type="body" sz="quarter" idx="22"/>
          </p:nvPr>
        </p:nvSpPr>
        <p:spPr>
          <a:xfrm>
            <a:off x="562919" y="2367263"/>
            <a:ext cx="2717271" cy="1920241"/>
          </a:xfrm>
          <a:prstGeom prst="rect">
            <a:avLst/>
          </a:prstGeom>
        </p:spPr>
        <p:txBody>
          <a:bodyPr>
            <a:spAutoFit/>
          </a:bodyPr>
          <a:lstStyle>
            <a:lvl1pPr marL="0" indent="0" defTabSz="12700">
              <a:lnSpc>
                <a:spcPct val="100000"/>
              </a:lnSpc>
              <a:spcBef>
                <a:spcPts val="1200"/>
              </a:spcBef>
              <a:buSzTx/>
              <a:buFontTx/>
              <a:buNone/>
              <a:defRPr sz="1300">
                <a:latin typeface="+mn-lt"/>
                <a:ea typeface="+mn-ea"/>
                <a:cs typeface="+mn-cs"/>
                <a:sym typeface="Helvetica"/>
              </a:defRPr>
            </a:lvl1pPr>
          </a:lstStyle>
          <a:p>
            <a: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126"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27"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28"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29"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30"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Цифры">
    <p:spTree>
      <p:nvGrpSpPr>
        <p:cNvPr id="1" name=""/>
        <p:cNvGrpSpPr/>
        <p:nvPr/>
      </p:nvGrpSpPr>
      <p:grpSpPr>
        <a:xfrm>
          <a:off x="0" y="0"/>
          <a:ext cx="0" cy="0"/>
          <a:chOff x="0" y="0"/>
          <a:chExt cx="0" cy="0"/>
        </a:xfrm>
      </p:grpSpPr>
      <p:sp>
        <p:nvSpPr>
          <p:cNvPr id="138" name="Название презентации может быть набрано в две  или три строки"/>
          <p:cNvSpPr txBox="1"/>
          <p:nvPr/>
        </p:nvSpPr>
        <p:spPr>
          <a:xfrm>
            <a:off x="1014505" y="2284019"/>
            <a:ext cx="10162990" cy="19814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pPr defTabSz="914400">
              <a:lnSpc>
                <a:spcPct val="80000"/>
              </a:lnSpc>
              <a:spcBef>
                <a:spcPts val="0"/>
              </a:spcBef>
              <a:defRPr sz="4300">
                <a:solidFill>
                  <a:srgbClr val="172C65"/>
                </a:solidFill>
              </a:defRPr>
            </a:pPr>
            <a:r>
              <a:t>Название презентации</a:t>
            </a:r>
            <a:br/>
            <a:r>
              <a:t>может быть набрано в две </a:t>
            </a:r>
            <a:br/>
            <a:r>
              <a:t>или три строки</a:t>
            </a:r>
          </a:p>
        </p:txBody>
      </p:sp>
      <p:sp>
        <p:nvSpPr>
          <p:cNvPr id="139" name="Если нужно больше места, то используйте подзаголовок"/>
          <p:cNvSpPr txBox="1"/>
          <p:nvPr/>
        </p:nvSpPr>
        <p:spPr>
          <a:xfrm>
            <a:off x="1014505" y="4897087"/>
            <a:ext cx="10162990" cy="88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lvl1pPr>
              <a:lnSpc>
                <a:spcPct val="80000"/>
              </a:lnSpc>
              <a:spcBef>
                <a:spcPts val="0"/>
              </a:spcBef>
              <a:defRPr sz="1400">
                <a:solidFill>
                  <a:srgbClr val="000000"/>
                </a:solidFill>
              </a:defRPr>
            </a:lvl1pPr>
          </a:lstStyle>
          <a:p>
            <a:pPr defTabSz="914400"/>
            <a:r>
              <a:t>Если нужно больше места, то используйте подзаголовок</a:t>
            </a:r>
          </a:p>
        </p:txBody>
      </p:sp>
      <p:pic>
        <p:nvPicPr>
          <p:cNvPr id="140" name="Picture 9" descr="Picture 9"/>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141"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800">
                <a:solidFill>
                  <a:srgbClr val="FFFFFF"/>
                </a:solidFill>
                <a:latin typeface="+mj-lt"/>
                <a:ea typeface="+mj-ea"/>
                <a:cs typeface="+mj-cs"/>
                <a:sym typeface="Calibri"/>
              </a:defRPr>
            </a:pPr>
            <a:endParaRPr/>
          </a:p>
        </p:txBody>
      </p:sp>
      <p:sp>
        <p:nvSpPr>
          <p:cNvPr id="142" name="TextBox 16"/>
          <p:cNvSpPr txBox="1">
            <a:spLocks noGrp="1"/>
          </p:cNvSpPr>
          <p:nvPr>
            <p:ph type="body" sz="quarter" idx="21"/>
          </p:nvPr>
        </p:nvSpPr>
        <p:spPr>
          <a:xfrm>
            <a:off x="535695" y="2468546"/>
            <a:ext cx="2823148"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152</a:t>
            </a:r>
            <a:r>
              <a:rPr sz="1600"/>
              <a:t> МЛН</a:t>
            </a:r>
          </a:p>
        </p:txBody>
      </p:sp>
      <p:sp>
        <p:nvSpPr>
          <p:cNvPr id="143" name="TextBox 22"/>
          <p:cNvSpPr txBox="1">
            <a:spLocks noGrp="1"/>
          </p:cNvSpPr>
          <p:nvPr>
            <p:ph type="body" sz="quarter" idx="22"/>
          </p:nvPr>
        </p:nvSpPr>
        <p:spPr>
          <a:xfrm>
            <a:off x="4067790" y="2468546"/>
            <a:ext cx="3156867"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93,2</a:t>
            </a:r>
            <a:r>
              <a:rPr sz="1600"/>
              <a:t> МЛН</a:t>
            </a:r>
          </a:p>
        </p:txBody>
      </p:sp>
      <p:sp>
        <p:nvSpPr>
          <p:cNvPr id="144" name="TextBox 26"/>
          <p:cNvSpPr txBox="1">
            <a:spLocks noGrp="1"/>
          </p:cNvSpPr>
          <p:nvPr>
            <p:ph type="body" sz="quarter" idx="23"/>
          </p:nvPr>
        </p:nvSpPr>
        <p:spPr>
          <a:xfrm>
            <a:off x="7555060" y="2468546"/>
            <a:ext cx="2823147"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1,3</a:t>
            </a:r>
            <a:r>
              <a:rPr sz="1600"/>
              <a:t> МЛН</a:t>
            </a:r>
          </a:p>
        </p:txBody>
      </p:sp>
      <p:pic>
        <p:nvPicPr>
          <p:cNvPr id="145" name="Picture 4" descr="Picture 4"/>
          <p:cNvPicPr>
            <a:picLocks noChangeAspect="1"/>
          </p:cNvPicPr>
          <p:nvPr/>
        </p:nvPicPr>
        <p:blipFill>
          <a:blip r:embed="rId3"/>
          <a:stretch>
            <a:fillRect/>
          </a:stretch>
        </p:blipFill>
        <p:spPr>
          <a:xfrm>
            <a:off x="517199" y="464362"/>
            <a:ext cx="448276" cy="448277"/>
          </a:xfrm>
          <a:prstGeom prst="rect">
            <a:avLst/>
          </a:prstGeom>
          <a:ln w="12700">
            <a:miter lim="400000"/>
          </a:ln>
        </p:spPr>
      </p:pic>
      <p:sp>
        <p:nvSpPr>
          <p:cNvPr id="146"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7"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8"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9"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150"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51"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52"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53" name="TextBox 27"/>
          <p:cNvSpPr txBox="1">
            <a:spLocks noGrp="1"/>
          </p:cNvSpPr>
          <p:nvPr>
            <p:ph type="body" sz="quarter" idx="26"/>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54" name="TextBox 30"/>
          <p:cNvSpPr txBox="1">
            <a:spLocks noGrp="1"/>
          </p:cNvSpPr>
          <p:nvPr>
            <p:ph type="body" sz="quarter" idx="27"/>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55" name="TextBox 31"/>
          <p:cNvSpPr txBox="1">
            <a:spLocks noGrp="1"/>
          </p:cNvSpPr>
          <p:nvPr>
            <p:ph type="body" sz="quarter" idx="28"/>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56" name="TextBox 18"/>
          <p:cNvSpPr txBox="1">
            <a:spLocks noGrp="1"/>
          </p:cNvSpPr>
          <p:nvPr>
            <p:ph type="body" sz="quarter" idx="29"/>
          </p:nvPr>
        </p:nvSpPr>
        <p:spPr>
          <a:xfrm>
            <a:off x="535696"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7" name="TextBox 20"/>
          <p:cNvSpPr txBox="1">
            <a:spLocks noGrp="1"/>
          </p:cNvSpPr>
          <p:nvPr>
            <p:ph type="body" sz="quarter" idx="30"/>
          </p:nvPr>
        </p:nvSpPr>
        <p:spPr>
          <a:xfrm>
            <a:off x="4067790"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8" name="TextBox 23"/>
          <p:cNvSpPr txBox="1">
            <a:spLocks noGrp="1"/>
          </p:cNvSpPr>
          <p:nvPr>
            <p:ph type="body" sz="quarter" idx="31"/>
          </p:nvPr>
        </p:nvSpPr>
        <p:spPr>
          <a:xfrm>
            <a:off x="7555060"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Таблица_1">
    <p:spTree>
      <p:nvGrpSpPr>
        <p:cNvPr id="1" name=""/>
        <p:cNvGrpSpPr/>
        <p:nvPr/>
      </p:nvGrpSpPr>
      <p:grpSpPr>
        <a:xfrm>
          <a:off x="0" y="0"/>
          <a:ext cx="0" cy="0"/>
          <a:chOff x="0" y="0"/>
          <a:chExt cx="0" cy="0"/>
        </a:xfrm>
      </p:grpSpPr>
      <p:sp>
        <p:nvSpPr>
          <p:cNvPr id="166" name="TextBox 28"/>
          <p:cNvSpPr txBox="1">
            <a:spLocks noGrp="1"/>
          </p:cNvSpPr>
          <p:nvPr>
            <p:ph type="body" sz="quarter" idx="21"/>
          </p:nvPr>
        </p:nvSpPr>
        <p:spPr>
          <a:xfrm>
            <a:off x="535695" y="1396903"/>
            <a:ext cx="7763686" cy="5740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таблицы. Обратите внимание, что название графика </a:t>
            </a:r>
          </a:p>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набирается меньшим кеглем, чем заголовок (16pt)</a:t>
            </a:r>
          </a:p>
        </p:txBody>
      </p:sp>
      <p:sp>
        <p:nvSpPr>
          <p:cNvPr id="167" name="TextBox 29"/>
          <p:cNvSpPr txBox="1">
            <a:spLocks noGrp="1"/>
          </p:cNvSpPr>
          <p:nvPr>
            <p:ph type="body" sz="quarter" idx="22"/>
          </p:nvPr>
        </p:nvSpPr>
        <p:spPr>
          <a:xfrm>
            <a:off x="535694" y="5581215"/>
            <a:ext cx="7763687" cy="701041"/>
          </a:xfrm>
          <a:prstGeom prst="rect">
            <a:avLst/>
          </a:prstGeom>
        </p:spPr>
        <p:txBody>
          <a:bodyPr>
            <a:spAutoFit/>
          </a:bodyPr>
          <a:lstStyle>
            <a:lvl1pPr marL="0" indent="0" defTabSz="12700">
              <a:lnSpc>
                <a:spcPct val="100000"/>
              </a:lnSpc>
              <a:spcBef>
                <a:spcPts val="600"/>
              </a:spcBef>
              <a:buSzTx/>
              <a:buFontTx/>
              <a:buNone/>
              <a:defRPr sz="1300">
                <a:latin typeface="+mn-lt"/>
                <a:ea typeface="+mn-ea"/>
                <a:cs typeface="+mn-cs"/>
                <a:sym typeface="Helvetica"/>
              </a:defRPr>
            </a:lvl1pPr>
          </a:lstStyle>
          <a:p>
            <a:r>
              <a:t>Мы рекомендуем очень аккуратно использовать жирное начертание, старайтесь выделять жирным самое важное. Также старайтесь не использовать выделение жирным начертанием вместе с заливкой ячеек каким-либо цветом, достаточно и одного акцента.</a:t>
            </a:r>
          </a:p>
        </p:txBody>
      </p:sp>
      <p:sp>
        <p:nvSpPr>
          <p:cNvPr id="168"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69"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70"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71"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Таблица_2">
    <p:spTree>
      <p:nvGrpSpPr>
        <p:cNvPr id="1" name=""/>
        <p:cNvGrpSpPr/>
        <p:nvPr/>
      </p:nvGrpSpPr>
      <p:grpSpPr>
        <a:xfrm>
          <a:off x="0" y="0"/>
          <a:ext cx="0" cy="0"/>
          <a:chOff x="0" y="0"/>
          <a:chExt cx="0" cy="0"/>
        </a:xfrm>
      </p:grpSpPr>
      <p:sp>
        <p:nvSpPr>
          <p:cNvPr id="179" name="TextBox 28"/>
          <p:cNvSpPr txBox="1">
            <a:spLocks noGrp="1"/>
          </p:cNvSpPr>
          <p:nvPr>
            <p:ph type="body" sz="quarter" idx="21"/>
          </p:nvPr>
        </p:nvSpPr>
        <p:spPr>
          <a:xfrm>
            <a:off x="535695" y="1396903"/>
            <a:ext cx="7763686" cy="5740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таблицы. Обратите внимание, что название графика </a:t>
            </a:r>
          </a:p>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набирается меньшим кеглем, чем заголовок (16pt)</a:t>
            </a:r>
          </a:p>
        </p:txBody>
      </p:sp>
      <p:sp>
        <p:nvSpPr>
          <p:cNvPr id="180" name="TextBox 14"/>
          <p:cNvSpPr txBox="1">
            <a:spLocks noGrp="1"/>
          </p:cNvSpPr>
          <p:nvPr>
            <p:ph type="body" sz="quarter" idx="22"/>
          </p:nvPr>
        </p:nvSpPr>
        <p:spPr>
          <a:xfrm>
            <a:off x="8694382" y="2188739"/>
            <a:ext cx="2717271" cy="2936241"/>
          </a:xfrm>
          <a:prstGeom prst="rect">
            <a:avLst/>
          </a:prstGeom>
        </p:spPr>
        <p:txBody>
          <a:bodyPr>
            <a:spAutoFit/>
          </a:bodyPr>
          <a:lstStyle/>
          <a:p>
            <a:pPr marL="0" indent="0" defTabSz="12700">
              <a:lnSpc>
                <a:spcPct val="100000"/>
              </a:lnSpc>
              <a:spcBef>
                <a:spcPts val="1200"/>
              </a:spcBef>
              <a:buSzTx/>
              <a:buFontTx/>
              <a:buNone/>
              <a:defRPr sz="1300">
                <a:solidFill>
                  <a:srgbClr val="102D69"/>
                </a:solidFill>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181"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82"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83"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84"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Таблица_2 copy">
    <p:spTree>
      <p:nvGrpSpPr>
        <p:cNvPr id="1" name=""/>
        <p:cNvGrpSpPr/>
        <p:nvPr/>
      </p:nvGrpSpPr>
      <p:grpSpPr>
        <a:xfrm>
          <a:off x="0" y="0"/>
          <a:ext cx="0" cy="0"/>
          <a:chOff x="0" y="0"/>
          <a:chExt cx="0" cy="0"/>
        </a:xfrm>
      </p:grpSpPr>
      <p:sp>
        <p:nvSpPr>
          <p:cNvPr id="192" name="Rectangle"/>
          <p:cNvSpPr/>
          <p:nvPr/>
        </p:nvSpPr>
        <p:spPr>
          <a:xfrm>
            <a:off x="-351154" y="-10861"/>
            <a:ext cx="13083515" cy="6879722"/>
          </a:xfrm>
          <a:prstGeom prst="rect">
            <a:avLst/>
          </a:prstGeom>
          <a:solidFill>
            <a:srgbClr val="172C65"/>
          </a:solidFill>
          <a:ln w="12700">
            <a:miter lim="400000"/>
          </a:ln>
        </p:spPr>
        <p:txBody>
          <a:bodyPr lIns="45719" rIns="45719" anchor="ctr"/>
          <a:lstStyle/>
          <a:p>
            <a:pPr defTabSz="914400">
              <a:spcBef>
                <a:spcPts val="0"/>
              </a:spcBef>
              <a:defRPr sz="1800">
                <a:solidFill>
                  <a:srgbClr val="000000"/>
                </a:solidFill>
                <a:latin typeface="+mj-lt"/>
                <a:ea typeface="+mj-ea"/>
                <a:cs typeface="+mj-cs"/>
                <a:sym typeface="Calibri"/>
              </a:defRPr>
            </a:pPr>
            <a:endParaRPr/>
          </a:p>
        </p:txBody>
      </p:sp>
      <p:pic>
        <p:nvPicPr>
          <p:cNvPr id="193" name="01_Logo_HSE_full_rus_CMYK_for_dark_1.png" descr="01_Logo_HSE_full_rus_CMYK_for_dark_1.png"/>
          <p:cNvPicPr>
            <a:picLocks noChangeAspect="1"/>
          </p:cNvPicPr>
          <p:nvPr/>
        </p:nvPicPr>
        <p:blipFill>
          <a:blip r:embed="rId2"/>
          <a:stretch>
            <a:fillRect/>
          </a:stretch>
        </p:blipFill>
        <p:spPr>
          <a:xfrm>
            <a:off x="5313362" y="2646362"/>
            <a:ext cx="1565147" cy="1565147"/>
          </a:xfrm>
          <a:prstGeom prst="rect">
            <a:avLst/>
          </a:prstGeom>
          <a:ln w="12700">
            <a:miter lim="400000"/>
          </a:ln>
        </p:spPr>
      </p:pic>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9" descr="Picture 9"/>
          <p:cNvPicPr>
            <a:picLocks noChangeAspect="1"/>
          </p:cNvPicPr>
          <p:nvPr/>
        </p:nvPicPr>
        <p:blipFill>
          <a:blip r:embed="rId14"/>
          <a:stretch>
            <a:fillRect/>
          </a:stretch>
        </p:blipFill>
        <p:spPr>
          <a:xfrm>
            <a:off x="0" y="0"/>
            <a:ext cx="12192000" cy="6858000"/>
          </a:xfrm>
          <a:prstGeom prst="rect">
            <a:avLst/>
          </a:prstGeom>
          <a:ln w="12700">
            <a:miter lim="400000"/>
          </a:ln>
        </p:spPr>
      </p:pic>
      <p:sp>
        <p:nvSpPr>
          <p:cNvPr id="3"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600">
                <a:solidFill>
                  <a:srgbClr val="FFFFFF"/>
                </a:solidFill>
                <a:latin typeface="+mj-lt"/>
                <a:ea typeface="+mj-ea"/>
                <a:cs typeface="+mj-cs"/>
                <a:sym typeface="Calibri"/>
              </a:defRPr>
            </a:pPr>
            <a:endParaRPr/>
          </a:p>
        </p:txBody>
      </p:sp>
      <p:pic>
        <p:nvPicPr>
          <p:cNvPr id="4" name="Picture 4" descr="Picture 4"/>
          <p:cNvPicPr>
            <a:picLocks noChangeAspect="1"/>
          </p:cNvPicPr>
          <p:nvPr/>
        </p:nvPicPr>
        <p:blipFill>
          <a:blip r:embed="rId15"/>
          <a:stretch>
            <a:fillRect/>
          </a:stretch>
        </p:blipFill>
        <p:spPr>
          <a:xfrm>
            <a:off x="517199" y="464362"/>
            <a:ext cx="448276" cy="448277"/>
          </a:xfrm>
          <a:prstGeom prst="rect">
            <a:avLst/>
          </a:prstGeom>
          <a:ln w="12700">
            <a:miter lim="400000"/>
          </a:ln>
        </p:spPr>
      </p:pic>
      <p:sp>
        <p:nvSpPr>
          <p:cNvPr id="5"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6"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7"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9"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10"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defTabSz="914400">
              <a:spcBef>
                <a:spcPts val="0"/>
              </a:spcBef>
              <a:defRPr sz="1200">
                <a:solidFill>
                  <a:srgbClr val="888888"/>
                </a:solidFill>
                <a:latin typeface="+mj-lt"/>
                <a:ea typeface="+mj-ea"/>
                <a:cs typeface="+mj-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8.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8" Type="http://schemas.openxmlformats.org/officeDocument/2006/relationships/hyperlink" Target="https://music.apple.com/" TargetMode="External"/><Relationship Id="rId3" Type="http://schemas.openxmlformats.org/officeDocument/2006/relationships/hyperlink" Target="https://git-scm.com/" TargetMode="External"/><Relationship Id="rId7" Type="http://schemas.openxmlformats.org/officeDocument/2006/relationships/hyperlink" Target="https://music.youtube.com/" TargetMode="External"/><Relationship Id="rId12" Type="http://schemas.openxmlformats.org/officeDocument/2006/relationships/hyperlink" Target="https://mstream.io/" TargetMode="External"/><Relationship Id="rId2" Type="http://schemas.openxmlformats.org/officeDocument/2006/relationships/hyperlink" Target="https://developer.apple.com/xcode/" TargetMode="External"/><Relationship Id="rId1" Type="http://schemas.openxmlformats.org/officeDocument/2006/relationships/slideLayout" Target="../slideLayouts/slideLayout1.xml"/><Relationship Id="rId6" Type="http://schemas.openxmlformats.org/officeDocument/2006/relationships/hyperlink" Target="https://music.vk.com/" TargetMode="External"/><Relationship Id="rId11" Type="http://schemas.openxmlformats.org/officeDocument/2006/relationships/hyperlink" Target="https://ampache.org/" TargetMode="External"/><Relationship Id="rId5" Type="http://schemas.openxmlformats.org/officeDocument/2006/relationships/hyperlink" Target="https://www.spotify.com/" TargetMode="External"/><Relationship Id="rId10" Type="http://schemas.openxmlformats.org/officeDocument/2006/relationships/hyperlink" Target="https://www.navidrome.org/" TargetMode="External"/><Relationship Id="rId4" Type="http://schemas.openxmlformats.org/officeDocument/2006/relationships/hyperlink" Target="https://music.yandex.ru/" TargetMode="External"/><Relationship Id="rId9" Type="http://schemas.openxmlformats.org/officeDocument/2006/relationships/hyperlink" Target="https://github.com/blackcandy-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Факультет…"/>
          <p:cNvSpPr txBox="1">
            <a:spLocks noGrp="1"/>
          </p:cNvSpPr>
          <p:nvPr>
            <p:ph type="body" idx="21"/>
          </p:nvPr>
        </p:nvSpPr>
        <p:spPr>
          <a:prstGeom prst="rect">
            <a:avLst/>
          </a:prstGeom>
        </p:spPr>
        <p:txBody>
          <a:bodyPr/>
          <a:lstStyle/>
          <a:p>
            <a:pPr marL="0" indent="0">
              <a:spcBef>
                <a:spcPts val="0"/>
              </a:spcBef>
              <a:buSzTx/>
              <a:buFontTx/>
              <a:buNone/>
              <a:defRPr sz="1600">
                <a:latin typeface="+mn-lt"/>
                <a:ea typeface="+mn-ea"/>
                <a:cs typeface="+mn-cs"/>
                <a:sym typeface="Helvetica"/>
              </a:defRPr>
            </a:pPr>
            <a:r>
              <a:rPr dirty="0" err="1"/>
              <a:t>Факультет</a:t>
            </a:r>
            <a:r>
              <a:rPr dirty="0"/>
              <a:t> </a:t>
            </a:r>
          </a:p>
          <a:p>
            <a:pPr marL="0" indent="0">
              <a:spcBef>
                <a:spcPts val="0"/>
              </a:spcBef>
              <a:buSzTx/>
              <a:buFontTx/>
              <a:buNone/>
              <a:defRPr sz="1600">
                <a:latin typeface="+mn-lt"/>
                <a:ea typeface="+mn-ea"/>
                <a:cs typeface="+mn-cs"/>
                <a:sym typeface="Helvetica"/>
              </a:defRPr>
            </a:pPr>
            <a:r>
              <a:rPr dirty="0" err="1"/>
              <a:t>компьютерных</a:t>
            </a:r>
            <a:r>
              <a:rPr dirty="0"/>
              <a:t> </a:t>
            </a:r>
            <a:r>
              <a:rPr dirty="0" err="1"/>
              <a:t>наук</a:t>
            </a:r>
            <a:endParaRPr dirty="0"/>
          </a:p>
        </p:txBody>
      </p:sp>
      <p:sp>
        <p:nvSpPr>
          <p:cNvPr id="204" name="Департамент…"/>
          <p:cNvSpPr txBox="1">
            <a:spLocks noGrp="1"/>
          </p:cNvSpPr>
          <p:nvPr>
            <p:ph type="body" idx="22"/>
          </p:nvPr>
        </p:nvSpPr>
        <p:spPr>
          <a:prstGeom prst="rect">
            <a:avLst/>
          </a:prstGeom>
        </p:spPr>
        <p:txBody>
          <a:bodyPr/>
          <a:lstStyle/>
          <a:p>
            <a:pPr marL="0" indent="0">
              <a:spcBef>
                <a:spcPts val="0"/>
              </a:spcBef>
              <a:buSzTx/>
              <a:buFontTx/>
              <a:buNone/>
              <a:defRPr sz="1200">
                <a:latin typeface="+mn-lt"/>
                <a:ea typeface="+mn-ea"/>
                <a:cs typeface="+mn-cs"/>
                <a:sym typeface="Helvetica"/>
              </a:defRPr>
            </a:pPr>
            <a:r>
              <a:rPr dirty="0" err="1"/>
              <a:t>Департамент</a:t>
            </a:r>
            <a:r>
              <a:rPr dirty="0"/>
              <a:t> </a:t>
            </a:r>
          </a:p>
          <a:p>
            <a:pPr marL="0" indent="0">
              <a:spcBef>
                <a:spcPts val="0"/>
              </a:spcBef>
              <a:buSzTx/>
              <a:buFontTx/>
              <a:buNone/>
              <a:defRPr sz="1200">
                <a:latin typeface="+mn-lt"/>
                <a:ea typeface="+mn-ea"/>
                <a:cs typeface="+mn-cs"/>
                <a:sym typeface="Helvetica"/>
              </a:defRPr>
            </a:pPr>
            <a:r>
              <a:rPr dirty="0" err="1"/>
              <a:t>программной</a:t>
            </a:r>
            <a:r>
              <a:rPr dirty="0"/>
              <a:t> </a:t>
            </a:r>
            <a:r>
              <a:rPr dirty="0" err="1"/>
              <a:t>инженерии</a:t>
            </a:r>
            <a:endParaRPr dirty="0"/>
          </a:p>
        </p:txBody>
      </p:sp>
      <p:sp>
        <p:nvSpPr>
          <p:cNvPr id="205" name="Москва 2025"/>
          <p:cNvSpPr txBox="1">
            <a:spLocks noGrp="1"/>
          </p:cNvSpPr>
          <p:nvPr>
            <p:ph type="body" idx="23"/>
          </p:nvPr>
        </p:nvSpPr>
        <p:spPr>
          <a:prstGeom prst="rect">
            <a:avLst/>
          </a:prstGeom>
        </p:spPr>
        <p:txBody>
          <a:bodyPr/>
          <a:lstStyle/>
          <a:p>
            <a:pPr marL="0" indent="0">
              <a:lnSpc>
                <a:spcPct val="80000"/>
              </a:lnSpc>
              <a:spcBef>
                <a:spcPts val="0"/>
              </a:spcBef>
              <a:buSzTx/>
              <a:buFontTx/>
              <a:buNone/>
              <a:defRPr sz="1200">
                <a:latin typeface="+mn-lt"/>
                <a:ea typeface="+mn-ea"/>
                <a:cs typeface="+mn-cs"/>
                <a:sym typeface="Helvetica"/>
              </a:defRPr>
            </a:pPr>
            <a:r>
              <a:rPr dirty="0" err="1"/>
              <a:t>Москва</a:t>
            </a:r>
            <a:br>
              <a:rPr dirty="0"/>
            </a:br>
            <a:r>
              <a:rPr dirty="0"/>
              <a:t>202</a:t>
            </a:r>
            <a:r>
              <a:rPr lang="ru-RU" dirty="0"/>
              <a:t>6</a:t>
            </a:r>
            <a:endParaRPr dirty="0"/>
          </a:p>
        </p:txBody>
      </p:sp>
      <p:sp>
        <p:nvSpPr>
          <p:cNvPr id="206" name="Сервис для стриминга и селфхостинга музыки. iOS-приложение…"/>
          <p:cNvSpPr txBox="1">
            <a:spLocks noGrp="1"/>
          </p:cNvSpPr>
          <p:nvPr>
            <p:ph type="body" idx="24"/>
          </p:nvPr>
        </p:nvSpPr>
        <p:spPr>
          <a:xfrm>
            <a:off x="1014505" y="2284018"/>
            <a:ext cx="10162990" cy="2299261"/>
          </a:xfrm>
          <a:prstGeom prst="rect">
            <a:avLst/>
          </a:prstGeom>
        </p:spPr>
        <p:txBody>
          <a:bodyPr/>
          <a:lstStyle/>
          <a:p>
            <a:pPr marL="0" indent="0">
              <a:lnSpc>
                <a:spcPct val="100000"/>
              </a:lnSpc>
              <a:spcBef>
                <a:spcPts val="0"/>
              </a:spcBef>
              <a:buSzTx/>
              <a:buFontTx/>
              <a:buNone/>
              <a:defRPr sz="3500">
                <a:solidFill>
                  <a:srgbClr val="172C65"/>
                </a:solidFill>
                <a:latin typeface="+mn-lt"/>
                <a:ea typeface="+mn-ea"/>
                <a:cs typeface="+mn-cs"/>
                <a:sym typeface="Helvetica"/>
              </a:defRPr>
            </a:pPr>
            <a:r>
              <a:rPr lang="ru-RU" dirty="0" err="1"/>
              <a:t>Питомец.ком</a:t>
            </a:r>
            <a:r>
              <a:rPr lang="en-US" dirty="0"/>
              <a:t> -</a:t>
            </a:r>
            <a:r>
              <a:rPr lang="ru-RU" dirty="0"/>
              <a:t> Разработка серверной логики, авторизации и интеграции внешних систем</a:t>
            </a:r>
            <a:r>
              <a:rPr lang="en-US" dirty="0"/>
              <a:t>. </a:t>
            </a:r>
          </a:p>
          <a:p>
            <a:pPr marL="0" indent="0">
              <a:lnSpc>
                <a:spcPct val="100000"/>
              </a:lnSpc>
              <a:spcBef>
                <a:spcPts val="0"/>
              </a:spcBef>
              <a:buSzTx/>
              <a:buFontTx/>
              <a:buNone/>
              <a:defRPr sz="3500">
                <a:solidFill>
                  <a:srgbClr val="172C65"/>
                </a:solidFill>
                <a:latin typeface="+mn-lt"/>
                <a:ea typeface="+mn-ea"/>
                <a:cs typeface="+mn-cs"/>
                <a:sym typeface="Helvetica"/>
              </a:defRPr>
            </a:pPr>
            <a:r>
              <a:rPr lang="en-US" dirty="0" err="1"/>
              <a:t>Pitomets.com</a:t>
            </a:r>
            <a:r>
              <a:rPr lang="en-US" dirty="0"/>
              <a:t> - Development of server logic, authorization, and integration of external systems</a:t>
            </a:r>
            <a:endParaRPr dirty="0"/>
          </a:p>
        </p:txBody>
      </p:sp>
      <p:sp>
        <p:nvSpPr>
          <p:cNvPr id="207" name="Выполнил: студент БПИ235 Васюков Александр Владимирович…"/>
          <p:cNvSpPr txBox="1">
            <a:spLocks noGrp="1"/>
          </p:cNvSpPr>
          <p:nvPr>
            <p:ph type="body" idx="25"/>
          </p:nvPr>
        </p:nvSpPr>
        <p:spPr>
          <a:xfrm>
            <a:off x="1014505" y="4747187"/>
            <a:ext cx="4997854" cy="1140500"/>
          </a:xfrm>
          <a:prstGeom prst="rect">
            <a:avLst/>
          </a:prstGeom>
        </p:spPr>
        <p:txBody>
          <a:bodyPr/>
          <a:lstStyle/>
          <a:p>
            <a:pPr marL="0" indent="0">
              <a:spcBef>
                <a:spcPts val="0"/>
              </a:spcBef>
              <a:buSzTx/>
              <a:buFontTx/>
              <a:buNone/>
              <a:defRPr sz="1600">
                <a:latin typeface="+mn-lt"/>
                <a:ea typeface="+mn-ea"/>
                <a:cs typeface="+mn-cs"/>
                <a:sym typeface="Helvetica"/>
              </a:defRPr>
            </a:pPr>
            <a:r>
              <a:rPr dirty="0" err="1"/>
              <a:t>Выполнил</a:t>
            </a:r>
            <a:r>
              <a:rPr dirty="0"/>
              <a:t>: </a:t>
            </a:r>
            <a:r>
              <a:rPr dirty="0" err="1"/>
              <a:t>студент</a:t>
            </a:r>
            <a:r>
              <a:rPr dirty="0"/>
              <a:t> </a:t>
            </a:r>
            <a:r>
              <a:rPr dirty="0" err="1"/>
              <a:t>Б</a:t>
            </a:r>
            <a:r>
              <a:rPr lang="ru-RU" dirty="0"/>
              <a:t>ДРИП242</a:t>
            </a:r>
            <a:br>
              <a:rPr dirty="0"/>
            </a:br>
            <a:r>
              <a:rPr lang="ru-RU" dirty="0"/>
              <a:t>Дёмин Федор Сергеевич</a:t>
            </a:r>
            <a:endParaRPr dirty="0"/>
          </a:p>
          <a:p>
            <a:pPr marL="0" indent="0">
              <a:spcBef>
                <a:spcPts val="0"/>
              </a:spcBef>
              <a:buSzTx/>
              <a:buFontTx/>
              <a:buNone/>
              <a:defRPr sz="1600">
                <a:latin typeface="+mn-lt"/>
                <a:ea typeface="+mn-ea"/>
                <a:cs typeface="+mn-cs"/>
                <a:sym typeface="Helvetica"/>
              </a:defRPr>
            </a:pPr>
            <a:endParaRPr dirty="0"/>
          </a:p>
          <a:p>
            <a:pPr marL="0" indent="0">
              <a:spcBef>
                <a:spcPts val="0"/>
              </a:spcBef>
              <a:buSzTx/>
              <a:buFontTx/>
              <a:buNone/>
              <a:defRPr sz="1600">
                <a:latin typeface="+mn-lt"/>
                <a:ea typeface="+mn-ea"/>
                <a:cs typeface="+mn-cs"/>
                <a:sym typeface="Helvetica"/>
              </a:defRPr>
            </a:pPr>
            <a:r>
              <a:rPr dirty="0" err="1"/>
              <a:t>Командный</a:t>
            </a:r>
            <a:r>
              <a:rPr dirty="0"/>
              <a:t> </a:t>
            </a:r>
            <a:r>
              <a:rPr dirty="0" err="1"/>
              <a:t>программный</a:t>
            </a:r>
            <a:r>
              <a:rPr dirty="0"/>
              <a:t> </a:t>
            </a:r>
            <a:r>
              <a:rPr dirty="0" err="1"/>
              <a:t>проект</a:t>
            </a:r>
            <a:endParaRPr dirty="0"/>
          </a:p>
        </p:txBody>
      </p:sp>
      <p:sp>
        <p:nvSpPr>
          <p:cNvPr id="208" name="Научный руководитель:…"/>
          <p:cNvSpPr txBox="1"/>
          <p:nvPr/>
        </p:nvSpPr>
        <p:spPr>
          <a:xfrm>
            <a:off x="8223749" y="4747187"/>
            <a:ext cx="2981165" cy="1140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pPr defTabSz="914400">
              <a:lnSpc>
                <a:spcPct val="90000"/>
              </a:lnSpc>
              <a:spcBef>
                <a:spcPts val="0"/>
              </a:spcBef>
              <a:defRPr sz="1600">
                <a:solidFill>
                  <a:srgbClr val="000000"/>
                </a:solidFill>
              </a:defRPr>
            </a:pPr>
            <a:r>
              <a:rPr dirty="0" err="1"/>
              <a:t>Научный</a:t>
            </a:r>
            <a:r>
              <a:rPr dirty="0"/>
              <a:t> </a:t>
            </a:r>
            <a:r>
              <a:rPr dirty="0" err="1"/>
              <a:t>руководитель</a:t>
            </a:r>
            <a:r>
              <a:rPr dirty="0"/>
              <a:t>: </a:t>
            </a:r>
          </a:p>
          <a:p>
            <a:pPr defTabSz="914400">
              <a:lnSpc>
                <a:spcPct val="90000"/>
              </a:lnSpc>
              <a:spcBef>
                <a:spcPts val="0"/>
              </a:spcBef>
              <a:defRPr sz="1600">
                <a:solidFill>
                  <a:srgbClr val="000000"/>
                </a:solidFill>
              </a:defRPr>
            </a:pPr>
            <a:r>
              <a:rPr lang="ru-RU" dirty="0" err="1"/>
              <a:t>Учватов</a:t>
            </a:r>
            <a:r>
              <a:rPr lang="en-US" dirty="0"/>
              <a:t> </a:t>
            </a:r>
            <a:r>
              <a:rPr lang="ru-RU" dirty="0"/>
              <a:t>С</a:t>
            </a:r>
            <a:r>
              <a:rPr dirty="0"/>
              <a:t>.</a:t>
            </a:r>
            <a:r>
              <a:rPr lang="en-US" dirty="0"/>
              <a:t> </a:t>
            </a:r>
            <a:r>
              <a:rPr lang="ru-RU" dirty="0"/>
              <a:t>А</a:t>
            </a:r>
            <a:r>
              <a:rPr dirty="0"/>
              <a:t>.,</a:t>
            </a:r>
            <a:r>
              <a:rPr lang="en-US" dirty="0"/>
              <a:t> </a:t>
            </a:r>
            <a:r>
              <a:rPr lang="ru-RU" dirty="0"/>
              <a:t>ведущий разработчик ООО</a:t>
            </a:r>
            <a:r>
              <a:rPr lang="en-US" dirty="0"/>
              <a:t> ”</a:t>
            </a:r>
            <a:r>
              <a:rPr lang="ru-RU" dirty="0"/>
              <a:t>ТЦР</a:t>
            </a:r>
            <a:r>
              <a:rPr lang="en-US" dirty="0"/>
              <a:t>”</a:t>
            </a:r>
            <a:endParaRPr lang="ru-RU"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Box 27"/>
          <p:cNvSpPr txBox="1">
            <a:spLocks noGrp="1"/>
          </p:cNvSpPr>
          <p:nvPr>
            <p:ph type="body" idx="21"/>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11" name="TextBox 31"/>
          <p:cNvSpPr txBox="1">
            <a:spLocks noGrp="1"/>
          </p:cNvSpPr>
          <p:nvPr>
            <p:ph type="body" idx="23"/>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Описание темы проекта</a:t>
            </a:r>
          </a:p>
        </p:txBody>
      </p:sp>
      <p:sp>
        <p:nvSpPr>
          <p:cNvPr id="212"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Описание темы проекта</a:t>
            </a:r>
          </a:p>
        </p:txBody>
      </p:sp>
      <p:sp>
        <p:nvSpPr>
          <p:cNvPr id="213"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rPr/>
              <a:t>2</a:t>
            </a:fld>
            <a:endParaRPr/>
          </a:p>
        </p:txBody>
      </p:sp>
      <p:sp>
        <p:nvSpPr>
          <p:cNvPr id="214" name="TextBox 44"/>
          <p:cNvSpPr txBox="1">
            <a:spLocks noGrp="1"/>
          </p:cNvSpPr>
          <p:nvPr>
            <p:ph type="body" idx="26"/>
          </p:nvPr>
        </p:nvSpPr>
        <p:spPr>
          <a:xfrm>
            <a:off x="535695" y="2057998"/>
            <a:ext cx="5219982" cy="3299365"/>
          </a:xfrm>
          <a:prstGeom prst="rect">
            <a:avLst/>
          </a:prstGeom>
        </p:spPr>
        <p:txBody>
          <a:bodyPr/>
          <a:lstStyle/>
          <a:p>
            <a:pPr marL="0" indent="0">
              <a:buNone/>
            </a:pPr>
            <a:r>
              <a:rPr lang="ru-RU" sz="1600" dirty="0"/>
              <a:t>Приложение «</a:t>
            </a:r>
            <a:r>
              <a:rPr lang="ru-RU" sz="1600" dirty="0" err="1"/>
              <a:t>Питомец.ком</a:t>
            </a:r>
            <a:r>
              <a:rPr lang="ru-RU" sz="1600" dirty="0"/>
              <a:t>» позволяет пользователям размещать и просматривать объявления о продаже животных, оставлять отзывы на них, взаимодействовать с продавцами через </a:t>
            </a:r>
            <a:r>
              <a:rPr lang="en-US" sz="1600" dirty="0"/>
              <a:t>web-</a:t>
            </a:r>
            <a:r>
              <a:rPr lang="ru-RU" sz="1600" dirty="0"/>
              <a:t>клиент.</a:t>
            </a:r>
          </a:p>
          <a:p>
            <a:pPr marL="0" indent="0">
              <a:buNone/>
            </a:pPr>
            <a:r>
              <a:rPr lang="ru-RU" sz="1600" dirty="0"/>
              <a:t>Основные преимущества:</a:t>
            </a:r>
          </a:p>
          <a:p>
            <a:r>
              <a:rPr lang="ru-RU" sz="1600" dirty="0"/>
              <a:t>удобная система публикации и поиска объявлений;</a:t>
            </a:r>
          </a:p>
          <a:p>
            <a:r>
              <a:rPr lang="ru-RU" sz="1600" dirty="0"/>
              <a:t>встроенная модерация пользовательского контента;</a:t>
            </a:r>
          </a:p>
          <a:p>
            <a:r>
              <a:rPr lang="ru-RU" sz="1600" dirty="0"/>
              <a:t>авторизация и разграничение ролей пользователей;</a:t>
            </a:r>
          </a:p>
          <a:p>
            <a:r>
              <a:rPr lang="ru-RU" sz="1600" dirty="0"/>
              <a:t>поддержка загрузки фотографий и отзывов;</a:t>
            </a:r>
          </a:p>
          <a:p>
            <a:r>
              <a:rPr lang="ru-RU" sz="1600" dirty="0"/>
              <a:t>отсутствие необходимости использовать сторонние сервисы для взаимодействия продавцов и покупателей.</a:t>
            </a:r>
          </a:p>
        </p:txBody>
      </p:sp>
      <p:sp>
        <p:nvSpPr>
          <p:cNvPr id="215" name="TextBox 30"/>
          <p:cNvSpPr txBox="1"/>
          <p:nvPr/>
        </p:nvSpPr>
        <p:spPr>
          <a:xfrm>
            <a:off x="3411347" y="500857"/>
            <a:ext cx="2575408" cy="5078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spcBef>
                <a:spcPts val="0"/>
              </a:spcBef>
              <a:defRPr sz="1000">
                <a:solidFill>
                  <a:srgbClr val="000000"/>
                </a:solidFill>
              </a:defRPr>
            </a:lvl1pPr>
          </a:lstStyle>
          <a:p>
            <a:r>
              <a:rPr lang="ru-RU" dirty="0" err="1"/>
              <a:t>Питомец.ком</a:t>
            </a:r>
            <a:r>
              <a:rPr lang="ru-RU" dirty="0"/>
              <a:t> — Разработка серверной логики, авторизации и интеграции внешних систем</a:t>
            </a:r>
          </a:p>
        </p:txBody>
      </p:sp>
      <p:pic>
        <p:nvPicPr>
          <p:cNvPr id="3" name="Рисунок 2" descr="Изображение выглядит как текст, Шрифт, Графика, графический дизайн&#10;&#10;Содержимое, созданное искусственным интеллектом, может быть неверным.">
            <a:extLst>
              <a:ext uri="{FF2B5EF4-FFF2-40B4-BE49-F238E27FC236}">
                <a16:creationId xmlns:a16="http://schemas.microsoft.com/office/drawing/2014/main" id="{6875D4C9-735E-59A2-08CB-BC5809C54FB1}"/>
              </a:ext>
            </a:extLst>
          </p:cNvPr>
          <p:cNvPicPr>
            <a:picLocks noChangeAspect="1"/>
          </p:cNvPicPr>
          <p:nvPr/>
        </p:nvPicPr>
        <p:blipFill>
          <a:blip r:embed="rId2">
            <a:extLst>
              <a:ext uri="{28A0092B-C50C-407E-A947-70E740481C1C}">
                <a14:useLocalDpi xmlns:a14="http://schemas.microsoft.com/office/drawing/2010/main" val="0"/>
              </a:ext>
            </a:extLst>
          </a:blip>
          <a:srcRect t="23802" b="16268"/>
          <a:stretch>
            <a:fillRect/>
          </a:stretch>
        </p:blipFill>
        <p:spPr>
          <a:xfrm>
            <a:off x="8616462" y="1396903"/>
            <a:ext cx="3039843" cy="2732669"/>
          </a:xfrm>
          <a:prstGeom prst="rect">
            <a:avLst/>
          </a:prstGeom>
        </p:spPr>
      </p:pic>
      <p:pic>
        <p:nvPicPr>
          <p:cNvPr id="4" name="Рисунок 3" descr="Домашние животные в ФРГ">
            <a:extLst>
              <a:ext uri="{FF2B5EF4-FFF2-40B4-BE49-F238E27FC236}">
                <a16:creationId xmlns:a16="http://schemas.microsoft.com/office/drawing/2014/main" id="{FC191D87-C01A-545E-F93E-B5DCBD5B4FFD}"/>
              </a:ext>
            </a:extLst>
          </p:cNvPr>
          <p:cNvPicPr>
            <a:picLocks noChangeAspect="1"/>
          </p:cNvPicPr>
          <p:nvPr/>
        </p:nvPicPr>
        <p:blipFill>
          <a:blip r:embed="rId3"/>
          <a:stretch>
            <a:fillRect/>
          </a:stretch>
        </p:blipFill>
        <p:spPr>
          <a:xfrm>
            <a:off x="6555530" y="4238246"/>
            <a:ext cx="1739900" cy="1155700"/>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TextBox 27"/>
          <p:cNvSpPr txBox="1">
            <a:spLocks noGrp="1"/>
          </p:cNvSpPr>
          <p:nvPr>
            <p:ph type="body" idx="21"/>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22" name="TextBox 30"/>
          <p:cNvSpPr txBox="1">
            <a:spLocks noGrp="1"/>
          </p:cNvSpPr>
          <p:nvPr>
            <p:ph type="body" idx="22"/>
          </p:nvPr>
        </p:nvSpPr>
        <p:spPr>
          <a:xfrm>
            <a:off x="3411347" y="497314"/>
            <a:ext cx="2575408" cy="507831"/>
          </a:xfrm>
          <a:prstGeom prst="rect">
            <a:avLst/>
          </a:prstGeom>
        </p:spPr>
        <p:txBody>
          <a:bodyPr/>
          <a:lstStyle>
            <a:lvl1pPr marL="0" indent="0">
              <a:spcBef>
                <a:spcPts val="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23" name="TextBox 31"/>
          <p:cNvSpPr txBox="1">
            <a:spLocks noGrp="1"/>
          </p:cNvSpPr>
          <p:nvPr>
            <p:ph type="body" idx="23"/>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Цель и задачи</a:t>
            </a:r>
          </a:p>
        </p:txBody>
      </p:sp>
      <p:sp>
        <p:nvSpPr>
          <p:cNvPr id="224"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rPr dirty="0" err="1"/>
              <a:t>Цель</a:t>
            </a:r>
            <a:r>
              <a:rPr dirty="0"/>
              <a:t> </a:t>
            </a:r>
            <a:r>
              <a:rPr dirty="0" err="1"/>
              <a:t>и</a:t>
            </a:r>
            <a:r>
              <a:rPr dirty="0"/>
              <a:t> </a:t>
            </a:r>
            <a:r>
              <a:rPr dirty="0" err="1"/>
              <a:t>задачи</a:t>
            </a:r>
            <a:endParaRPr dirty="0"/>
          </a:p>
        </p:txBody>
      </p:sp>
      <p:sp>
        <p:nvSpPr>
          <p:cNvPr id="225" name="TextBox 14"/>
          <p:cNvSpPr txBox="1">
            <a:spLocks noGrp="1"/>
          </p:cNvSpPr>
          <p:nvPr>
            <p:ph type="body" idx="25"/>
          </p:nvPr>
        </p:nvSpPr>
        <p:spPr>
          <a:xfrm>
            <a:off x="562919" y="2074230"/>
            <a:ext cx="11406343" cy="4489160"/>
          </a:xfrm>
          <a:prstGeom prst="rect">
            <a:avLst/>
          </a:prstGeom>
        </p:spPr>
        <p:txBody>
          <a:bodyPr numCol="1" spcCol="38100"/>
          <a:lstStyle/>
          <a:p>
            <a:pPr marL="0" indent="0">
              <a:lnSpc>
                <a:spcPct val="100000"/>
              </a:lnSpc>
              <a:spcBef>
                <a:spcPts val="1200"/>
              </a:spcBef>
              <a:buSzTx/>
              <a:buFontTx/>
              <a:buNone/>
              <a:defRPr sz="1600">
                <a:latin typeface="+mn-lt"/>
                <a:ea typeface="+mn-ea"/>
                <a:cs typeface="+mn-cs"/>
                <a:sym typeface="Helvetica"/>
              </a:defRPr>
            </a:pPr>
            <a:r>
              <a:rPr lang="ru-RU" sz="1400" dirty="0"/>
              <a:t>Цель: Разработать серверную часть платформы «</a:t>
            </a:r>
            <a:r>
              <a:rPr lang="ru-RU" sz="1400" dirty="0" err="1"/>
              <a:t>Питомец.ком</a:t>
            </a:r>
            <a:r>
              <a:rPr lang="ru-RU" sz="1400" dirty="0"/>
              <a:t>» для размещения, поиска и модерации объявлений о продаже животных.</a:t>
            </a:r>
          </a:p>
          <a:p>
            <a:pPr marL="0" indent="0">
              <a:lnSpc>
                <a:spcPct val="100000"/>
              </a:lnSpc>
              <a:spcBef>
                <a:spcPts val="1200"/>
              </a:spcBef>
              <a:buSzTx/>
              <a:buNone/>
              <a:defRPr sz="1600">
                <a:latin typeface="+mn-lt"/>
                <a:ea typeface="+mn-ea"/>
                <a:cs typeface="+mn-cs"/>
                <a:sym typeface="Helvetica"/>
              </a:defRPr>
            </a:pPr>
            <a:r>
              <a:rPr lang="ru-RU" sz="1200" dirty="0"/>
              <a:t>Задачи:</a:t>
            </a:r>
          </a:p>
          <a:p>
            <a:pPr>
              <a:lnSpc>
                <a:spcPct val="100000"/>
              </a:lnSpc>
              <a:spcBef>
                <a:spcPts val="1200"/>
              </a:spcBef>
              <a:buSzTx/>
              <a:defRPr sz="1600">
                <a:latin typeface="+mn-lt"/>
                <a:ea typeface="+mn-ea"/>
                <a:cs typeface="+mn-cs"/>
                <a:sym typeface="Helvetica"/>
              </a:defRPr>
            </a:pPr>
            <a:r>
              <a:rPr lang="ru-RU" sz="1200" dirty="0"/>
              <a:t>Провести анализ существующих сервисов объявлений;</a:t>
            </a:r>
          </a:p>
          <a:p>
            <a:pPr>
              <a:lnSpc>
                <a:spcPct val="100000"/>
              </a:lnSpc>
              <a:spcBef>
                <a:spcPts val="1200"/>
              </a:spcBef>
              <a:buSzTx/>
              <a:defRPr sz="1600">
                <a:latin typeface="+mn-lt"/>
                <a:ea typeface="+mn-ea"/>
                <a:cs typeface="+mn-cs"/>
                <a:sym typeface="Helvetica"/>
              </a:defRPr>
            </a:pPr>
            <a:r>
              <a:rPr lang="ru-RU" sz="1200" dirty="0"/>
              <a:t>Определить функциональные требования системы;</a:t>
            </a:r>
          </a:p>
          <a:p>
            <a:pPr>
              <a:lnSpc>
                <a:spcPct val="100000"/>
              </a:lnSpc>
              <a:spcBef>
                <a:spcPts val="1200"/>
              </a:spcBef>
              <a:buSzTx/>
              <a:defRPr sz="1600">
                <a:latin typeface="+mn-lt"/>
                <a:ea typeface="+mn-ea"/>
                <a:cs typeface="+mn-cs"/>
                <a:sym typeface="Helvetica"/>
              </a:defRPr>
            </a:pPr>
            <a:r>
              <a:rPr lang="ru-RU" sz="1200" dirty="0"/>
              <a:t>Разработать архитектуру серверной части и микросервисов;</a:t>
            </a:r>
          </a:p>
          <a:p>
            <a:pPr>
              <a:lnSpc>
                <a:spcPct val="100000"/>
              </a:lnSpc>
              <a:spcBef>
                <a:spcPts val="1200"/>
              </a:spcBef>
              <a:buSzTx/>
              <a:defRPr sz="1600">
                <a:latin typeface="+mn-lt"/>
                <a:ea typeface="+mn-ea"/>
                <a:cs typeface="+mn-cs"/>
                <a:sym typeface="Helvetica"/>
              </a:defRPr>
            </a:pPr>
            <a:r>
              <a:rPr lang="ru-RU" sz="1200" dirty="0"/>
              <a:t>Выбрать стек технологий и инфраструктурные решения;</a:t>
            </a:r>
          </a:p>
          <a:p>
            <a:pPr>
              <a:lnSpc>
                <a:spcPct val="100000"/>
              </a:lnSpc>
              <a:spcBef>
                <a:spcPts val="1200"/>
              </a:spcBef>
              <a:buSzTx/>
              <a:defRPr sz="1600">
                <a:latin typeface="+mn-lt"/>
                <a:ea typeface="+mn-ea"/>
                <a:cs typeface="+mn-cs"/>
                <a:sym typeface="Helvetica"/>
              </a:defRPr>
            </a:pPr>
            <a:r>
              <a:rPr lang="ru-RU" sz="1200" dirty="0"/>
              <a:t>Реализовать </a:t>
            </a:r>
            <a:r>
              <a:rPr lang="de-DE" sz="1200" dirty="0"/>
              <a:t>REST API </a:t>
            </a:r>
            <a:r>
              <a:rPr lang="ru-RU" sz="1200" dirty="0"/>
              <a:t>и бизнес-логику приложения;</a:t>
            </a:r>
          </a:p>
          <a:p>
            <a:pPr>
              <a:lnSpc>
                <a:spcPct val="100000"/>
              </a:lnSpc>
              <a:spcBef>
                <a:spcPts val="1200"/>
              </a:spcBef>
              <a:buSzTx/>
              <a:defRPr sz="1600">
                <a:latin typeface="+mn-lt"/>
                <a:ea typeface="+mn-ea"/>
                <a:cs typeface="+mn-cs"/>
                <a:sym typeface="Helvetica"/>
              </a:defRPr>
            </a:pPr>
            <a:r>
              <a:rPr lang="ru-RU" sz="1200" dirty="0"/>
              <a:t>Реализовать регистрацию, авторизацию и разграничение ролей пользователей;</a:t>
            </a:r>
          </a:p>
          <a:p>
            <a:pPr>
              <a:lnSpc>
                <a:spcPct val="100000"/>
              </a:lnSpc>
              <a:spcBef>
                <a:spcPts val="1200"/>
              </a:spcBef>
              <a:buSzTx/>
              <a:defRPr sz="1600">
                <a:latin typeface="+mn-lt"/>
                <a:ea typeface="+mn-ea"/>
                <a:cs typeface="+mn-cs"/>
                <a:sym typeface="Helvetica"/>
              </a:defRPr>
            </a:pPr>
            <a:r>
              <a:rPr lang="ru-RU" sz="1200" dirty="0"/>
              <a:t>Реализовать функционал объявлений, отзывов и избранного;</a:t>
            </a:r>
          </a:p>
          <a:p>
            <a:pPr>
              <a:lnSpc>
                <a:spcPct val="100000"/>
              </a:lnSpc>
              <a:spcBef>
                <a:spcPts val="1200"/>
              </a:spcBef>
              <a:buSzTx/>
              <a:defRPr sz="1600">
                <a:latin typeface="+mn-lt"/>
                <a:ea typeface="+mn-ea"/>
                <a:cs typeface="+mn-cs"/>
                <a:sym typeface="Helvetica"/>
              </a:defRPr>
            </a:pPr>
            <a:r>
              <a:rPr lang="ru-RU" sz="1200" dirty="0"/>
              <a:t>Реализовать загрузку и хранение изображений;</a:t>
            </a:r>
          </a:p>
          <a:p>
            <a:pPr>
              <a:lnSpc>
                <a:spcPct val="100000"/>
              </a:lnSpc>
              <a:spcBef>
                <a:spcPts val="1200"/>
              </a:spcBef>
              <a:buSzTx/>
              <a:defRPr sz="1600">
                <a:latin typeface="+mn-lt"/>
                <a:ea typeface="+mn-ea"/>
                <a:cs typeface="+mn-cs"/>
                <a:sym typeface="Helvetica"/>
              </a:defRPr>
            </a:pPr>
            <a:r>
              <a:rPr lang="ru-RU" sz="1200" dirty="0"/>
              <a:t>Настроить асинхронное взаимодействие сервисов через </a:t>
            </a:r>
            <a:r>
              <a:rPr lang="de-DE" sz="1200" dirty="0"/>
              <a:t>Kafka;</a:t>
            </a:r>
          </a:p>
          <a:p>
            <a:pPr>
              <a:lnSpc>
                <a:spcPct val="100000"/>
              </a:lnSpc>
              <a:spcBef>
                <a:spcPts val="1200"/>
              </a:spcBef>
              <a:buSzTx/>
              <a:defRPr sz="1600">
                <a:latin typeface="+mn-lt"/>
                <a:ea typeface="+mn-ea"/>
                <a:cs typeface="+mn-cs"/>
                <a:sym typeface="Helvetica"/>
              </a:defRPr>
            </a:pPr>
            <a:r>
              <a:rPr lang="ru-RU" sz="1200" dirty="0"/>
              <a:t>Реализовать систему </a:t>
            </a:r>
            <a:r>
              <a:rPr lang="de-DE" sz="1200" dirty="0"/>
              <a:t>email-</a:t>
            </a:r>
            <a:r>
              <a:rPr lang="ru-RU" sz="1200" dirty="0"/>
              <a:t>уведомлений;</a:t>
            </a:r>
          </a:p>
          <a:p>
            <a:pPr>
              <a:lnSpc>
                <a:spcPct val="100000"/>
              </a:lnSpc>
              <a:spcBef>
                <a:spcPts val="1200"/>
              </a:spcBef>
              <a:buSzTx/>
              <a:defRPr sz="1600">
                <a:latin typeface="+mn-lt"/>
                <a:ea typeface="+mn-ea"/>
                <a:cs typeface="+mn-cs"/>
                <a:sym typeface="Helvetica"/>
              </a:defRPr>
            </a:pPr>
            <a:r>
              <a:rPr lang="ru-RU" sz="1200" dirty="0"/>
              <a:t>Реализовать систему модерации пользовательского контента.</a:t>
            </a:r>
          </a:p>
        </p:txBody>
      </p:sp>
      <p:pic>
        <p:nvPicPr>
          <p:cNvPr id="5" name="Рисунок 4" descr="Цели по смарт примеры">
            <a:extLst>
              <a:ext uri="{FF2B5EF4-FFF2-40B4-BE49-F238E27FC236}">
                <a16:creationId xmlns:a16="http://schemas.microsoft.com/office/drawing/2014/main" id="{8E9CD6AE-9194-F328-F84C-80A94FA989A8}"/>
              </a:ext>
            </a:extLst>
          </p:cNvPr>
          <p:cNvPicPr>
            <a:picLocks noChangeAspect="1"/>
          </p:cNvPicPr>
          <p:nvPr/>
        </p:nvPicPr>
        <p:blipFill>
          <a:blip r:embed="rId2"/>
          <a:stretch>
            <a:fillRect/>
          </a:stretch>
        </p:blipFill>
        <p:spPr>
          <a:xfrm>
            <a:off x="9307335" y="2375232"/>
            <a:ext cx="2539822" cy="2319704"/>
          </a:xfrm>
          <a:prstGeom prst="rect">
            <a:avLst/>
          </a:prstGeom>
        </p:spPr>
      </p:pic>
      <p:pic>
        <p:nvPicPr>
          <p:cNvPr id="8" name="Рисунок 7" descr="The Typical Email Flow: How Emails Are Processed">
            <a:extLst>
              <a:ext uri="{FF2B5EF4-FFF2-40B4-BE49-F238E27FC236}">
                <a16:creationId xmlns:a16="http://schemas.microsoft.com/office/drawing/2014/main" id="{7B3A548C-8214-2D0D-A0FA-4B78CBAC8352}"/>
              </a:ext>
            </a:extLst>
          </p:cNvPr>
          <p:cNvPicPr>
            <a:picLocks noChangeAspect="1"/>
          </p:cNvPicPr>
          <p:nvPr/>
        </p:nvPicPr>
        <p:blipFill>
          <a:blip r:embed="rId3"/>
          <a:stretch>
            <a:fillRect/>
          </a:stretch>
        </p:blipFill>
        <p:spPr>
          <a:xfrm>
            <a:off x="6303773" y="2494817"/>
            <a:ext cx="1868365" cy="1868365"/>
          </a:xfrm>
          <a:prstGeom prst="rect">
            <a:avLst/>
          </a:prstGeom>
        </p:spPr>
      </p:pic>
      <p:pic>
        <p:nvPicPr>
          <p:cNvPr id="9" name="Рисунок 8" descr="Fujitsu PRIMEQUEST: технические характеристики, обзор оборудования">
            <a:extLst>
              <a:ext uri="{FF2B5EF4-FFF2-40B4-BE49-F238E27FC236}">
                <a16:creationId xmlns:a16="http://schemas.microsoft.com/office/drawing/2014/main" id="{F2F85BC2-9A55-B417-EEE4-40100E972C1B}"/>
              </a:ext>
            </a:extLst>
          </p:cNvPr>
          <p:cNvPicPr>
            <a:picLocks noChangeAspect="1"/>
          </p:cNvPicPr>
          <p:nvPr/>
        </p:nvPicPr>
        <p:blipFill>
          <a:blip r:embed="rId4"/>
          <a:stretch>
            <a:fillRect/>
          </a:stretch>
        </p:blipFill>
        <p:spPr>
          <a:xfrm>
            <a:off x="6998677" y="4472686"/>
            <a:ext cx="2641600" cy="1981200"/>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TextBox 28"/>
          <p:cNvSpPr txBox="1">
            <a:spLocks noGrp="1"/>
          </p:cNvSpPr>
          <p:nvPr>
            <p:ph type="body" idx="21"/>
          </p:nvPr>
        </p:nvSpPr>
        <p:spPr>
          <a:xfrm>
            <a:off x="535695" y="1396903"/>
            <a:ext cx="9534428" cy="830997"/>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rPr dirty="0"/>
              <a:t>Анализ </a:t>
            </a:r>
            <a:r>
              <a:rPr dirty="0" err="1"/>
              <a:t>аналогов</a:t>
            </a:r>
            <a:r>
              <a:rPr dirty="0"/>
              <a:t>. </a:t>
            </a:r>
            <a:r>
              <a:rPr lang="ru-RU" dirty="0"/>
              <a:t>Площадки для продаже домашних животных</a:t>
            </a:r>
            <a:endParaRPr dirty="0"/>
          </a:p>
        </p:txBody>
      </p:sp>
      <p:sp>
        <p:nvSpPr>
          <p:cNvPr id="231"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rPr/>
              <a:t>4</a:t>
            </a:fld>
            <a:endParaRPr/>
          </a:p>
        </p:txBody>
      </p:sp>
      <p:sp>
        <p:nvSpPr>
          <p:cNvPr id="232"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33" name="TextBox 30"/>
          <p:cNvSpPr txBox="1">
            <a:spLocks noGrp="1"/>
          </p:cNvSpPr>
          <p:nvPr>
            <p:ph type="body" idx="25"/>
          </p:nvPr>
        </p:nvSpPr>
        <p:spPr>
          <a:xfrm>
            <a:off x="3411347" y="497314"/>
            <a:ext cx="2481219"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34"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Анализ аналогов</a:t>
            </a:r>
          </a:p>
        </p:txBody>
      </p:sp>
      <p:graphicFrame>
        <p:nvGraphicFramePr>
          <p:cNvPr id="235" name="Table 2"/>
          <p:cNvGraphicFramePr/>
          <p:nvPr/>
        </p:nvGraphicFramePr>
        <p:xfrm>
          <a:off x="842877" y="2266423"/>
          <a:ext cx="10506242" cy="3592020"/>
        </p:xfrm>
        <a:graphic>
          <a:graphicData uri="http://schemas.openxmlformats.org/drawingml/2006/table">
            <a:tbl>
              <a:tblPr firstRow="1">
                <a:tableStyleId>{8F44A2F1-9E1F-4B54-A3A2-5F16C0AD49E2}</a:tableStyleId>
              </a:tblPr>
              <a:tblGrid>
                <a:gridCol w="2453542">
                  <a:extLst>
                    <a:ext uri="{9D8B030D-6E8A-4147-A177-3AD203B41FA5}">
                      <a16:colId xmlns:a16="http://schemas.microsoft.com/office/drawing/2014/main" val="20000"/>
                    </a:ext>
                  </a:extLst>
                </a:gridCol>
                <a:gridCol w="1341803">
                  <a:extLst>
                    <a:ext uri="{9D8B030D-6E8A-4147-A177-3AD203B41FA5}">
                      <a16:colId xmlns:a16="http://schemas.microsoft.com/office/drawing/2014/main" val="20001"/>
                    </a:ext>
                  </a:extLst>
                </a:gridCol>
                <a:gridCol w="1346087">
                  <a:extLst>
                    <a:ext uri="{9D8B030D-6E8A-4147-A177-3AD203B41FA5}">
                      <a16:colId xmlns:a16="http://schemas.microsoft.com/office/drawing/2014/main" val="20002"/>
                    </a:ext>
                  </a:extLst>
                </a:gridCol>
                <a:gridCol w="1335801">
                  <a:extLst>
                    <a:ext uri="{9D8B030D-6E8A-4147-A177-3AD203B41FA5}">
                      <a16:colId xmlns:a16="http://schemas.microsoft.com/office/drawing/2014/main" val="20003"/>
                    </a:ext>
                  </a:extLst>
                </a:gridCol>
                <a:gridCol w="1345101">
                  <a:extLst>
                    <a:ext uri="{9D8B030D-6E8A-4147-A177-3AD203B41FA5}">
                      <a16:colId xmlns:a16="http://schemas.microsoft.com/office/drawing/2014/main" val="20004"/>
                    </a:ext>
                  </a:extLst>
                </a:gridCol>
                <a:gridCol w="1339089">
                  <a:extLst>
                    <a:ext uri="{9D8B030D-6E8A-4147-A177-3AD203B41FA5}">
                      <a16:colId xmlns:a16="http://schemas.microsoft.com/office/drawing/2014/main" val="20005"/>
                    </a:ext>
                  </a:extLst>
                </a:gridCol>
                <a:gridCol w="1344819">
                  <a:extLst>
                    <a:ext uri="{9D8B030D-6E8A-4147-A177-3AD203B41FA5}">
                      <a16:colId xmlns:a16="http://schemas.microsoft.com/office/drawing/2014/main" val="20006"/>
                    </a:ext>
                  </a:extLst>
                </a:gridCol>
              </a:tblGrid>
              <a:tr h="598670">
                <a:tc>
                  <a:txBody>
                    <a:bodyPr/>
                    <a:lstStyle/>
                    <a:p>
                      <a:pPr algn="ctr">
                        <a:defRPr sz="1800">
                          <a:solidFill>
                            <a:srgbClr val="000000"/>
                          </a:solidFill>
                        </a:defRPr>
                      </a:pPr>
                      <a:r>
                        <a:rPr sz="1300" b="1">
                          <a:solidFill>
                            <a:srgbClr val="102D69"/>
                          </a:solidFill>
                          <a:sym typeface="Helvetica"/>
                        </a:rPr>
                        <a:t>Функция</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Яндекс Музыка</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Spotify</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VK Музыка</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YouTube Music</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Apple Music</a:t>
                      </a:r>
                    </a:p>
                  </a:txBody>
                  <a:tcPr marL="45720" marR="45720" anchor="ctr" horzOverflow="overflow">
                    <a:lnR w="3175">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Our Project</a:t>
                      </a:r>
                    </a:p>
                  </a:txBody>
                  <a:tcPr marL="45720" marR="45720" anchor="ctr" horzOverflow="overflow">
                    <a:lnL w="3175">
                      <a:solidFill>
                        <a:schemeClr val="accent4">
                          <a:lumOff val="12500"/>
                        </a:schemeClr>
                      </a:solidFill>
                    </a:lnL>
                    <a:lnR>
                      <a:solidFill>
                        <a:schemeClr val="accent4">
                          <a:lumOff val="12500"/>
                        </a:schemeClr>
                      </a:solidFill>
                    </a:lnR>
                    <a:lnT>
                      <a:solidFill>
                        <a:schemeClr val="accent4">
                          <a:lumOff val="12500"/>
                        </a:schemeClr>
                      </a:solidFill>
                    </a:lnT>
                    <a:solidFill>
                      <a:schemeClr val="accent4">
                        <a:lumOff val="25000"/>
                      </a:schemeClr>
                    </a:solidFill>
                  </a:tcPr>
                </a:tc>
                <a:extLst>
                  <a:ext uri="{0D108BD9-81ED-4DB2-BD59-A6C34878D82A}">
                    <a16:rowId xmlns:a16="http://schemas.microsoft.com/office/drawing/2014/main" val="10000"/>
                  </a:ext>
                </a:extLst>
              </a:tr>
              <a:tr h="598670">
                <a:tc>
                  <a:txBody>
                    <a:bodyPr/>
                    <a:lstStyle/>
                    <a:p>
                      <a:pPr algn="l">
                        <a:defRPr sz="1800">
                          <a:solidFill>
                            <a:srgbClr val="000000"/>
                          </a:solidFill>
                        </a:defRPr>
                      </a:pPr>
                      <a:r>
                        <a:rPr sz="1300">
                          <a:solidFill>
                            <a:srgbClr val="102D69"/>
                          </a:solidFill>
                          <a:sym typeface="Helvetica"/>
                        </a:rPr>
                        <a:t>Сохранение треков
на устройство</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1"/>
                  </a:ext>
                </a:extLst>
              </a:tr>
              <a:tr h="598670">
                <a:tc>
                  <a:txBody>
                    <a:bodyPr/>
                    <a:lstStyle/>
                    <a:p>
                      <a:pPr algn="l">
                        <a:defRPr sz="1800">
                          <a:solidFill>
                            <a:srgbClr val="000000"/>
                          </a:solidFill>
                        </a:defRPr>
                      </a:pPr>
                      <a:r>
                        <a:rPr sz="1300">
                          <a:solidFill>
                            <a:srgbClr val="102D69"/>
                          </a:solidFill>
                          <a:sym typeface="Helvetica"/>
                        </a:rPr>
                        <a:t>Отсутствие рекламы</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2"/>
                  </a:ext>
                </a:extLst>
              </a:tr>
              <a:tr h="598670">
                <a:tc>
                  <a:txBody>
                    <a:bodyPr/>
                    <a:lstStyle/>
                    <a:p>
                      <a:pPr algn="l">
                        <a:defRPr sz="1800">
                          <a:solidFill>
                            <a:srgbClr val="000000"/>
                          </a:solidFill>
                        </a:defRPr>
                      </a:pPr>
                      <a:r>
                        <a:rPr sz="1300">
                          <a:solidFill>
                            <a:srgbClr val="102D69"/>
                          </a:solidFill>
                          <a:sym typeface="Helvetica"/>
                        </a:rPr>
                        <a:t>Бесплатное прослушивание
без ограничений</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3"/>
                  </a:ext>
                </a:extLst>
              </a:tr>
              <a:tr h="598670">
                <a:tc>
                  <a:txBody>
                    <a:bodyPr/>
                    <a:lstStyle/>
                    <a:p>
                      <a:pPr algn="l">
                        <a:defRPr sz="1800">
                          <a:solidFill>
                            <a:srgbClr val="000000"/>
                          </a:solidFill>
                        </a:defRPr>
                      </a:pPr>
                      <a:r>
                        <a:rPr sz="1300">
                          <a:solidFill>
                            <a:srgbClr val="102D69"/>
                          </a:solidFill>
                          <a:sym typeface="Helvetica"/>
                        </a:rPr>
                        <a:t>Возможность использования в России</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3175">
                      <a:solidFill>
                        <a:srgbClr val="A7A7A7"/>
                      </a:solidFill>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4"/>
                  </a:ext>
                </a:extLst>
              </a:tr>
              <a:tr h="598670">
                <a:tc>
                  <a:txBody>
                    <a:bodyPr/>
                    <a:lstStyle/>
                    <a:p>
                      <a:pPr algn="l">
                        <a:defRPr sz="1800">
                          <a:solidFill>
                            <a:srgbClr val="000000"/>
                          </a:solidFill>
                        </a:defRPr>
                      </a:pPr>
                      <a:r>
                        <a:rPr sz="1300">
                          <a:solidFill>
                            <a:srgbClr val="102D69"/>
                          </a:solidFill>
                          <a:sym typeface="Helvetica"/>
                        </a:rPr>
                        <a:t>Добавление своих треков</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3175">
                      <a:solidFill>
                        <a:srgbClr val="A7A7A7"/>
                      </a:solidFill>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lnB>
                      <a:solidFill>
                        <a:schemeClr val="accent4">
                          <a:lumOff val="12500"/>
                        </a:schemeClr>
                      </a:solidFill>
                    </a:lnB>
                    <a:solidFill>
                      <a:schemeClr val="accent4">
                        <a:lumOff val="25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TextBox 28"/>
          <p:cNvSpPr txBox="1">
            <a:spLocks noGrp="1"/>
          </p:cNvSpPr>
          <p:nvPr>
            <p:ph type="body" idx="21"/>
          </p:nvPr>
        </p:nvSpPr>
        <p:spPr>
          <a:xfrm>
            <a:off x="535695" y="1396903"/>
            <a:ext cx="7763686" cy="459741"/>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t>Анализ аналогов. Сервисы для селфхостинга</a:t>
            </a:r>
          </a:p>
        </p:txBody>
      </p:sp>
      <p:sp>
        <p:nvSpPr>
          <p:cNvPr id="238"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rPr/>
              <a:t>5</a:t>
            </a:fld>
            <a:endParaRPr/>
          </a:p>
        </p:txBody>
      </p:sp>
      <p:sp>
        <p:nvSpPr>
          <p:cNvPr id="239"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40" name="TextBox 30"/>
          <p:cNvSpPr txBox="1">
            <a:spLocks noGrp="1"/>
          </p:cNvSpPr>
          <p:nvPr>
            <p:ph type="body" idx="25"/>
          </p:nvPr>
        </p:nvSpPr>
        <p:spPr>
          <a:xfrm>
            <a:off x="3411347" y="497314"/>
            <a:ext cx="2481219"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41"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Анализ аналогов</a:t>
            </a:r>
          </a:p>
        </p:txBody>
      </p:sp>
      <p:graphicFrame>
        <p:nvGraphicFramePr>
          <p:cNvPr id="242" name="Table 2"/>
          <p:cNvGraphicFramePr/>
          <p:nvPr/>
        </p:nvGraphicFramePr>
        <p:xfrm>
          <a:off x="1512422" y="2266423"/>
          <a:ext cx="9167153" cy="3592020"/>
        </p:xfrm>
        <a:graphic>
          <a:graphicData uri="http://schemas.openxmlformats.org/drawingml/2006/table">
            <a:tbl>
              <a:tblPr firstRow="1">
                <a:tableStyleId>{8F44A2F1-9E1F-4B54-A3A2-5F16C0AD49E2}</a:tableStyleId>
              </a:tblPr>
              <a:tblGrid>
                <a:gridCol w="2453542">
                  <a:extLst>
                    <a:ext uri="{9D8B030D-6E8A-4147-A177-3AD203B41FA5}">
                      <a16:colId xmlns:a16="http://schemas.microsoft.com/office/drawing/2014/main" val="20000"/>
                    </a:ext>
                  </a:extLst>
                </a:gridCol>
                <a:gridCol w="1341803">
                  <a:extLst>
                    <a:ext uri="{9D8B030D-6E8A-4147-A177-3AD203B41FA5}">
                      <a16:colId xmlns:a16="http://schemas.microsoft.com/office/drawing/2014/main" val="20001"/>
                    </a:ext>
                  </a:extLst>
                </a:gridCol>
                <a:gridCol w="1346087">
                  <a:extLst>
                    <a:ext uri="{9D8B030D-6E8A-4147-A177-3AD203B41FA5}">
                      <a16:colId xmlns:a16="http://schemas.microsoft.com/office/drawing/2014/main" val="20002"/>
                    </a:ext>
                  </a:extLst>
                </a:gridCol>
                <a:gridCol w="1335801">
                  <a:extLst>
                    <a:ext uri="{9D8B030D-6E8A-4147-A177-3AD203B41FA5}">
                      <a16:colId xmlns:a16="http://schemas.microsoft.com/office/drawing/2014/main" val="20003"/>
                    </a:ext>
                  </a:extLst>
                </a:gridCol>
                <a:gridCol w="1345101">
                  <a:extLst>
                    <a:ext uri="{9D8B030D-6E8A-4147-A177-3AD203B41FA5}">
                      <a16:colId xmlns:a16="http://schemas.microsoft.com/office/drawing/2014/main" val="20004"/>
                    </a:ext>
                  </a:extLst>
                </a:gridCol>
                <a:gridCol w="1344819">
                  <a:extLst>
                    <a:ext uri="{9D8B030D-6E8A-4147-A177-3AD203B41FA5}">
                      <a16:colId xmlns:a16="http://schemas.microsoft.com/office/drawing/2014/main" val="20005"/>
                    </a:ext>
                  </a:extLst>
                </a:gridCol>
              </a:tblGrid>
              <a:tr h="598670">
                <a:tc>
                  <a:txBody>
                    <a:bodyPr/>
                    <a:lstStyle/>
                    <a:p>
                      <a:pPr algn="ctr">
                        <a:defRPr sz="1800">
                          <a:solidFill>
                            <a:srgbClr val="000000"/>
                          </a:solidFill>
                        </a:defRPr>
                      </a:pPr>
                      <a:r>
                        <a:rPr sz="1300" b="1">
                          <a:solidFill>
                            <a:srgbClr val="102D69"/>
                          </a:solidFill>
                          <a:sym typeface="Helvetica"/>
                        </a:rPr>
                        <a:t>Функция</a:t>
                      </a:r>
                    </a:p>
                  </a:txBody>
                  <a:tcPr marL="45720" marR="45720" anchor="ctr" horzOverflow="overflow">
                    <a:lnL w="12700">
                      <a:miter lim="400000"/>
                    </a:lnL>
                    <a:lnB>
                      <a:solidFill>
                        <a:srgbClr val="BFBFBF"/>
                      </a:solidFill>
                      <a:miter lim="400000"/>
                    </a:lnB>
                  </a:tcPr>
                </a:tc>
                <a:tc>
                  <a:txBody>
                    <a:bodyPr/>
                    <a:lstStyle/>
                    <a:p>
                      <a:pPr algn="ctr">
                        <a:defRPr sz="1800">
                          <a:solidFill>
                            <a:srgbClr val="000000"/>
                          </a:solidFill>
                        </a:defRPr>
                      </a:pPr>
                      <a:r>
                        <a:rPr sz="1300" b="1">
                          <a:solidFill>
                            <a:srgbClr val="102D69"/>
                          </a:solidFill>
                          <a:sym typeface="Helvetica"/>
                        </a:rPr>
                        <a:t>Black
Candy</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Navidrome</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Ampache</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mStream</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Our Project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0"/>
                  </a:ext>
                </a:extLst>
              </a:tr>
              <a:tr h="598670">
                <a:tc>
                  <a:txBody>
                    <a:bodyPr/>
                    <a:lstStyle/>
                    <a:p>
                      <a:pPr algn="l">
                        <a:defRPr sz="1800">
                          <a:solidFill>
                            <a:srgbClr val="000000"/>
                          </a:solidFill>
                        </a:defRPr>
                      </a:pPr>
                      <a:r>
                        <a:rPr sz="1300">
                          <a:solidFill>
                            <a:srgbClr val="102D69"/>
                          </a:solidFill>
                          <a:sym typeface="Helvetica"/>
                        </a:rPr>
                        <a:t>Эргономичность интерфейса</a:t>
                      </a:r>
                    </a:p>
                  </a:txBody>
                  <a:tcPr marL="45720" marR="45720" anchor="ctr" horzOverflow="overflow">
                    <a:lnL w="0">
                      <a:miter lim="400000"/>
                    </a:lnL>
                    <a:lnR>
                      <a:solidFill>
                        <a:srgbClr val="BFBFBF"/>
                      </a:solidFill>
                      <a:miter lim="400000"/>
                    </a:lnR>
                    <a:lnT>
                      <a:solidFill>
                        <a:srgbClr val="BFBFBF"/>
                      </a:solidFill>
                      <a:miter lim="400000"/>
                    </a:lnT>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1"/>
                  </a:ext>
                </a:extLst>
              </a:tr>
              <a:tr h="598670">
                <a:tc>
                  <a:txBody>
                    <a:bodyPr/>
                    <a:lstStyle/>
                    <a:p>
                      <a:pPr algn="l">
                        <a:defRPr sz="1800">
                          <a:solidFill>
                            <a:srgbClr val="000000"/>
                          </a:solidFill>
                        </a:defRPr>
                      </a:pPr>
                      <a:r>
                        <a:rPr sz="1300">
                          <a:solidFill>
                            <a:srgbClr val="102D69"/>
                          </a:solidFill>
                          <a:sym typeface="Helvetica"/>
                        </a:rPr>
                        <a:t>Кеширование</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2"/>
                  </a:ext>
                </a:extLst>
              </a:tr>
              <a:tr h="598670">
                <a:tc>
                  <a:txBody>
                    <a:bodyPr/>
                    <a:lstStyle/>
                    <a:p>
                      <a:pPr algn="l">
                        <a:defRPr sz="1800">
                          <a:solidFill>
                            <a:srgbClr val="000000"/>
                          </a:solidFill>
                        </a:defRPr>
                      </a:pPr>
                      <a:r>
                        <a:rPr sz="1300">
                          <a:solidFill>
                            <a:srgbClr val="102D69"/>
                          </a:solidFill>
                          <a:sym typeface="Helvetica"/>
                        </a:rPr>
                        <a:t>Поиск треков</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3"/>
                  </a:ext>
                </a:extLst>
              </a:tr>
              <a:tr h="598670">
                <a:tc>
                  <a:txBody>
                    <a:bodyPr/>
                    <a:lstStyle/>
                    <a:p>
                      <a:pPr algn="l">
                        <a:defRPr sz="1800">
                          <a:solidFill>
                            <a:srgbClr val="000000"/>
                          </a:solidFill>
                        </a:defRPr>
                      </a:pPr>
                      <a:r>
                        <a:rPr sz="1300">
                          <a:solidFill>
                            <a:srgbClr val="102D69"/>
                          </a:solidFill>
                          <a:sym typeface="Helvetica"/>
                        </a:rPr>
                        <a:t>Страницы артистов</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4"/>
                  </a:ext>
                </a:extLst>
              </a:tr>
              <a:tr h="598670">
                <a:tc>
                  <a:txBody>
                    <a:bodyPr/>
                    <a:lstStyle/>
                    <a:p>
                      <a:pPr algn="l">
                        <a:defRPr sz="1800">
                          <a:solidFill>
                            <a:srgbClr val="000000"/>
                          </a:solidFill>
                        </a:defRPr>
                      </a:pPr>
                      <a:r>
                        <a:rPr sz="1300">
                          <a:solidFill>
                            <a:srgbClr val="102D69"/>
                          </a:solidFill>
                          <a:sym typeface="Helvetica"/>
                        </a:rPr>
                        <a:t>Наличие приложения под iOS</a:t>
                      </a:r>
                    </a:p>
                  </a:txBody>
                  <a:tcPr marL="45720" marR="45720" anchor="ctr" horzOverflow="overflow">
                    <a:lnL w="0">
                      <a:miter lim="400000"/>
                    </a:lnL>
                    <a:lnR>
                      <a:solidFill>
                        <a:srgbClr val="BFBFBF"/>
                      </a:solidFill>
                      <a:miter lim="400000"/>
                    </a:lnR>
                    <a:lnB>
                      <a:solidFill>
                        <a:srgbClr val="BFBFBF"/>
                      </a:solidFill>
                      <a:miter lim="400000"/>
                    </a:lnB>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15"/>
          <p:cNvSpPr txBox="1">
            <a:spLocks noGrp="1"/>
          </p:cNvSpPr>
          <p:nvPr>
            <p:ph type="body" idx="21"/>
          </p:nvPr>
        </p:nvSpPr>
        <p:spPr>
          <a:xfrm>
            <a:off x="535694" y="2469009"/>
            <a:ext cx="4780382" cy="3177541"/>
          </a:xfrm>
          <a:prstGeom prst="rect">
            <a:avLst/>
          </a:prstGeom>
        </p:spPr>
        <p:txBody>
          <a:bodyPr/>
          <a:lstStyle/>
          <a:p>
            <a:pPr marL="173789" indent="-173789" defTabSz="12700">
              <a:lnSpc>
                <a:spcPct val="100000"/>
              </a:lnSpc>
              <a:spcBef>
                <a:spcPts val="1300"/>
              </a:spcBef>
              <a:buFontTx/>
              <a:buAutoNum type="arabicPeriod"/>
              <a:defRPr sz="1600">
                <a:latin typeface="+mn-lt"/>
                <a:ea typeface="+mn-ea"/>
                <a:cs typeface="+mn-cs"/>
                <a:sym typeface="Helvetica"/>
              </a:defRPr>
            </a:pPr>
            <a:r>
              <a:rPr dirty="0" err="1"/>
              <a:t>Управление</a:t>
            </a:r>
            <a:r>
              <a:rPr dirty="0"/>
              <a:t> </a:t>
            </a:r>
            <a:r>
              <a:rPr dirty="0" err="1"/>
              <a:t>музыкальными</a:t>
            </a:r>
            <a:r>
              <a:rPr dirty="0"/>
              <a:t> </a:t>
            </a:r>
            <a:r>
              <a:rPr dirty="0" err="1"/>
              <a:t>композициями</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Прослушивание</a:t>
            </a:r>
            <a:r>
              <a:rPr dirty="0"/>
              <a:t> </a:t>
            </a:r>
            <a:r>
              <a:rPr dirty="0" err="1"/>
              <a:t>музыки</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Управление</a:t>
            </a:r>
            <a:r>
              <a:rPr dirty="0"/>
              <a:t> </a:t>
            </a:r>
            <a:r>
              <a:rPr dirty="0" err="1"/>
              <a:t>воспроизведением</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Поиск</a:t>
            </a:r>
            <a:r>
              <a:rPr dirty="0"/>
              <a:t> </a:t>
            </a:r>
            <a:r>
              <a:rPr dirty="0" err="1"/>
              <a:t>музыки</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Удобная</a:t>
            </a:r>
            <a:r>
              <a:rPr dirty="0"/>
              <a:t> </a:t>
            </a:r>
            <a:r>
              <a:rPr dirty="0" err="1"/>
              <a:t>навигация</a:t>
            </a:r>
            <a:r>
              <a:rPr dirty="0"/>
              <a:t> </a:t>
            </a:r>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Управление</a:t>
            </a:r>
            <a:r>
              <a:rPr dirty="0"/>
              <a:t> </a:t>
            </a:r>
            <a:r>
              <a:rPr dirty="0" err="1"/>
              <a:t>плейлистами</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a:t>
            </a:r>
            <a:r>
              <a:rPr dirty="0" err="1"/>
              <a:t>Страницы</a:t>
            </a:r>
            <a:r>
              <a:rPr dirty="0"/>
              <a:t> </a:t>
            </a:r>
            <a:r>
              <a:rPr dirty="0" err="1"/>
              <a:t>артистов</a:t>
            </a:r>
            <a:endParaRPr dirty="0"/>
          </a:p>
          <a:p>
            <a:pPr marL="173789" indent="-173789" defTabSz="12700">
              <a:lnSpc>
                <a:spcPct val="100000"/>
              </a:lnSpc>
              <a:spcBef>
                <a:spcPts val="1300"/>
              </a:spcBef>
              <a:buFontTx/>
              <a:buAutoNum type="arabicPeriod"/>
              <a:defRPr sz="1600">
                <a:latin typeface="+mn-lt"/>
                <a:ea typeface="+mn-ea"/>
                <a:cs typeface="+mn-cs"/>
                <a:sym typeface="Helvetica"/>
              </a:defRPr>
            </a:pPr>
            <a:r>
              <a:rPr dirty="0"/>
              <a:t> Online/offline </a:t>
            </a:r>
            <a:r>
              <a:rPr dirty="0" err="1"/>
              <a:t>режим</a:t>
            </a:r>
            <a:endParaRPr dirty="0"/>
          </a:p>
        </p:txBody>
      </p:sp>
      <p:sp>
        <p:nvSpPr>
          <p:cNvPr id="245" name="TextBox 63"/>
          <p:cNvSpPr txBox="1">
            <a:spLocks noGrp="1"/>
          </p:cNvSpPr>
          <p:nvPr>
            <p:ph type="body" idx="23"/>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Функциональные требования</a:t>
            </a:r>
          </a:p>
        </p:txBody>
      </p:sp>
      <p:sp>
        <p:nvSpPr>
          <p:cNvPr id="246"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rPr/>
              <a:t>6</a:t>
            </a:fld>
            <a:endParaRPr/>
          </a:p>
        </p:txBody>
      </p:sp>
      <p:sp>
        <p:nvSpPr>
          <p:cNvPr id="247" name="TextBox 27"/>
          <p:cNvSpPr txBox="1">
            <a:spLocks noGrp="1"/>
          </p:cNvSpPr>
          <p:nvPr>
            <p:ph type="body" idx="26"/>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48" name="TextBox 30"/>
          <p:cNvSpPr txBox="1">
            <a:spLocks noGrp="1"/>
          </p:cNvSpPr>
          <p:nvPr>
            <p:ph type="body" idx="27"/>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49" name="TextBox 31"/>
          <p:cNvSpPr txBox="1">
            <a:spLocks noGrp="1"/>
          </p:cNvSpPr>
          <p:nvPr>
            <p:ph type="body" idx="28"/>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Функциональные требования</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TextBox 63"/>
          <p:cNvSpPr txBox="1">
            <a:spLocks noGrp="1"/>
          </p:cNvSpPr>
          <p:nvPr>
            <p:ph type="body" idx="21"/>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Архитектура приложения</a:t>
            </a:r>
          </a:p>
        </p:txBody>
      </p:sp>
      <p:sp>
        <p:nvSpPr>
          <p:cNvPr id="254" name="TextBox 32"/>
          <p:cNvSpPr txBox="1">
            <a:spLocks noGrp="1"/>
          </p:cNvSpPr>
          <p:nvPr>
            <p:ph type="body" idx="22"/>
          </p:nvPr>
        </p:nvSpPr>
        <p:spPr>
          <a:xfrm>
            <a:off x="10337842" y="497314"/>
            <a:ext cx="245404" cy="396241"/>
          </a:xfrm>
          <a:prstGeom prst="rect">
            <a:avLst/>
          </a:prstGeom>
        </p:spPr>
        <p:txBody>
          <a:bodyPr/>
          <a:lstStyle/>
          <a:p>
            <a:fld id="{86CB4B4D-7CA3-9044-876B-883B54F8677D}" type="slidenum">
              <a:rPr/>
              <a:t>7</a:t>
            </a:fld>
            <a:endParaRPr/>
          </a:p>
        </p:txBody>
      </p:sp>
      <p:sp>
        <p:nvSpPr>
          <p:cNvPr id="255" name="TextBox 27"/>
          <p:cNvSpPr txBox="1">
            <a:spLocks noGrp="1"/>
          </p:cNvSpPr>
          <p:nvPr>
            <p:ph type="body" idx="23"/>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56" name="TextBox 30"/>
          <p:cNvSpPr txBox="1">
            <a:spLocks noGrp="1"/>
          </p:cNvSpPr>
          <p:nvPr>
            <p:ph type="body" idx="24"/>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57" name="TextBox 31"/>
          <p:cNvSpPr txBox="1">
            <a:spLocks noGrp="1"/>
          </p:cNvSpPr>
          <p:nvPr>
            <p:ph type="body" idx="25"/>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Архитектура приложения</a:t>
            </a:r>
          </a:p>
        </p:txBody>
      </p:sp>
      <p:grpSp>
        <p:nvGrpSpPr>
          <p:cNvPr id="260" name="Group"/>
          <p:cNvGrpSpPr/>
          <p:nvPr/>
        </p:nvGrpSpPr>
        <p:grpSpPr>
          <a:xfrm>
            <a:off x="3045890" y="2050217"/>
            <a:ext cx="6100220" cy="4501405"/>
            <a:chOff x="0" y="0"/>
            <a:chExt cx="6100219" cy="4501404"/>
          </a:xfrm>
        </p:grpSpPr>
        <p:pic>
          <p:nvPicPr>
            <p:cNvPr id="258" name="architecture.png" descr="architecture.png"/>
            <p:cNvPicPr>
              <a:picLocks noChangeAspect="1"/>
            </p:cNvPicPr>
            <p:nvPr/>
          </p:nvPicPr>
          <p:blipFill>
            <a:blip r:embed="rId2"/>
            <a:stretch>
              <a:fillRect/>
            </a:stretch>
          </p:blipFill>
          <p:spPr>
            <a:xfrm>
              <a:off x="0" y="0"/>
              <a:ext cx="6100220" cy="4158505"/>
            </a:xfrm>
            <a:prstGeom prst="rect">
              <a:avLst/>
            </a:prstGeom>
            <a:ln w="12700" cap="flat">
              <a:noFill/>
              <a:miter lim="400000"/>
            </a:ln>
            <a:effectLst/>
          </p:spPr>
        </p:pic>
        <p:sp>
          <p:nvSpPr>
            <p:cNvPr id="259" name="Caption"/>
            <p:cNvSpPr/>
            <p:nvPr/>
          </p:nvSpPr>
          <p:spPr>
            <a:xfrm>
              <a:off x="0" y="4260104"/>
              <a:ext cx="6100220" cy="241301"/>
            </a:xfrm>
            <a:prstGeom prst="roundRect">
              <a:avLst>
                <a:gd name="adj" fmla="val 0"/>
              </a:avLst>
            </a:prstGeom>
            <a:solidFill>
              <a:srgbClr val="000000">
                <a:alpha val="0"/>
              </a:srgb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lvl1pPr algn="ctr" defTabSz="914400">
                <a:spcBef>
                  <a:spcPts val="0"/>
                </a:spcBef>
                <a:defRPr sz="1600">
                  <a:solidFill>
                    <a:srgbClr val="000000"/>
                  </a:solidFill>
                </a:defRPr>
              </a:lvl1pPr>
            </a:lstStyle>
            <a:p>
              <a:r>
                <a:t>Схематичное представление архитектуры проекта</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Особенности реализации</a:t>
            </a:r>
          </a:p>
        </p:txBody>
      </p:sp>
      <p:sp>
        <p:nvSpPr>
          <p:cNvPr id="263"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rPr/>
              <a:t>8</a:t>
            </a:fld>
            <a:endParaRPr/>
          </a:p>
        </p:txBody>
      </p:sp>
      <p:sp>
        <p:nvSpPr>
          <p:cNvPr id="264" name="TextBox 27"/>
          <p:cNvSpPr txBox="1">
            <a:spLocks noGrp="1"/>
          </p:cNvSpPr>
          <p:nvPr>
            <p:ph type="body" idx="26"/>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65" name="TextBox 30"/>
          <p:cNvSpPr txBox="1">
            <a:spLocks noGrp="1"/>
          </p:cNvSpPr>
          <p:nvPr>
            <p:ph type="body" idx="27"/>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66" name="TextBox 31"/>
          <p:cNvSpPr txBox="1">
            <a:spLocks noGrp="1"/>
          </p:cNvSpPr>
          <p:nvPr>
            <p:ph type="body" idx="28"/>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Особенности реализации</a:t>
            </a:r>
          </a:p>
        </p:txBody>
      </p:sp>
      <p:grpSp>
        <p:nvGrpSpPr>
          <p:cNvPr id="269" name="Group"/>
          <p:cNvGrpSpPr/>
          <p:nvPr/>
        </p:nvGrpSpPr>
        <p:grpSpPr>
          <a:xfrm>
            <a:off x="2279649" y="2081033"/>
            <a:ext cx="7632870" cy="4447806"/>
            <a:chOff x="0" y="0"/>
            <a:chExt cx="7632869" cy="4447805"/>
          </a:xfrm>
        </p:grpSpPr>
        <p:pic>
          <p:nvPicPr>
            <p:cNvPr id="267" name="telegram-cloud-document-2-5204445780777134844.jpg" descr="telegram-cloud-document-2-5204445780777134844.jpg"/>
            <p:cNvPicPr>
              <a:picLocks noChangeAspect="1"/>
            </p:cNvPicPr>
            <p:nvPr/>
          </p:nvPicPr>
          <p:blipFill>
            <a:blip r:embed="rId2"/>
            <a:srcRect/>
            <a:stretch>
              <a:fillRect/>
            </a:stretch>
          </p:blipFill>
          <p:spPr>
            <a:xfrm>
              <a:off x="0" y="0"/>
              <a:ext cx="7632869" cy="4104906"/>
            </a:xfrm>
            <a:prstGeom prst="rect">
              <a:avLst/>
            </a:prstGeom>
            <a:ln w="12700" cap="flat">
              <a:noFill/>
              <a:miter lim="400000"/>
            </a:ln>
            <a:effectLst/>
          </p:spPr>
        </p:pic>
        <p:sp>
          <p:nvSpPr>
            <p:cNvPr id="268" name="Caption"/>
            <p:cNvSpPr/>
            <p:nvPr/>
          </p:nvSpPr>
          <p:spPr>
            <a:xfrm>
              <a:off x="0" y="4206505"/>
              <a:ext cx="7632869" cy="241301"/>
            </a:xfrm>
            <a:prstGeom prst="roundRect">
              <a:avLst>
                <a:gd name="adj" fmla="val 0"/>
              </a:avLst>
            </a:prstGeom>
            <a:solidFill>
              <a:srgbClr val="000000">
                <a:alpha val="0"/>
              </a:srgbClr>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lvl1pPr algn="ctr" defTabSz="914400">
                <a:spcBef>
                  <a:spcPts val="0"/>
                </a:spcBef>
                <a:defRPr sz="1600">
                  <a:solidFill>
                    <a:srgbClr val="000000"/>
                  </a:solidFill>
                </a:defRPr>
              </a:lvl1pPr>
            </a:lstStyle>
            <a:p>
              <a:r>
                <a:t>Загрузка трека в offline-режиме с последующим сохранением на сервер</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extBox 28"/>
          <p:cNvSpPr txBox="1">
            <a:spLocks noGrp="1"/>
          </p:cNvSpPr>
          <p:nvPr>
            <p:ph type="body" idx="21"/>
          </p:nvPr>
        </p:nvSpPr>
        <p:spPr>
          <a:xfrm>
            <a:off x="535695" y="1396903"/>
            <a:ext cx="7763686" cy="459741"/>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t>Основные инструменты и технологии</a:t>
            </a:r>
          </a:p>
        </p:txBody>
      </p:sp>
      <p:sp>
        <p:nvSpPr>
          <p:cNvPr id="272"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rPr/>
              <a:t>9</a:t>
            </a:fld>
            <a:endParaRPr/>
          </a:p>
        </p:txBody>
      </p:sp>
      <p:sp>
        <p:nvSpPr>
          <p:cNvPr id="273"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74" name="TextBox 30"/>
          <p:cNvSpPr txBox="1">
            <a:spLocks noGrp="1"/>
          </p:cNvSpPr>
          <p:nvPr>
            <p:ph type="body" idx="25"/>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75" name="TextBox 31"/>
          <p:cNvSpPr txBox="1">
            <a:spLocks noGrp="1"/>
          </p:cNvSpPr>
          <p:nvPr>
            <p:ph type="body" idx="26"/>
          </p:nvPr>
        </p:nvSpPr>
        <p:spPr>
          <a:xfrm>
            <a:off x="6203837" y="497314"/>
            <a:ext cx="2255307"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Основные инструменты и технологии</a:t>
            </a:r>
          </a:p>
        </p:txBody>
      </p:sp>
      <p:grpSp>
        <p:nvGrpSpPr>
          <p:cNvPr id="284" name="Image Gallery"/>
          <p:cNvGrpSpPr/>
          <p:nvPr/>
        </p:nvGrpSpPr>
        <p:grpSpPr>
          <a:xfrm>
            <a:off x="8605714" y="2452467"/>
            <a:ext cx="2624040" cy="2955192"/>
            <a:chOff x="0" y="0"/>
            <a:chExt cx="2794000" cy="3263900"/>
          </a:xfrm>
        </p:grpSpPr>
        <p:pic>
          <p:nvPicPr>
            <p:cNvPr id="282" name="Git Icon PNG.png" descr="Git Icon PNG.png"/>
            <p:cNvPicPr>
              <a:picLocks noChangeAspect="1"/>
            </p:cNvPicPr>
            <p:nvPr/>
          </p:nvPicPr>
          <p:blipFill>
            <a:blip r:embed="rId2"/>
            <a:srcRect/>
            <a:stretch>
              <a:fillRect/>
            </a:stretch>
          </p:blipFill>
          <p:spPr>
            <a:xfrm>
              <a:off x="0" y="0"/>
              <a:ext cx="2794000" cy="2794000"/>
            </a:xfrm>
            <a:prstGeom prst="rect">
              <a:avLst/>
            </a:prstGeom>
            <a:ln w="12700" cap="flat">
              <a:noFill/>
              <a:miter lim="400000"/>
            </a:ln>
            <a:effectLst/>
          </p:spPr>
        </p:pic>
        <p:sp>
          <p:nvSpPr>
            <p:cNvPr id="283" name="Git"/>
            <p:cNvSpPr/>
            <p:nvPr/>
          </p:nvSpPr>
          <p:spPr>
            <a:xfrm>
              <a:off x="0" y="2870200"/>
              <a:ext cx="2794000" cy="3937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lvl1pPr algn="ctr" defTabSz="914400">
                <a:spcBef>
                  <a:spcPts val="0"/>
                </a:spcBef>
                <a:defRPr sz="1600">
                  <a:solidFill>
                    <a:srgbClr val="000000"/>
                  </a:solidFill>
                </a:defRPr>
              </a:lvl1pPr>
            </a:lstStyle>
            <a:p>
              <a:r>
                <a:rPr dirty="0"/>
                <a:t>Git</a:t>
              </a:r>
            </a:p>
          </p:txBody>
        </p:sp>
      </p:grpSp>
      <p:pic>
        <p:nvPicPr>
          <p:cNvPr id="4" name="Рисунок 3" descr="Kotlin Logo Vector Download | Logowik">
            <a:extLst>
              <a:ext uri="{FF2B5EF4-FFF2-40B4-BE49-F238E27FC236}">
                <a16:creationId xmlns:a16="http://schemas.microsoft.com/office/drawing/2014/main" id="{047EC6F0-3928-F541-58A3-A32DD39C306B}"/>
              </a:ext>
            </a:extLst>
          </p:cNvPr>
          <p:cNvPicPr>
            <a:picLocks noChangeAspect="1"/>
          </p:cNvPicPr>
          <p:nvPr/>
        </p:nvPicPr>
        <p:blipFill>
          <a:blip r:embed="rId3"/>
          <a:stretch>
            <a:fillRect/>
          </a:stretch>
        </p:blipFill>
        <p:spPr>
          <a:xfrm>
            <a:off x="272942" y="2381580"/>
            <a:ext cx="4144596" cy="3110840"/>
          </a:xfrm>
          <a:prstGeom prst="rect">
            <a:avLst/>
          </a:prstGeom>
        </p:spPr>
      </p:pic>
      <p:pic>
        <p:nvPicPr>
          <p:cNvPr id="5" name="Рисунок 4" descr="Logo Java Spring Bootstrap Spring Framework Logo Spring Boot Png,  Transparent Png Vhv">
            <a:extLst>
              <a:ext uri="{FF2B5EF4-FFF2-40B4-BE49-F238E27FC236}">
                <a16:creationId xmlns:a16="http://schemas.microsoft.com/office/drawing/2014/main" id="{885F330C-8302-C60D-D61C-7C7B8AB9C43C}"/>
              </a:ext>
            </a:extLst>
          </p:cNvPr>
          <p:cNvPicPr>
            <a:picLocks noChangeAspect="1"/>
          </p:cNvPicPr>
          <p:nvPr/>
        </p:nvPicPr>
        <p:blipFill>
          <a:blip r:embed="rId4"/>
          <a:stretch>
            <a:fillRect/>
          </a:stretch>
        </p:blipFill>
        <p:spPr>
          <a:xfrm>
            <a:off x="4213415" y="2156285"/>
            <a:ext cx="4596423" cy="3122099"/>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2E6C"/>
        </a:solidFill>
        <a:effectLst/>
      </p:bgPr>
    </p:bg>
    <p:spTree>
      <p:nvGrpSpPr>
        <p:cNvPr id="1" name=""/>
        <p:cNvGrpSpPr/>
        <p:nvPr/>
      </p:nvGrpSpPr>
      <p:grpSpPr>
        <a:xfrm>
          <a:off x="0" y="0"/>
          <a:ext cx="0" cy="0"/>
          <a:chOff x="0" y="0"/>
          <a:chExt cx="0" cy="0"/>
        </a:xfrm>
      </p:grpSpPr>
      <p:sp>
        <p:nvSpPr>
          <p:cNvPr id="286" name="TextBox 17"/>
          <p:cNvSpPr txBox="1">
            <a:spLocks noGrp="1"/>
          </p:cNvSpPr>
          <p:nvPr>
            <p:ph type="body" idx="21"/>
          </p:nvPr>
        </p:nvSpPr>
        <p:spPr>
          <a:xfrm>
            <a:off x="4315860" y="1765958"/>
            <a:ext cx="3560280" cy="459741"/>
          </a:xfrm>
          <a:prstGeom prst="rect">
            <a:avLst/>
          </a:prstGeom>
        </p:spPr>
        <p:txBody>
          <a:bodyPr anchor="ctr"/>
          <a:lstStyle>
            <a:lvl1pPr marL="0" indent="0" algn="ctr" defTabSz="12700">
              <a:lnSpc>
                <a:spcPct val="100000"/>
              </a:lnSpc>
              <a:spcBef>
                <a:spcPts val="0"/>
              </a:spcBef>
              <a:buSzTx/>
              <a:buFontTx/>
              <a:buNone/>
              <a:defRPr sz="2400">
                <a:solidFill>
                  <a:srgbClr val="102D69"/>
                </a:solidFill>
                <a:latin typeface="+mn-lt"/>
                <a:ea typeface="+mn-ea"/>
                <a:cs typeface="+mn-cs"/>
                <a:sym typeface="Helvetica"/>
              </a:defRPr>
            </a:lvl1pPr>
          </a:lstStyle>
          <a:p>
            <a:r>
              <a:t>Демонстрация</a:t>
            </a:r>
          </a:p>
        </p:txBody>
      </p:sp>
      <p:sp>
        <p:nvSpPr>
          <p:cNvPr id="287" name="TextBox 32"/>
          <p:cNvSpPr txBox="1">
            <a:spLocks noGrp="1"/>
          </p:cNvSpPr>
          <p:nvPr>
            <p:ph type="body" idx="23"/>
          </p:nvPr>
        </p:nvSpPr>
        <p:spPr>
          <a:xfrm>
            <a:off x="10337842" y="497314"/>
            <a:ext cx="386667" cy="396241"/>
          </a:xfrm>
          <a:prstGeom prst="rect">
            <a:avLst/>
          </a:prstGeom>
        </p:spPr>
        <p:txBody>
          <a:bodyPr/>
          <a:lstStyle/>
          <a:p>
            <a:fld id="{86CB4B4D-7CA3-9044-876B-883B54F8677D}" type="slidenum">
              <a:rPr/>
              <a:t>10</a:t>
            </a:fld>
            <a:endParaRPr/>
          </a:p>
        </p:txBody>
      </p:sp>
      <p:sp>
        <p:nvSpPr>
          <p:cNvPr id="288"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89" name="TextBox 30"/>
          <p:cNvSpPr txBox="1">
            <a:spLocks noGrp="1"/>
          </p:cNvSpPr>
          <p:nvPr>
            <p:ph type="body" idx="25"/>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90"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Демонстрация</a:t>
            </a:r>
          </a:p>
        </p:txBody>
      </p:sp>
      <p:pic>
        <p:nvPicPr>
          <p:cNvPr id="291" name="01_Logo_HSE_full_rus_CMYK.png" descr="01_Logo_HSE_full_rus_CMYK.png"/>
          <p:cNvPicPr>
            <a:picLocks noChangeAspect="1"/>
          </p:cNvPicPr>
          <p:nvPr/>
        </p:nvPicPr>
        <p:blipFill>
          <a:blip r:embed="rId2"/>
          <a:stretch>
            <a:fillRect/>
          </a:stretch>
        </p:blipFill>
        <p:spPr>
          <a:xfrm>
            <a:off x="4743450" y="2436040"/>
            <a:ext cx="2705100" cy="2717801"/>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extBox 63"/>
          <p:cNvSpPr txBox="1">
            <a:spLocks noGrp="1"/>
          </p:cNvSpPr>
          <p:nvPr>
            <p:ph type="body" idx="21"/>
          </p:nvPr>
        </p:nvSpPr>
        <p:spPr>
          <a:xfrm>
            <a:off x="535695" y="1396903"/>
            <a:ext cx="5337879"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Основные результаты и выводы</a:t>
            </a:r>
          </a:p>
        </p:txBody>
      </p:sp>
      <p:sp>
        <p:nvSpPr>
          <p:cNvPr id="294" name="TextBox 16"/>
          <p:cNvSpPr txBox="1">
            <a:spLocks noGrp="1"/>
          </p:cNvSpPr>
          <p:nvPr>
            <p:ph type="body" idx="22"/>
          </p:nvPr>
        </p:nvSpPr>
        <p:spPr>
          <a:xfrm>
            <a:off x="562919" y="2367263"/>
            <a:ext cx="11066162" cy="3747771"/>
          </a:xfrm>
          <a:prstGeom prst="rect">
            <a:avLst/>
          </a:prstGeom>
        </p:spPr>
        <p:txBody>
          <a:bodyPr/>
          <a:lstStyle/>
          <a:p>
            <a:pPr>
              <a:lnSpc>
                <a:spcPct val="70000"/>
              </a:lnSpc>
              <a:defRPr sz="1600"/>
            </a:pPr>
            <a:r>
              <a:t>Результаты:</a:t>
            </a:r>
          </a:p>
          <a:p>
            <a:pPr marL="173789" indent="-173789">
              <a:lnSpc>
                <a:spcPct val="70000"/>
              </a:lnSpc>
              <a:buSzPct val="100000"/>
              <a:buAutoNum type="arabicPeriod"/>
              <a:defRPr sz="1600"/>
            </a:pPr>
            <a:r>
              <a:t>Проведен анализ аналогов</a:t>
            </a:r>
          </a:p>
          <a:p>
            <a:pPr marL="173789" indent="-173789">
              <a:buSzPct val="100000"/>
              <a:buAutoNum type="arabicPeriod"/>
              <a:defRPr sz="1600"/>
            </a:pPr>
            <a:r>
              <a:t>Определены функциональные требования</a:t>
            </a:r>
          </a:p>
          <a:p>
            <a:pPr marL="173789" indent="-173789">
              <a:buSzPct val="100000"/>
              <a:buAutoNum type="arabicPeriod"/>
              <a:defRPr sz="1600"/>
            </a:pPr>
            <a:r>
              <a:t>Разработана архитектура приложения</a:t>
            </a:r>
          </a:p>
          <a:p>
            <a:pPr marL="173789" indent="-173789">
              <a:buSzPct val="100000"/>
              <a:buAutoNum type="arabicPeriod"/>
              <a:defRPr sz="1600"/>
            </a:pPr>
            <a:r>
              <a:t>Реализован функционал: режим online/offline, прослушивание музыки, защита данных через авторизацию и локальное хранение, управление очередью, страницы артистов</a:t>
            </a:r>
          </a:p>
          <a:p>
            <a:pPr marL="173789" indent="-173789">
              <a:buSzPct val="100000"/>
              <a:buAutoNum type="arabicPeriod"/>
              <a:defRPr sz="1600"/>
            </a:pPr>
            <a:r>
              <a:t>Реализован интерфейс</a:t>
            </a:r>
          </a:p>
          <a:p>
            <a:pPr>
              <a:defRPr sz="1600"/>
            </a:pPr>
            <a:endParaRPr/>
          </a:p>
          <a:p>
            <a:pPr>
              <a:lnSpc>
                <a:spcPct val="70000"/>
              </a:lnSpc>
              <a:defRPr sz="1600"/>
            </a:pPr>
            <a:r>
              <a:t>Вывод: </a:t>
            </a:r>
          </a:p>
          <a:p>
            <a:pPr>
              <a:defRPr sz="1600"/>
            </a:pPr>
            <a:r>
              <a:t>Проект решает проблему зависимости от стриминговых платформ, предлагая полный контроль над контентом, а также дает удобное iOS-приложение для управления музыкой.</a:t>
            </a:r>
          </a:p>
        </p:txBody>
      </p:sp>
      <p:sp>
        <p:nvSpPr>
          <p:cNvPr id="295" name="TextBox 32"/>
          <p:cNvSpPr txBox="1">
            <a:spLocks noGrp="1"/>
          </p:cNvSpPr>
          <p:nvPr>
            <p:ph type="body" idx="23"/>
          </p:nvPr>
        </p:nvSpPr>
        <p:spPr>
          <a:xfrm>
            <a:off x="10337842" y="497314"/>
            <a:ext cx="367939" cy="396241"/>
          </a:xfrm>
          <a:prstGeom prst="rect">
            <a:avLst/>
          </a:prstGeom>
        </p:spPr>
        <p:txBody>
          <a:bodyPr/>
          <a:lstStyle/>
          <a:p>
            <a:fld id="{86CB4B4D-7CA3-9044-876B-883B54F8677D}" type="slidenum">
              <a:rPr/>
              <a:t>11</a:t>
            </a:fld>
            <a:endParaRPr/>
          </a:p>
        </p:txBody>
      </p:sp>
      <p:sp>
        <p:nvSpPr>
          <p:cNvPr id="296"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97" name="TextBox 30"/>
          <p:cNvSpPr txBox="1">
            <a:spLocks noGrp="1"/>
          </p:cNvSpPr>
          <p:nvPr>
            <p:ph type="body" idx="25"/>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298"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Основные результаты и выводы</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extBox 31"/>
          <p:cNvSpPr txBox="1">
            <a:spLocks noGrp="1"/>
          </p:cNvSpPr>
          <p:nvPr>
            <p:ph type="body" idx="21"/>
          </p:nvPr>
        </p:nvSpPr>
        <p:spPr>
          <a:xfrm>
            <a:off x="535695" y="1396903"/>
            <a:ext cx="5267804"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Направления дальнейшей работы</a:t>
            </a:r>
          </a:p>
        </p:txBody>
      </p:sp>
      <p:sp>
        <p:nvSpPr>
          <p:cNvPr id="301" name="TextBox 30"/>
          <p:cNvSpPr txBox="1">
            <a:spLocks noGrp="1"/>
          </p:cNvSpPr>
          <p:nvPr>
            <p:ph type="body" idx="22"/>
          </p:nvPr>
        </p:nvSpPr>
        <p:spPr>
          <a:xfrm>
            <a:off x="562919" y="2367263"/>
            <a:ext cx="5733098" cy="2431435"/>
          </a:xfrm>
          <a:prstGeom prst="rect">
            <a:avLst/>
          </a:prstGeom>
        </p:spPr>
        <p:txBody>
          <a:bodyPr/>
          <a:lstStyle/>
          <a:p>
            <a:pPr marL="213894" indent="-213894">
              <a:buSzPct val="100000"/>
              <a:buAutoNum type="arabicPeriod"/>
              <a:defRPr sz="1600"/>
            </a:pPr>
            <a:r>
              <a:rPr lang="ru-RU" dirty="0"/>
              <a:t>Проработка и добавление новых функций в личный кабинет продавца</a:t>
            </a:r>
            <a:endParaRPr dirty="0"/>
          </a:p>
          <a:p>
            <a:pPr marL="213894" indent="-213894">
              <a:buSzPct val="100000"/>
              <a:buAutoNum type="arabicPeriod"/>
              <a:defRPr sz="1600"/>
            </a:pPr>
            <a:r>
              <a:rPr dirty="0" err="1"/>
              <a:t>Рекомендательная</a:t>
            </a:r>
            <a:r>
              <a:rPr dirty="0"/>
              <a:t> </a:t>
            </a:r>
            <a:r>
              <a:rPr dirty="0" err="1"/>
              <a:t>система</a:t>
            </a:r>
            <a:r>
              <a:rPr dirty="0"/>
              <a:t> </a:t>
            </a:r>
            <a:r>
              <a:rPr dirty="0" err="1"/>
              <a:t>на</a:t>
            </a:r>
            <a:r>
              <a:rPr dirty="0"/>
              <a:t> </a:t>
            </a:r>
            <a:r>
              <a:rPr dirty="0" err="1"/>
              <a:t>основе</a:t>
            </a:r>
            <a:r>
              <a:rPr dirty="0"/>
              <a:t> </a:t>
            </a:r>
            <a:r>
              <a:rPr dirty="0" err="1"/>
              <a:t>машинного</a:t>
            </a:r>
            <a:r>
              <a:rPr dirty="0"/>
              <a:t> </a:t>
            </a:r>
            <a:r>
              <a:rPr dirty="0" err="1"/>
              <a:t>обучения</a:t>
            </a:r>
            <a:r>
              <a:rPr dirty="0"/>
              <a:t>.</a:t>
            </a:r>
          </a:p>
          <a:p>
            <a:pPr marL="173789" indent="-173789">
              <a:buSzPct val="100000"/>
              <a:buAutoNum type="arabicPeriod"/>
              <a:defRPr sz="1600"/>
            </a:pPr>
            <a:r>
              <a:rPr dirty="0"/>
              <a:t> </a:t>
            </a:r>
            <a:r>
              <a:rPr dirty="0" err="1"/>
              <a:t>Интеграция</a:t>
            </a:r>
            <a:r>
              <a:rPr dirty="0"/>
              <a:t> </a:t>
            </a:r>
            <a:r>
              <a:rPr dirty="0" err="1"/>
              <a:t>с</a:t>
            </a:r>
            <a:r>
              <a:rPr dirty="0"/>
              <a:t> </a:t>
            </a:r>
            <a:r>
              <a:rPr lang="ru-RU" dirty="0"/>
              <a:t>ветеринарными клиниками и сервисами</a:t>
            </a:r>
            <a:r>
              <a:rPr dirty="0"/>
              <a:t>.</a:t>
            </a:r>
          </a:p>
          <a:p>
            <a:pPr marL="173789" indent="-173789">
              <a:buSzPct val="100000"/>
              <a:buAutoNum type="arabicPeriod"/>
              <a:defRPr sz="1600"/>
            </a:pPr>
            <a:r>
              <a:rPr dirty="0"/>
              <a:t> </a:t>
            </a:r>
            <a:r>
              <a:rPr lang="ru-RU" dirty="0"/>
              <a:t>Переход на полноценную микросервисную архитектуру</a:t>
            </a:r>
          </a:p>
          <a:p>
            <a:pPr marL="173789" indent="-173789">
              <a:buSzPct val="100000"/>
              <a:buAutoNum type="arabicPeriod"/>
              <a:defRPr sz="1600"/>
            </a:pPr>
            <a:r>
              <a:rPr lang="ru-RU" dirty="0"/>
              <a:t> Улучшение инфраструктуры, реплицирование</a:t>
            </a:r>
            <a:endParaRPr dirty="0"/>
          </a:p>
        </p:txBody>
      </p:sp>
      <p:sp>
        <p:nvSpPr>
          <p:cNvPr id="302" name="TextBox 23"/>
          <p:cNvSpPr txBox="1">
            <a:spLocks noGrp="1"/>
          </p:cNvSpPr>
          <p:nvPr>
            <p:ph type="body" idx="23"/>
          </p:nvPr>
        </p:nvSpPr>
        <p:spPr>
          <a:xfrm>
            <a:off x="10337842" y="497314"/>
            <a:ext cx="386667" cy="396241"/>
          </a:xfrm>
          <a:prstGeom prst="rect">
            <a:avLst/>
          </a:prstGeom>
        </p:spPr>
        <p:txBody>
          <a:bodyPr/>
          <a:lstStyle/>
          <a:p>
            <a:fld id="{86CB4B4D-7CA3-9044-876B-883B54F8677D}" type="slidenum">
              <a:rPr/>
              <a:t>12</a:t>
            </a:fld>
            <a:endParaRPr/>
          </a:p>
        </p:txBody>
      </p:sp>
      <p:sp>
        <p:nvSpPr>
          <p:cNvPr id="303" name="TextBox 1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304" name="TextBox 32"/>
          <p:cNvSpPr txBox="1">
            <a:spLocks noGrp="1"/>
          </p:cNvSpPr>
          <p:nvPr>
            <p:ph type="body" idx="25"/>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305" name="TextBox 27"/>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Направления дальнейшей работы</a:t>
            </a:r>
          </a:p>
        </p:txBody>
      </p:sp>
      <p:pic>
        <p:nvPicPr>
          <p:cNvPr id="307" name="Business Growth Chart.png" descr="Business Growth Chart.png"/>
          <p:cNvPicPr>
            <a:picLocks noChangeAspect="1"/>
          </p:cNvPicPr>
          <p:nvPr/>
        </p:nvPicPr>
        <p:blipFill>
          <a:blip r:embed="rId2"/>
          <a:stretch>
            <a:fillRect/>
          </a:stretch>
        </p:blipFill>
        <p:spPr>
          <a:xfrm>
            <a:off x="6768186" y="1856644"/>
            <a:ext cx="1524936" cy="1524937"/>
          </a:xfrm>
          <a:prstGeom prst="rect">
            <a:avLst/>
          </a:prstGeom>
          <a:ln w="12700">
            <a:miter lim="400000"/>
          </a:ln>
        </p:spPr>
      </p:pic>
      <p:pic>
        <p:nvPicPr>
          <p:cNvPr id="2" name="Рисунок 1" descr="Все ветеринарные клиники Москвы: цены и отзывы">
            <a:extLst>
              <a:ext uri="{FF2B5EF4-FFF2-40B4-BE49-F238E27FC236}">
                <a16:creationId xmlns:a16="http://schemas.microsoft.com/office/drawing/2014/main" id="{4BA132E1-6CA2-19B5-53C3-3D1833D87A39}"/>
              </a:ext>
            </a:extLst>
          </p:cNvPr>
          <p:cNvPicPr>
            <a:picLocks noChangeAspect="1"/>
          </p:cNvPicPr>
          <p:nvPr/>
        </p:nvPicPr>
        <p:blipFill>
          <a:blip r:embed="rId3"/>
          <a:stretch>
            <a:fillRect/>
          </a:stretch>
        </p:blipFill>
        <p:spPr>
          <a:xfrm>
            <a:off x="8905981" y="1341599"/>
            <a:ext cx="2723100" cy="1524936"/>
          </a:xfrm>
          <a:prstGeom prst="rect">
            <a:avLst/>
          </a:prstGeom>
        </p:spPr>
      </p:pic>
      <p:pic>
        <p:nvPicPr>
          <p:cNvPr id="3" name="Рисунок 2" descr="IT-инфраструктура и аутсорсинг: что это такое и как работает | Kazteleport">
            <a:extLst>
              <a:ext uri="{FF2B5EF4-FFF2-40B4-BE49-F238E27FC236}">
                <a16:creationId xmlns:a16="http://schemas.microsoft.com/office/drawing/2014/main" id="{BA5B088F-5DBD-A8B4-AC80-7F7A9A04905F}"/>
              </a:ext>
            </a:extLst>
          </p:cNvPr>
          <p:cNvPicPr>
            <a:picLocks noChangeAspect="1"/>
          </p:cNvPicPr>
          <p:nvPr/>
        </p:nvPicPr>
        <p:blipFill>
          <a:blip r:embed="rId4"/>
          <a:stretch>
            <a:fillRect/>
          </a:stretch>
        </p:blipFill>
        <p:spPr>
          <a:xfrm>
            <a:off x="8564410" y="3319236"/>
            <a:ext cx="2511767" cy="1668400"/>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Box 32"/>
          <p:cNvSpPr txBox="1">
            <a:spLocks noGrp="1"/>
          </p:cNvSpPr>
          <p:nvPr>
            <p:ph type="body" idx="21"/>
          </p:nvPr>
        </p:nvSpPr>
        <p:spPr>
          <a:xfrm>
            <a:off x="10337842" y="497314"/>
            <a:ext cx="386667" cy="396241"/>
          </a:xfrm>
          <a:prstGeom prst="rect">
            <a:avLst/>
          </a:prstGeom>
        </p:spPr>
        <p:txBody>
          <a:bodyPr/>
          <a:lstStyle/>
          <a:p>
            <a:fld id="{86CB4B4D-7CA3-9044-876B-883B54F8677D}" type="slidenum">
              <a:rPr/>
              <a:t>13</a:t>
            </a:fld>
            <a:endParaRPr/>
          </a:p>
        </p:txBody>
      </p:sp>
      <p:sp>
        <p:nvSpPr>
          <p:cNvPr id="314" name="TextBox 27"/>
          <p:cNvSpPr txBox="1">
            <a:spLocks noGrp="1"/>
          </p:cNvSpPr>
          <p:nvPr>
            <p:ph type="body" idx="22"/>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315" name="TextBox 30"/>
          <p:cNvSpPr txBox="1">
            <a:spLocks noGrp="1"/>
          </p:cNvSpPr>
          <p:nvPr>
            <p:ph type="body" idx="23"/>
          </p:nvPr>
        </p:nvSpPr>
        <p:spPr>
          <a:xfrm>
            <a:off x="3411347" y="497314"/>
            <a:ext cx="2575408" cy="553998"/>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rPr lang="ru-RU" dirty="0" err="1"/>
              <a:t>Питомец.ком</a:t>
            </a:r>
            <a:r>
              <a:rPr lang="ru-RU" dirty="0"/>
              <a:t> — Разработка серверной логики, авторизации и интеграции внешних систем</a:t>
            </a:r>
          </a:p>
        </p:txBody>
      </p:sp>
      <p:sp>
        <p:nvSpPr>
          <p:cNvPr id="316" name="TextBox 31"/>
          <p:cNvSpPr txBox="1">
            <a:spLocks noGrp="1"/>
          </p:cNvSpPr>
          <p:nvPr>
            <p:ph type="body" idx="24"/>
          </p:nvPr>
        </p:nvSpPr>
        <p:spPr>
          <a:xfrm>
            <a:off x="6203837" y="497314"/>
            <a:ext cx="2534880"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Список использованных источников</a:t>
            </a:r>
          </a:p>
        </p:txBody>
      </p:sp>
      <p:sp>
        <p:nvSpPr>
          <p:cNvPr id="317" name="TextBox 15"/>
          <p:cNvSpPr txBox="1"/>
          <p:nvPr/>
        </p:nvSpPr>
        <p:spPr>
          <a:xfrm>
            <a:off x="535695" y="1396903"/>
            <a:ext cx="10041551" cy="459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defTabSz="914400">
              <a:spcBef>
                <a:spcPts val="0"/>
              </a:spcBef>
              <a:defRPr sz="2400"/>
            </a:lvl1pPr>
          </a:lstStyle>
          <a:p>
            <a:r>
              <a:t>Список использованных источников</a:t>
            </a:r>
          </a:p>
        </p:txBody>
      </p:sp>
      <p:sp>
        <p:nvSpPr>
          <p:cNvPr id="318" name="TextBox 16"/>
          <p:cNvSpPr txBox="1"/>
          <p:nvPr/>
        </p:nvSpPr>
        <p:spPr>
          <a:xfrm>
            <a:off x="562919" y="2367263"/>
            <a:ext cx="11066162" cy="3114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173789" indent="-173789" defTabSz="914400">
              <a:spcBef>
                <a:spcPts val="0"/>
              </a:spcBef>
              <a:buSzPct val="100000"/>
              <a:buAutoNum type="arabicPeriod"/>
              <a:defRPr sz="1400">
                <a:solidFill>
                  <a:srgbClr val="000000"/>
                </a:solidFill>
              </a:defRPr>
            </a:pPr>
            <a:r>
              <a:t>Официальная документация Swift. Электронный ресурс. URL: https://www.swift.org/documentation/ (дата обращения 21.04.25)</a:t>
            </a:r>
          </a:p>
          <a:p>
            <a:pPr marL="173789" indent="-173789" defTabSz="914400">
              <a:spcBef>
                <a:spcPts val="0"/>
              </a:spcBef>
              <a:buSzPct val="100000"/>
              <a:buAutoNum type="arabicPeriod"/>
              <a:defRPr sz="1400">
                <a:solidFill>
                  <a:srgbClr val="000000"/>
                </a:solidFill>
              </a:defRPr>
            </a:pPr>
            <a:r>
              <a:t>Официальная документация UIKit. Электронный ресурс. URL: https://developer.apple.com/documentation/uikit/ (дата обращения 21.04.25)</a:t>
            </a:r>
          </a:p>
          <a:p>
            <a:pPr marL="173789" indent="-173789" defTabSz="914400">
              <a:spcBef>
                <a:spcPts val="0"/>
              </a:spcBef>
              <a:buSzPct val="100000"/>
              <a:buAutoNum type="arabicPeriod"/>
              <a:defRPr sz="1400">
                <a:solidFill>
                  <a:srgbClr val="000000"/>
                </a:solidFill>
              </a:defRPr>
            </a:pPr>
            <a:r>
              <a:t>Среда разработки Xcode. Электронный ресурс. URL: </a:t>
            </a:r>
            <a:r>
              <a:rPr>
                <a:hlinkClick r:id="rId2"/>
              </a:rPr>
              <a:t>https://developer.apple.com/xcode/</a:t>
            </a:r>
            <a:r>
              <a:t> (дата обращения 21.04.25)</a:t>
            </a:r>
          </a:p>
          <a:p>
            <a:pPr marL="173789" indent="-173789" defTabSz="914400">
              <a:spcBef>
                <a:spcPts val="0"/>
              </a:spcBef>
              <a:buSzPct val="100000"/>
              <a:buAutoNum type="arabicPeriod"/>
              <a:defRPr sz="1400">
                <a:solidFill>
                  <a:srgbClr val="000000"/>
                </a:solidFill>
              </a:defRPr>
            </a:pPr>
            <a:r>
              <a:t>Система управления версиями Git. Электронный ресурс. URL: </a:t>
            </a:r>
            <a:r>
              <a:rPr>
                <a:hlinkClick r:id="rId3"/>
              </a:rPr>
              <a:t>https://git-scm.com/</a:t>
            </a:r>
            <a:r>
              <a:t> (дата обращения 21.04.25)</a:t>
            </a:r>
          </a:p>
          <a:p>
            <a:pPr marL="173789" indent="-173789" defTabSz="914400">
              <a:spcBef>
                <a:spcPts val="0"/>
              </a:spcBef>
              <a:buSzPct val="100000"/>
              <a:buAutoNum type="arabicPeriod"/>
              <a:defRPr sz="1400">
                <a:solidFill>
                  <a:srgbClr val="000000"/>
                </a:solidFill>
              </a:defRPr>
            </a:pPr>
            <a:r>
              <a:t>Яндекс Музыка. Электронный ресурс. URL: </a:t>
            </a:r>
            <a:r>
              <a:rPr>
                <a:hlinkClick r:id="rId4"/>
              </a:rPr>
              <a:t>https://music.yandex.ru/</a:t>
            </a:r>
            <a:r>
              <a:t> (дата обращения 21.04.25)</a:t>
            </a:r>
          </a:p>
          <a:p>
            <a:pPr marL="173789" indent="-173789" defTabSz="914400">
              <a:spcBef>
                <a:spcPts val="0"/>
              </a:spcBef>
              <a:buSzPct val="100000"/>
              <a:buAutoNum type="arabicPeriod"/>
              <a:defRPr sz="1400">
                <a:solidFill>
                  <a:srgbClr val="000000"/>
                </a:solidFill>
              </a:defRPr>
            </a:pPr>
            <a:r>
              <a:t>Spotify. Электронный ресурс. URL: </a:t>
            </a:r>
            <a:r>
              <a:rPr>
                <a:hlinkClick r:id="rId5"/>
              </a:rPr>
              <a:t>https://www.spotify.com/</a:t>
            </a:r>
            <a:r>
              <a:t> (дата обращения 21.04.25)</a:t>
            </a:r>
          </a:p>
          <a:p>
            <a:pPr marL="173789" indent="-173789" defTabSz="914400">
              <a:spcBef>
                <a:spcPts val="0"/>
              </a:spcBef>
              <a:buSzPct val="100000"/>
              <a:buAutoNum type="arabicPeriod"/>
              <a:defRPr sz="1400">
                <a:solidFill>
                  <a:srgbClr val="000000"/>
                </a:solidFill>
              </a:defRPr>
            </a:pPr>
            <a:r>
              <a:t>VK Музыка. Электронный ресурс. URL: </a:t>
            </a:r>
            <a:r>
              <a:rPr>
                <a:hlinkClick r:id="rId6"/>
              </a:rPr>
              <a:t>https://music.vk.com/</a:t>
            </a:r>
            <a:r>
              <a:t> (дата обращения 21.04.25)</a:t>
            </a:r>
          </a:p>
          <a:p>
            <a:pPr marL="173789" indent="-173789" defTabSz="914400">
              <a:spcBef>
                <a:spcPts val="0"/>
              </a:spcBef>
              <a:buSzPct val="100000"/>
              <a:buAutoNum type="arabicPeriod"/>
              <a:defRPr sz="1400">
                <a:solidFill>
                  <a:srgbClr val="000000"/>
                </a:solidFill>
              </a:defRPr>
            </a:pPr>
            <a:r>
              <a:t>YouTube Music. Электронный ресурс. URL: </a:t>
            </a:r>
            <a:r>
              <a:rPr>
                <a:hlinkClick r:id="rId7"/>
              </a:rPr>
              <a:t>https://music.youtube.com/</a:t>
            </a:r>
            <a:r>
              <a:t> (дата обращения 21.04.25)</a:t>
            </a:r>
          </a:p>
          <a:p>
            <a:pPr marL="173789" indent="-173789" defTabSz="914400">
              <a:spcBef>
                <a:spcPts val="0"/>
              </a:spcBef>
              <a:buSzPct val="100000"/>
              <a:buAutoNum type="arabicPeriod"/>
              <a:defRPr sz="1400">
                <a:solidFill>
                  <a:srgbClr val="000000"/>
                </a:solidFill>
              </a:defRPr>
            </a:pPr>
            <a:r>
              <a:t>Apple Music. Электронный ресурс. URL: </a:t>
            </a:r>
            <a:r>
              <a:rPr>
                <a:hlinkClick r:id="rId8"/>
              </a:rPr>
              <a:t>https://music.apple.com/</a:t>
            </a:r>
            <a:r>
              <a:t> (дата обращения 21.04.25)</a:t>
            </a:r>
          </a:p>
          <a:p>
            <a:pPr marL="173789" indent="-173789" defTabSz="914400">
              <a:spcBef>
                <a:spcPts val="0"/>
              </a:spcBef>
              <a:buSzPct val="100000"/>
              <a:buAutoNum type="arabicPeriod"/>
              <a:defRPr sz="1400">
                <a:solidFill>
                  <a:srgbClr val="000000"/>
                </a:solidFill>
              </a:defRPr>
            </a:pPr>
            <a:r>
              <a:t> Black Candy. Электронный ресурс. URL: </a:t>
            </a:r>
            <a:r>
              <a:rPr>
                <a:hlinkClick r:id="rId9"/>
              </a:rPr>
              <a:t>https://github.com/blackcandy-org/</a:t>
            </a:r>
            <a:r>
              <a:t> (дата обращения 21.04.25)</a:t>
            </a:r>
          </a:p>
          <a:p>
            <a:pPr marL="173789" indent="-173789" defTabSz="914400">
              <a:spcBef>
                <a:spcPts val="0"/>
              </a:spcBef>
              <a:buSzPct val="100000"/>
              <a:buAutoNum type="arabicPeriod"/>
              <a:defRPr sz="1400">
                <a:solidFill>
                  <a:srgbClr val="000000"/>
                </a:solidFill>
              </a:defRPr>
            </a:pPr>
            <a:r>
              <a:t> Blackcandy. Электронный ресурс. URL:Navidrome </a:t>
            </a:r>
            <a:r>
              <a:rPr>
                <a:hlinkClick r:id="rId10"/>
              </a:rPr>
              <a:t>https://www.navidrome.org/</a:t>
            </a:r>
            <a:r>
              <a:t> (дата обращения 21.04.25)</a:t>
            </a:r>
          </a:p>
          <a:p>
            <a:pPr marL="173789" indent="-173789" defTabSz="914400">
              <a:spcBef>
                <a:spcPts val="0"/>
              </a:spcBef>
              <a:buSzPct val="100000"/>
              <a:buAutoNum type="arabicPeriod"/>
              <a:defRPr sz="1400">
                <a:solidFill>
                  <a:srgbClr val="000000"/>
                </a:solidFill>
              </a:defRPr>
            </a:pPr>
            <a:r>
              <a:t> Ampache. Электронный ресурс. URL: </a:t>
            </a:r>
            <a:r>
              <a:rPr>
                <a:hlinkClick r:id="rId11"/>
              </a:rPr>
              <a:t>https://ampache.org/</a:t>
            </a:r>
            <a:r>
              <a:t> (дата обращения 21.04.25)</a:t>
            </a:r>
          </a:p>
          <a:p>
            <a:pPr marL="173789" indent="-173789" defTabSz="914400">
              <a:spcBef>
                <a:spcPts val="0"/>
              </a:spcBef>
              <a:buSzPct val="100000"/>
              <a:buAutoNum type="arabicPeriod"/>
              <a:defRPr sz="1400">
                <a:solidFill>
                  <a:srgbClr val="000000"/>
                </a:solidFill>
              </a:defRPr>
            </a:pPr>
            <a:r>
              <a:t> mStream. Электронный ресурс. URL: </a:t>
            </a:r>
            <a:r>
              <a:rPr>
                <a:hlinkClick r:id="rId12"/>
              </a:rPr>
              <a:t>https://mstream.io/</a:t>
            </a:r>
            <a:r>
              <a:t> (дата обращения 21.04.25)</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D65"/>
        </a:solidFill>
        <a:effectLst/>
      </p:bgPr>
    </p:bg>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102D69"/>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186</TotalTime>
  <Words>1028</Words>
  <Application>Microsoft Macintosh PowerPoint</Application>
  <PresentationFormat>Широкоэкранный</PresentationFormat>
  <Paragraphs>219</Paragraphs>
  <Slides>14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14</vt:i4>
      </vt:variant>
    </vt:vector>
  </HeadingPairs>
  <TitlesOfParts>
    <vt:vector size="18" baseType="lpstr">
      <vt:lpstr>Arial</vt:lpstr>
      <vt:lpstr>Calibri</vt:lpstr>
      <vt:lpstr>Helvetica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fedordemin13@gmail.com</cp:lastModifiedBy>
  <cp:revision>4</cp:revision>
  <dcterms:modified xsi:type="dcterms:W3CDTF">2026-05-11T12:31:18Z</dcterms:modified>
</cp:coreProperties>
</file>